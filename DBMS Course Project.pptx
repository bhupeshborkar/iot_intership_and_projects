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78DB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78DB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78DB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78DB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852928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2D5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25111"/>
            <a:ext cx="1741170" cy="777240"/>
          </a:xfrm>
          <a:custGeom>
            <a:avLst/>
            <a:gdLst/>
            <a:ahLst/>
            <a:cxnLst/>
            <a:rect l="l" t="t" r="r" b="b"/>
            <a:pathLst>
              <a:path w="1741170" h="777239">
                <a:moveTo>
                  <a:pt x="1345057" y="0"/>
                </a:moveTo>
                <a:lnTo>
                  <a:pt x="0" y="0"/>
                </a:lnTo>
                <a:lnTo>
                  <a:pt x="0" y="777239"/>
                </a:lnTo>
                <a:lnTo>
                  <a:pt x="1345057" y="777239"/>
                </a:lnTo>
                <a:lnTo>
                  <a:pt x="1354748" y="776432"/>
                </a:lnTo>
                <a:lnTo>
                  <a:pt x="1362678" y="774303"/>
                </a:lnTo>
                <a:lnTo>
                  <a:pt x="1368845" y="771292"/>
                </a:lnTo>
                <a:lnTo>
                  <a:pt x="1373251" y="767842"/>
                </a:lnTo>
                <a:lnTo>
                  <a:pt x="1373251" y="763143"/>
                </a:lnTo>
                <a:lnTo>
                  <a:pt x="1377950" y="763143"/>
                </a:lnTo>
                <a:lnTo>
                  <a:pt x="1734058" y="407288"/>
                </a:lnTo>
                <a:lnTo>
                  <a:pt x="1739344" y="398774"/>
                </a:lnTo>
                <a:lnTo>
                  <a:pt x="1741106" y="388032"/>
                </a:lnTo>
                <a:lnTo>
                  <a:pt x="1739344" y="376410"/>
                </a:lnTo>
                <a:lnTo>
                  <a:pt x="1734058" y="365251"/>
                </a:lnTo>
                <a:lnTo>
                  <a:pt x="1377950" y="14096"/>
                </a:lnTo>
                <a:lnTo>
                  <a:pt x="1377950" y="9398"/>
                </a:lnTo>
                <a:lnTo>
                  <a:pt x="1373251" y="9398"/>
                </a:lnTo>
                <a:lnTo>
                  <a:pt x="1368845" y="5947"/>
                </a:lnTo>
                <a:lnTo>
                  <a:pt x="1362678" y="2936"/>
                </a:lnTo>
                <a:lnTo>
                  <a:pt x="1354748" y="807"/>
                </a:lnTo>
                <a:lnTo>
                  <a:pt x="1345057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852928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2D5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8651" y="447243"/>
            <a:ext cx="8365490" cy="968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78DB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8651" y="1560956"/>
            <a:ext cx="8639810" cy="3988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esonline.com/appointment-scheduling-statistic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QxDa_QCy3plm22Q0zQ5am5Nj-p2vfcTf/view?usp=sharing" TargetMode="External"/><Relationship Id="rId2" Type="http://schemas.openxmlformats.org/officeDocument/2006/relationships/hyperlink" Target="mailto:Drive(2019bcs091@sggs.ac.i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10to8.com/blog/how-to-create-an-online-booking-system-free-guide/" TargetMode="External"/><Relationship Id="rId7" Type="http://schemas.openxmlformats.org/officeDocument/2006/relationships/hyperlink" Target="https://www.softermii.com/blog/doctor-appointment-app-development-guide-features-technologies-and-monetization" TargetMode="External"/><Relationship Id="rId2" Type="http://schemas.openxmlformats.org/officeDocument/2006/relationships/hyperlink" Target="https://www.nbis.se/assets/img/logo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ss-tutorials/" TargetMode="External"/><Relationship Id="rId5" Type="http://schemas.openxmlformats.org/officeDocument/2006/relationships/hyperlink" Target="https://www.khanacademy.org/computing/computer-programming/html-css" TargetMode="External"/><Relationship Id="rId4" Type="http://schemas.openxmlformats.org/officeDocument/2006/relationships/hyperlink" Target="https://www.w3schools.com/php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2083" y="2967380"/>
            <a:ext cx="76758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b="1" spc="-450" dirty="0">
                <a:solidFill>
                  <a:srgbClr val="244148"/>
                </a:solidFill>
                <a:latin typeface="Tahoma"/>
                <a:cs typeface="Tahoma"/>
              </a:rPr>
              <a:t>DBMS</a:t>
            </a:r>
            <a:r>
              <a:rPr sz="6000" b="1" spc="-80" dirty="0">
                <a:solidFill>
                  <a:srgbClr val="244148"/>
                </a:solidFill>
                <a:latin typeface="Tahoma"/>
                <a:cs typeface="Tahoma"/>
              </a:rPr>
              <a:t> </a:t>
            </a:r>
            <a:r>
              <a:rPr sz="6000" b="1" spc="-10" dirty="0">
                <a:solidFill>
                  <a:srgbClr val="244148"/>
                </a:solidFill>
                <a:latin typeface="Tahoma"/>
                <a:cs typeface="Tahoma"/>
              </a:rPr>
              <a:t>Course</a:t>
            </a:r>
            <a:r>
              <a:rPr sz="6000" b="1" spc="-420" dirty="0">
                <a:solidFill>
                  <a:srgbClr val="244148"/>
                </a:solidFill>
                <a:latin typeface="Tahoma"/>
                <a:cs typeface="Tahoma"/>
              </a:rPr>
              <a:t> </a:t>
            </a:r>
            <a:r>
              <a:rPr sz="6000" b="1" spc="-165" dirty="0">
                <a:solidFill>
                  <a:srgbClr val="244148"/>
                </a:solidFill>
                <a:latin typeface="Tahoma"/>
                <a:cs typeface="Tahoma"/>
              </a:rPr>
              <a:t>Project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1696" y="4656080"/>
            <a:ext cx="6751320" cy="1134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 marR="5080" indent="-45720">
              <a:lnSpc>
                <a:spcPct val="130000"/>
              </a:lnSpc>
              <a:spcBef>
                <a:spcPts val="95"/>
              </a:spcBef>
            </a:pPr>
            <a:r>
              <a:rPr sz="2800" b="1" spc="-290" dirty="0">
                <a:solidFill>
                  <a:srgbClr val="122C47"/>
                </a:solidFill>
                <a:latin typeface="Cambria"/>
                <a:cs typeface="Cambria"/>
              </a:rPr>
              <a:t>Web</a:t>
            </a:r>
            <a:r>
              <a:rPr sz="2800" b="1" spc="85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140" dirty="0">
                <a:solidFill>
                  <a:srgbClr val="122C47"/>
                </a:solidFill>
                <a:latin typeface="Cambria"/>
                <a:cs typeface="Cambria"/>
              </a:rPr>
              <a:t>Application</a:t>
            </a:r>
            <a:r>
              <a:rPr sz="2800" b="1" spc="50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220" dirty="0">
                <a:solidFill>
                  <a:srgbClr val="122C47"/>
                </a:solidFill>
                <a:latin typeface="Cambria"/>
                <a:cs typeface="Cambria"/>
              </a:rPr>
              <a:t>Development</a:t>
            </a:r>
            <a:r>
              <a:rPr sz="2800" b="1" spc="50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122C47"/>
                </a:solidFill>
                <a:latin typeface="Cambria"/>
                <a:cs typeface="Cambria"/>
              </a:rPr>
              <a:t>:</a:t>
            </a:r>
            <a:r>
              <a:rPr sz="2800" b="1" spc="100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170" dirty="0">
                <a:solidFill>
                  <a:srgbClr val="122C47"/>
                </a:solidFill>
                <a:latin typeface="Cambria"/>
                <a:cs typeface="Cambria"/>
              </a:rPr>
              <a:t>Online</a:t>
            </a:r>
            <a:r>
              <a:rPr sz="2800" b="1" spc="45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135" dirty="0">
                <a:solidFill>
                  <a:srgbClr val="122C47"/>
                </a:solidFill>
                <a:latin typeface="Cambria"/>
                <a:cs typeface="Cambria"/>
              </a:rPr>
              <a:t>Doctor </a:t>
            </a:r>
            <a:r>
              <a:rPr sz="2800" b="1" spc="-185" dirty="0">
                <a:solidFill>
                  <a:srgbClr val="122C47"/>
                </a:solidFill>
                <a:latin typeface="Cambria"/>
                <a:cs typeface="Cambria"/>
              </a:rPr>
              <a:t>Appointment</a:t>
            </a:r>
            <a:r>
              <a:rPr sz="2800" b="1" spc="35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140" dirty="0">
                <a:solidFill>
                  <a:srgbClr val="122C47"/>
                </a:solidFill>
                <a:latin typeface="Cambria"/>
                <a:cs typeface="Cambria"/>
              </a:rPr>
              <a:t>Booking</a:t>
            </a:r>
            <a:r>
              <a:rPr sz="2800" b="1" spc="70" dirty="0">
                <a:solidFill>
                  <a:srgbClr val="122C47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122C47"/>
                </a:solidFill>
                <a:latin typeface="Cambria"/>
                <a:cs typeface="Cambria"/>
              </a:rPr>
              <a:t>System.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5608" y="487680"/>
            <a:ext cx="2798064" cy="2252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3334" y="642061"/>
            <a:ext cx="39128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30" dirty="0"/>
              <a:t>TABLE</a:t>
            </a:r>
            <a:r>
              <a:rPr sz="3200" spc="-155" dirty="0"/>
              <a:t> </a:t>
            </a:r>
            <a:r>
              <a:rPr sz="3200" spc="-170" dirty="0"/>
              <a:t>OF</a:t>
            </a:r>
            <a:r>
              <a:rPr sz="3200" spc="-30" dirty="0"/>
              <a:t> </a:t>
            </a:r>
            <a:r>
              <a:rPr sz="3200" spc="-175" dirty="0"/>
              <a:t>CONTENTS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26601"/>
              </p:ext>
            </p:extLst>
          </p:nvPr>
        </p:nvGraphicFramePr>
        <p:xfrm>
          <a:off x="2649601" y="2136265"/>
          <a:ext cx="7795895" cy="3625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9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Title</a:t>
                      </a:r>
                      <a:r>
                        <a:rPr sz="1300" spc="-9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Slide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3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Project</a:t>
                      </a:r>
                      <a:r>
                        <a:rPr sz="1300" spc="-6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Info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3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Problem</a:t>
                      </a:r>
                      <a:r>
                        <a:rPr sz="1300" spc="-5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Statement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Introduction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4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Software’s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used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1300" spc="-7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7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their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purpose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Design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pictures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13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ER</a:t>
                      </a:r>
                      <a:r>
                        <a:rPr sz="1300" spc="-8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Diagram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Features</a:t>
                      </a:r>
                      <a:r>
                        <a:rPr sz="1300" spc="-8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1300" spc="-7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Project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5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Details</a:t>
                      </a:r>
                      <a:r>
                        <a:rPr sz="1300" spc="-10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1300" spc="-1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Project</a:t>
                      </a:r>
                      <a:r>
                        <a:rPr sz="1300" spc="-6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Work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3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Project</a:t>
                      </a:r>
                      <a:r>
                        <a:rPr sz="1300" spc="-5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video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4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Resources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used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59055" algn="ctr">
                        <a:lnSpc>
                          <a:spcPts val="1485"/>
                        </a:lnSpc>
                        <a:spcBef>
                          <a:spcPts val="335"/>
                        </a:spcBef>
                      </a:pPr>
                      <a:r>
                        <a:rPr sz="1300" spc="320" dirty="0">
                          <a:solidFill>
                            <a:srgbClr val="353535"/>
                          </a:solidFill>
                          <a:latin typeface="Microsoft Sans Serif"/>
                          <a:cs typeface="Microsoft Sans Serif"/>
                        </a:rPr>
                        <a:t>🠶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485"/>
                        </a:lnSpc>
                        <a:spcBef>
                          <a:spcPts val="335"/>
                        </a:spcBef>
                      </a:pPr>
                      <a:r>
                        <a:rPr sz="1300" spc="-10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Conclusion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85"/>
                        </a:lnSpc>
                        <a:spcBef>
                          <a:spcPts val="335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65145" y="1528953"/>
            <a:ext cx="62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imes New Roman"/>
                <a:cs typeface="Times New Roman"/>
              </a:rPr>
              <a:t>TITLE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8948" y="1528953"/>
            <a:ext cx="1034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PAGE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65" dirty="0">
                <a:latin typeface="Times New Roman"/>
                <a:cs typeface="Times New Roman"/>
              </a:rPr>
              <a:t>NO</a:t>
            </a:r>
            <a:r>
              <a:rPr sz="1800" spc="-165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9064"/>
            <a:ext cx="1592580" cy="506095"/>
          </a:xfrm>
          <a:custGeom>
            <a:avLst/>
            <a:gdLst/>
            <a:ahLst/>
            <a:cxnLst/>
            <a:rect l="l" t="t" r="r" b="b"/>
            <a:pathLst>
              <a:path w="1592580" h="506095">
                <a:moveTo>
                  <a:pt x="1244" y="0"/>
                </a:moveTo>
                <a:lnTo>
                  <a:pt x="0" y="150734"/>
                </a:lnTo>
                <a:lnTo>
                  <a:pt x="0" y="502420"/>
                </a:lnTo>
                <a:lnTo>
                  <a:pt x="1246174" y="505968"/>
                </a:lnTo>
                <a:lnTo>
                  <a:pt x="1346454" y="505968"/>
                </a:lnTo>
                <a:lnTo>
                  <a:pt x="1352677" y="499618"/>
                </a:lnTo>
                <a:lnTo>
                  <a:pt x="1354582" y="498094"/>
                </a:lnTo>
                <a:lnTo>
                  <a:pt x="1584960" y="268097"/>
                </a:lnTo>
                <a:lnTo>
                  <a:pt x="1590246" y="260953"/>
                </a:lnTo>
                <a:lnTo>
                  <a:pt x="1592008" y="253809"/>
                </a:lnTo>
                <a:lnTo>
                  <a:pt x="1590246" y="246665"/>
                </a:lnTo>
                <a:lnTo>
                  <a:pt x="1584960" y="239522"/>
                </a:lnTo>
                <a:lnTo>
                  <a:pt x="1356106" y="11175"/>
                </a:lnTo>
                <a:lnTo>
                  <a:pt x="1351026" y="11175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244148"/>
                </a:solidFill>
              </a:rPr>
              <a:t>PROJECT</a:t>
            </a:r>
            <a:r>
              <a:rPr spc="-35" dirty="0">
                <a:solidFill>
                  <a:srgbClr val="244148"/>
                </a:solidFill>
              </a:rPr>
              <a:t> </a:t>
            </a:r>
            <a:r>
              <a:rPr spc="-285" dirty="0">
                <a:solidFill>
                  <a:srgbClr val="244148"/>
                </a:solidFill>
              </a:rPr>
              <a:t>INFO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10200" y="5914015"/>
            <a:ext cx="950594" cy="699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24000"/>
              </a:lnSpc>
              <a:spcBef>
                <a:spcPts val="110"/>
              </a:spcBef>
            </a:pPr>
            <a:r>
              <a:rPr sz="1900" spc="-10" dirty="0">
                <a:solidFill>
                  <a:srgbClr val="585858"/>
                </a:solidFill>
                <a:latin typeface="Verdana"/>
                <a:cs typeface="Verdana"/>
              </a:rPr>
              <a:t>College </a:t>
            </a:r>
            <a:r>
              <a:rPr sz="1900" spc="-20" dirty="0">
                <a:solidFill>
                  <a:srgbClr val="585858"/>
                </a:solidFill>
                <a:latin typeface="Verdana"/>
                <a:cs typeface="Verdana"/>
              </a:rPr>
              <a:t>Name 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000" y="5867400"/>
            <a:ext cx="5257800" cy="745717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55"/>
              </a:spcBef>
              <a:tabLst>
                <a:tab pos="217170" algn="l"/>
                <a:tab pos="1699895" algn="l"/>
              </a:tabLst>
            </a:pPr>
            <a:r>
              <a:rPr sz="1900" spc="-395" dirty="0">
                <a:solidFill>
                  <a:srgbClr val="585858"/>
                </a:solidFill>
                <a:latin typeface="Verdana"/>
                <a:cs typeface="Verdana"/>
              </a:rPr>
              <a:t>:</a:t>
            </a:r>
            <a:r>
              <a:rPr sz="1900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sz="1900" spc="-100" dirty="0">
                <a:solidFill>
                  <a:srgbClr val="585858"/>
                </a:solidFill>
                <a:latin typeface="Verdana"/>
                <a:cs typeface="Verdana"/>
              </a:rPr>
              <a:t>S.G.G.S.I.E.T</a:t>
            </a:r>
            <a:r>
              <a:rPr sz="1900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lang="en-IN" sz="190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900" spc="-105" dirty="0" err="1">
                <a:solidFill>
                  <a:srgbClr val="585858"/>
                </a:solidFill>
                <a:latin typeface="Verdana"/>
                <a:cs typeface="Verdana"/>
              </a:rPr>
              <a:t>Vishnupuri</a:t>
            </a:r>
            <a:r>
              <a:rPr sz="1900" spc="-105" dirty="0">
                <a:solidFill>
                  <a:srgbClr val="585858"/>
                </a:solidFill>
                <a:latin typeface="Verdana"/>
                <a:cs typeface="Verdana"/>
              </a:rPr>
              <a:t>,</a:t>
            </a:r>
            <a:r>
              <a:rPr sz="1900" spc="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585858"/>
                </a:solidFill>
                <a:latin typeface="Verdana"/>
                <a:cs typeface="Verdana"/>
              </a:rPr>
              <a:t>Nanded-</a:t>
            </a:r>
            <a:r>
              <a:rPr sz="1900" spc="-130" dirty="0">
                <a:solidFill>
                  <a:srgbClr val="585858"/>
                </a:solidFill>
                <a:latin typeface="Verdana"/>
                <a:cs typeface="Verdana"/>
              </a:rPr>
              <a:t>431606</a:t>
            </a:r>
            <a:endParaRPr sz="1900" dirty="0">
              <a:latin typeface="Verdana"/>
              <a:cs typeface="Verdana"/>
            </a:endParaRPr>
          </a:p>
          <a:p>
            <a:pPr marL="20955">
              <a:lnSpc>
                <a:spcPct val="100000"/>
              </a:lnSpc>
              <a:spcBef>
                <a:spcPts val="555"/>
              </a:spcBef>
              <a:tabLst>
                <a:tab pos="219710" algn="l"/>
              </a:tabLst>
            </a:pPr>
            <a:r>
              <a:rPr sz="1900" spc="-395" dirty="0">
                <a:solidFill>
                  <a:srgbClr val="585858"/>
                </a:solidFill>
                <a:latin typeface="Verdana"/>
                <a:cs typeface="Verdana"/>
              </a:rPr>
              <a:t>:</a:t>
            </a:r>
            <a:r>
              <a:rPr lang="en-IN" sz="1900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lang="en-IN" sz="1900" spc="-195" dirty="0">
                <a:solidFill>
                  <a:srgbClr val="585858"/>
                </a:solidFill>
                <a:latin typeface="Verdana"/>
                <a:cs typeface="Verdana"/>
              </a:rPr>
              <a:t>BHU</a:t>
            </a:r>
            <a:r>
              <a:rPr sz="1900" spc="-195" dirty="0">
                <a:solidFill>
                  <a:srgbClr val="585858"/>
                </a:solidFill>
                <a:latin typeface="Verdana"/>
                <a:cs typeface="Verdana"/>
              </a:rPr>
              <a:t>PESH</a:t>
            </a:r>
            <a:r>
              <a:rPr sz="1900" spc="1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900" spc="-155" dirty="0">
                <a:solidFill>
                  <a:srgbClr val="585858"/>
                </a:solidFill>
                <a:latin typeface="Verdana"/>
                <a:cs typeface="Verdana"/>
              </a:rPr>
              <a:t>MILIND</a:t>
            </a:r>
            <a:r>
              <a:rPr sz="1900" spc="-14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Verdana"/>
                <a:cs typeface="Verdana"/>
              </a:rPr>
              <a:t>BORKAR</a:t>
            </a:r>
            <a:endParaRPr sz="19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691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PROBLEM</a:t>
            </a:r>
            <a:r>
              <a:rPr spc="-50" dirty="0"/>
              <a:t> </a:t>
            </a:r>
            <a:r>
              <a:rPr spc="-125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651" y="1656714"/>
            <a:ext cx="8674735" cy="41916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509"/>
              </a:spcBef>
            </a:pPr>
            <a:r>
              <a:rPr sz="1700" b="1" spc="-60" dirty="0">
                <a:solidFill>
                  <a:srgbClr val="404040"/>
                </a:solidFill>
                <a:latin typeface="Tahoma"/>
                <a:cs typeface="Tahoma"/>
              </a:rPr>
              <a:t>Problem</a:t>
            </a:r>
            <a:r>
              <a:rPr sz="17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b="1" spc="-80" dirty="0">
                <a:solidFill>
                  <a:srgbClr val="404040"/>
                </a:solidFill>
                <a:latin typeface="Tahoma"/>
                <a:cs typeface="Tahoma"/>
              </a:rPr>
              <a:t>Statement</a:t>
            </a:r>
            <a:r>
              <a:rPr sz="17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b="1" spc="-145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17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7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result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COVID-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19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pandemic</a:t>
            </a:r>
            <a:r>
              <a:rPr sz="17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break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lockdown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many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part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country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there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urgent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5" dirty="0">
                <a:solidFill>
                  <a:srgbClr val="404040"/>
                </a:solidFill>
                <a:latin typeface="Verdana"/>
                <a:cs typeface="Verdana"/>
              </a:rPr>
              <a:t>need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development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online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platform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interface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where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book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their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regular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local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doctors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their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previous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long-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term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diseases,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chronic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diseases,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5" dirty="0">
                <a:solidFill>
                  <a:srgbClr val="404040"/>
                </a:solidFill>
                <a:latin typeface="Verdana"/>
                <a:cs typeface="Verdana"/>
              </a:rPr>
              <a:t>acute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diseases,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3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regular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diagnoses.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To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directly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seek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diagnoses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treatment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problems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like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common</a:t>
            </a:r>
            <a:r>
              <a:rPr sz="1700" spc="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cold,</a:t>
            </a:r>
            <a:r>
              <a:rPr sz="17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headaches,</a:t>
            </a:r>
            <a:r>
              <a:rPr sz="17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etc.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700">
              <a:latin typeface="Verdana"/>
              <a:cs typeface="Verdana"/>
            </a:endParaRPr>
          </a:p>
          <a:p>
            <a:pPr marL="12700" marR="62230">
              <a:lnSpc>
                <a:spcPct val="80000"/>
              </a:lnSpc>
            </a:pPr>
            <a:r>
              <a:rPr sz="1700" b="1" spc="-60" dirty="0">
                <a:solidFill>
                  <a:srgbClr val="404040"/>
                </a:solidFill>
                <a:latin typeface="Tahoma"/>
                <a:cs typeface="Tahoma"/>
              </a:rPr>
              <a:t>Problem</a:t>
            </a:r>
            <a:r>
              <a:rPr sz="17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b="1" spc="-80" dirty="0">
                <a:solidFill>
                  <a:srgbClr val="404040"/>
                </a:solidFill>
                <a:latin typeface="Tahoma"/>
                <a:cs typeface="Tahoma"/>
              </a:rPr>
              <a:t>Statement</a:t>
            </a:r>
            <a:r>
              <a:rPr sz="1700" b="1" spc="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b="1" spc="-95" dirty="0">
                <a:solidFill>
                  <a:srgbClr val="404040"/>
                </a:solidFill>
                <a:latin typeface="Tahoma"/>
                <a:cs typeface="Tahoma"/>
              </a:rPr>
              <a:t>Solution</a:t>
            </a:r>
            <a:r>
              <a:rPr sz="17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b="1" spc="-145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1700" b="1" spc="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700" dirty="0">
                <a:latin typeface="Verdana"/>
                <a:cs typeface="Verdana"/>
              </a:rPr>
              <a:t>According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to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u="sng" spc="13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a</a:t>
            </a:r>
            <a:r>
              <a:rPr sz="1700" u="sng" spc="-6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 </a:t>
            </a:r>
            <a:r>
              <a:rPr sz="1700" u="sng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recent</a:t>
            </a:r>
            <a:r>
              <a:rPr sz="1700" u="sng" spc="-8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 </a:t>
            </a:r>
            <a:r>
              <a:rPr sz="1700" u="sng" spc="-10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survey</a:t>
            </a:r>
            <a:r>
              <a:rPr sz="1700" spc="-105" dirty="0">
                <a:latin typeface="Verdana"/>
                <a:cs typeface="Verdana"/>
              </a:rPr>
              <a:t>,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spc="-275" dirty="0">
                <a:latin typeface="Verdana"/>
                <a:cs typeface="Verdana"/>
              </a:rPr>
              <a:t>43%</a:t>
            </a:r>
            <a:r>
              <a:rPr sz="1700" spc="-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patients</a:t>
            </a:r>
            <a:r>
              <a:rPr sz="1700" spc="-12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prefer </a:t>
            </a:r>
            <a:r>
              <a:rPr sz="1700" spc="-20" dirty="0">
                <a:latin typeface="Verdana"/>
                <a:cs typeface="Verdana"/>
              </a:rPr>
              <a:t>to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book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appointments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50" dirty="0">
                <a:latin typeface="Verdana"/>
                <a:cs typeface="Verdana"/>
              </a:rPr>
              <a:t>online,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60" dirty="0">
                <a:latin typeface="Verdana"/>
                <a:cs typeface="Verdana"/>
              </a:rPr>
              <a:t>and</a:t>
            </a:r>
            <a:r>
              <a:rPr sz="1700" spc="-80" dirty="0">
                <a:latin typeface="Verdana"/>
                <a:cs typeface="Verdana"/>
              </a:rPr>
              <a:t> </a:t>
            </a:r>
            <a:r>
              <a:rPr sz="1700" spc="-275" dirty="0">
                <a:latin typeface="Verdana"/>
                <a:cs typeface="Verdana"/>
              </a:rPr>
              <a:t>57%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70" dirty="0">
                <a:latin typeface="Verdana"/>
                <a:cs typeface="Verdana"/>
              </a:rPr>
              <a:t> </a:t>
            </a:r>
            <a:r>
              <a:rPr sz="1700" spc="-60" dirty="0">
                <a:latin typeface="Verdana"/>
                <a:cs typeface="Verdana"/>
              </a:rPr>
              <a:t>consumers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70" dirty="0">
                <a:latin typeface="Verdana"/>
                <a:cs typeface="Verdana"/>
              </a:rPr>
              <a:t>go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online</a:t>
            </a:r>
            <a:r>
              <a:rPr sz="1700" spc="-1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when</a:t>
            </a:r>
            <a:r>
              <a:rPr sz="1700" spc="-12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searching</a:t>
            </a:r>
            <a:r>
              <a:rPr sz="1700" spc="-16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for </a:t>
            </a:r>
            <a:r>
              <a:rPr sz="1700" spc="130" dirty="0">
                <a:latin typeface="Verdana"/>
                <a:cs typeface="Verdana"/>
              </a:rPr>
              <a:t>a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new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healthcare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provider.</a:t>
            </a:r>
            <a:r>
              <a:rPr sz="1700" spc="-140" dirty="0">
                <a:latin typeface="Verdana"/>
                <a:cs typeface="Verdana"/>
              </a:rPr>
              <a:t> </a:t>
            </a:r>
            <a:r>
              <a:rPr sz="1700" spc="-75" dirty="0">
                <a:latin typeface="Verdana"/>
                <a:cs typeface="Verdana"/>
              </a:rPr>
              <a:t>Also,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275" dirty="0">
                <a:latin typeface="Verdana"/>
                <a:cs typeface="Verdana"/>
              </a:rPr>
              <a:t>72%</a:t>
            </a:r>
            <a:r>
              <a:rPr sz="1700" spc="-1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patients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60" dirty="0">
                <a:latin typeface="Verdana"/>
                <a:cs typeface="Verdana"/>
              </a:rPr>
              <a:t>and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spc="-275" dirty="0">
                <a:latin typeface="Verdana"/>
                <a:cs typeface="Verdana"/>
              </a:rPr>
              <a:t>60%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healthcare </a:t>
            </a:r>
            <a:r>
              <a:rPr sz="1700" spc="-70" dirty="0">
                <a:latin typeface="Verdana"/>
                <a:cs typeface="Verdana"/>
              </a:rPr>
              <a:t>professionals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say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online</a:t>
            </a:r>
            <a:r>
              <a:rPr sz="1700" spc="-8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booking</a:t>
            </a:r>
            <a:r>
              <a:rPr sz="1700" spc="-80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platforms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encourage</a:t>
            </a:r>
            <a:r>
              <a:rPr sz="1700" spc="-40" dirty="0">
                <a:latin typeface="Verdana"/>
                <a:cs typeface="Verdana"/>
              </a:rPr>
              <a:t> patients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to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keep </a:t>
            </a:r>
            <a:r>
              <a:rPr sz="1700" spc="-10" dirty="0">
                <a:latin typeface="Verdana"/>
                <a:cs typeface="Verdana"/>
              </a:rPr>
              <a:t>appointments.</a:t>
            </a:r>
            <a:endParaRPr sz="1700">
              <a:latin typeface="Verdana"/>
              <a:cs typeface="Verdana"/>
            </a:endParaRPr>
          </a:p>
          <a:p>
            <a:pPr marL="12700" marR="92710" indent="301625">
              <a:lnSpc>
                <a:spcPct val="80100"/>
              </a:lnSpc>
              <a:spcBef>
                <a:spcPts val="980"/>
              </a:spcBef>
            </a:pPr>
            <a:r>
              <a:rPr sz="1700" spc="-45" dirty="0">
                <a:latin typeface="Verdana"/>
                <a:cs typeface="Verdana"/>
              </a:rPr>
              <a:t>Suppose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you</a:t>
            </a:r>
            <a:r>
              <a:rPr sz="1700" spc="-9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are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spc="-70" dirty="0">
                <a:latin typeface="Verdana"/>
                <a:cs typeface="Verdana"/>
              </a:rPr>
              <a:t>in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the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healthcare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spc="-100" dirty="0">
                <a:latin typeface="Verdana"/>
                <a:cs typeface="Verdana"/>
              </a:rPr>
              <a:t>industry</a:t>
            </a:r>
            <a:r>
              <a:rPr sz="1700" spc="-165" dirty="0">
                <a:latin typeface="Verdana"/>
                <a:cs typeface="Verdana"/>
              </a:rPr>
              <a:t> </a:t>
            </a:r>
            <a:r>
              <a:rPr sz="1700" spc="60" dirty="0">
                <a:latin typeface="Verdana"/>
                <a:cs typeface="Verdana"/>
              </a:rPr>
              <a:t>and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spc="-45" dirty="0">
                <a:latin typeface="Verdana"/>
                <a:cs typeface="Verdana"/>
              </a:rPr>
              <a:t>seeking</a:t>
            </a:r>
            <a:r>
              <a:rPr sz="1700" spc="-16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to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improve</a:t>
            </a:r>
            <a:r>
              <a:rPr sz="1700" spc="-12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the</a:t>
            </a:r>
            <a:r>
              <a:rPr sz="1700" spc="-9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quality </a:t>
            </a:r>
            <a:r>
              <a:rPr sz="1700" spc="60" dirty="0">
                <a:latin typeface="Verdana"/>
                <a:cs typeface="Verdana"/>
              </a:rPr>
              <a:t>and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productivity</a:t>
            </a:r>
            <a:r>
              <a:rPr sz="1700" spc="-17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80" dirty="0">
                <a:latin typeface="Verdana"/>
                <a:cs typeface="Verdana"/>
              </a:rPr>
              <a:t>your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medical</a:t>
            </a:r>
            <a:r>
              <a:rPr sz="1700" spc="-140" dirty="0">
                <a:latin typeface="Verdana"/>
                <a:cs typeface="Verdana"/>
              </a:rPr>
              <a:t> </a:t>
            </a:r>
            <a:r>
              <a:rPr sz="1700" spc="-70" dirty="0">
                <a:latin typeface="Verdana"/>
                <a:cs typeface="Verdana"/>
              </a:rPr>
              <a:t>services.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160" dirty="0">
                <a:latin typeface="Verdana"/>
                <a:cs typeface="Verdana"/>
              </a:rPr>
              <a:t>In</a:t>
            </a:r>
            <a:r>
              <a:rPr sz="1700" spc="-145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that</a:t>
            </a:r>
            <a:r>
              <a:rPr sz="1700" spc="-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case,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no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doubt,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developing</a:t>
            </a:r>
            <a:r>
              <a:rPr sz="1700" spc="-135" dirty="0">
                <a:latin typeface="Verdana"/>
                <a:cs typeface="Verdana"/>
              </a:rPr>
              <a:t> </a:t>
            </a:r>
            <a:r>
              <a:rPr sz="1700" spc="80" dirty="0">
                <a:latin typeface="Verdana"/>
                <a:cs typeface="Verdana"/>
              </a:rPr>
              <a:t>a </a:t>
            </a:r>
            <a:r>
              <a:rPr sz="1700" spc="-35" dirty="0">
                <a:latin typeface="Verdana"/>
                <a:cs typeface="Verdana"/>
              </a:rPr>
              <a:t>doctor's</a:t>
            </a:r>
            <a:r>
              <a:rPr sz="1700" spc="-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appointment</a:t>
            </a:r>
            <a:r>
              <a:rPr sz="1700" spc="-145" dirty="0">
                <a:latin typeface="Verdana"/>
                <a:cs typeface="Verdana"/>
              </a:rPr>
              <a:t> </a:t>
            </a:r>
            <a:r>
              <a:rPr sz="1700" spc="105" dirty="0">
                <a:latin typeface="Verdana"/>
                <a:cs typeface="Verdana"/>
              </a:rPr>
              <a:t>app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or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130" dirty="0">
                <a:latin typeface="Verdana"/>
                <a:cs typeface="Verdana"/>
              </a:rPr>
              <a:t>a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75" dirty="0">
                <a:latin typeface="Verdana"/>
                <a:cs typeface="Verdana"/>
              </a:rPr>
              <a:t>web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45" dirty="0">
                <a:latin typeface="Verdana"/>
                <a:cs typeface="Verdana"/>
              </a:rPr>
              <a:t>platform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might</a:t>
            </a:r>
            <a:r>
              <a:rPr sz="1700" spc="-140" dirty="0">
                <a:latin typeface="Verdana"/>
                <a:cs typeface="Verdana"/>
              </a:rPr>
              <a:t> </a:t>
            </a:r>
            <a:r>
              <a:rPr sz="1700" spc="85" dirty="0">
                <a:latin typeface="Verdana"/>
                <a:cs typeface="Verdana"/>
              </a:rPr>
              <a:t>be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the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right</a:t>
            </a:r>
            <a:r>
              <a:rPr sz="1700" spc="-140" dirty="0">
                <a:latin typeface="Verdana"/>
                <a:cs typeface="Verdana"/>
              </a:rPr>
              <a:t> </a:t>
            </a:r>
            <a:r>
              <a:rPr sz="1700" spc="-70" dirty="0">
                <a:latin typeface="Verdana"/>
                <a:cs typeface="Verdana"/>
              </a:rPr>
              <a:t>solution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for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your </a:t>
            </a:r>
            <a:r>
              <a:rPr sz="1700" dirty="0">
                <a:latin typeface="Verdana"/>
                <a:cs typeface="Verdana"/>
              </a:rPr>
              <a:t>practice.</a:t>
            </a:r>
            <a:r>
              <a:rPr sz="1700" spc="-1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Many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patients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consider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125" dirty="0">
                <a:latin typeface="Verdana"/>
                <a:cs typeface="Verdana"/>
              </a:rPr>
              <a:t>this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-50" dirty="0">
                <a:latin typeface="Verdana"/>
                <a:cs typeface="Verdana"/>
              </a:rPr>
              <a:t>kind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doctor-</a:t>
            </a:r>
            <a:r>
              <a:rPr sz="1700" spc="-70" dirty="0">
                <a:latin typeface="Verdana"/>
                <a:cs typeface="Verdana"/>
              </a:rPr>
              <a:t>on-</a:t>
            </a:r>
            <a:r>
              <a:rPr sz="1700" spc="55" dirty="0">
                <a:latin typeface="Verdana"/>
                <a:cs typeface="Verdana"/>
              </a:rPr>
              <a:t>demand</a:t>
            </a:r>
            <a:r>
              <a:rPr sz="1700" spc="-130" dirty="0">
                <a:latin typeface="Verdana"/>
                <a:cs typeface="Verdana"/>
              </a:rPr>
              <a:t> </a:t>
            </a:r>
            <a:r>
              <a:rPr sz="1700" spc="100" dirty="0">
                <a:latin typeface="Verdana"/>
                <a:cs typeface="Verdana"/>
              </a:rPr>
              <a:t>app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65" dirty="0">
                <a:latin typeface="Verdana"/>
                <a:cs typeface="Verdana"/>
              </a:rPr>
              <a:t>essential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for </a:t>
            </a:r>
            <a:r>
              <a:rPr sz="1700" dirty="0">
                <a:latin typeface="Verdana"/>
                <a:cs typeface="Verdana"/>
              </a:rPr>
              <a:t>any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healthcare</a:t>
            </a:r>
            <a:r>
              <a:rPr sz="1700" spc="-135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provider</a:t>
            </a:r>
            <a:r>
              <a:rPr sz="1700" spc="-114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now,</a:t>
            </a:r>
            <a:r>
              <a:rPr sz="1700" spc="-95" dirty="0">
                <a:latin typeface="Verdana"/>
                <a:cs typeface="Verdana"/>
              </a:rPr>
              <a:t> </a:t>
            </a:r>
            <a:r>
              <a:rPr sz="1700" spc="-60" dirty="0">
                <a:latin typeface="Verdana"/>
                <a:cs typeface="Verdana"/>
              </a:rPr>
              <a:t>regardless</a:t>
            </a:r>
            <a:r>
              <a:rPr sz="1700" spc="-1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whether</a:t>
            </a:r>
            <a:r>
              <a:rPr sz="1700" spc="-114" dirty="0">
                <a:latin typeface="Verdana"/>
                <a:cs typeface="Verdana"/>
              </a:rPr>
              <a:t> </a:t>
            </a:r>
            <a:r>
              <a:rPr sz="1700" spc="-40" dirty="0">
                <a:latin typeface="Verdana"/>
                <a:cs typeface="Verdana"/>
              </a:rPr>
              <a:t>they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are</a:t>
            </a:r>
            <a:r>
              <a:rPr sz="1700" spc="-11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getting</a:t>
            </a:r>
            <a:r>
              <a:rPr sz="1700" spc="-125" dirty="0">
                <a:latin typeface="Verdana"/>
                <a:cs typeface="Verdana"/>
              </a:rPr>
              <a:t> </a:t>
            </a:r>
            <a:r>
              <a:rPr sz="1700" spc="-45" dirty="0">
                <a:latin typeface="Verdana"/>
                <a:cs typeface="Verdana"/>
              </a:rPr>
              <a:t>treatment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at </a:t>
            </a:r>
            <a:r>
              <a:rPr sz="1700" spc="130" dirty="0">
                <a:latin typeface="Verdana"/>
                <a:cs typeface="Verdana"/>
              </a:rPr>
              <a:t>a</a:t>
            </a:r>
            <a:r>
              <a:rPr sz="1700" spc="-100" dirty="0">
                <a:latin typeface="Verdana"/>
                <a:cs typeface="Verdana"/>
              </a:rPr>
              <a:t> </a:t>
            </a:r>
            <a:r>
              <a:rPr sz="1700" spc="-55" dirty="0">
                <a:latin typeface="Verdana"/>
                <a:cs typeface="Verdana"/>
              </a:rPr>
              <a:t>hospital,</a:t>
            </a:r>
            <a:r>
              <a:rPr sz="1700" spc="-14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clinic,</a:t>
            </a:r>
            <a:r>
              <a:rPr sz="1700" spc="-145" dirty="0">
                <a:latin typeface="Verdana"/>
                <a:cs typeface="Verdana"/>
              </a:rPr>
              <a:t> </a:t>
            </a:r>
            <a:r>
              <a:rPr sz="1700" spc="-85" dirty="0">
                <a:latin typeface="Verdana"/>
                <a:cs typeface="Verdana"/>
              </a:rPr>
              <a:t>or</a:t>
            </a:r>
            <a:r>
              <a:rPr sz="1700" spc="-90" dirty="0">
                <a:latin typeface="Verdana"/>
                <a:cs typeface="Verdana"/>
              </a:rPr>
              <a:t> </a:t>
            </a:r>
            <a:r>
              <a:rPr sz="1700" spc="-35" dirty="0">
                <a:latin typeface="Verdana"/>
                <a:cs typeface="Verdana"/>
              </a:rPr>
              <a:t>private</a:t>
            </a:r>
            <a:r>
              <a:rPr sz="1700" spc="-1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practice.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6" rIns="0" bIns="0" rtlCol="0">
            <a:spAutoFit/>
          </a:bodyPr>
          <a:lstStyle/>
          <a:p>
            <a:pPr marL="2525395">
              <a:lnSpc>
                <a:spcPct val="100000"/>
              </a:lnSpc>
              <a:spcBef>
                <a:spcPts val="95"/>
              </a:spcBef>
            </a:pPr>
            <a:r>
              <a:rPr sz="4400" spc="-365" dirty="0"/>
              <a:t>INTRODUCTION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668651" y="1832229"/>
            <a:ext cx="8700135" cy="4142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664210">
              <a:lnSpc>
                <a:spcPct val="90000"/>
              </a:lnSpc>
              <a:spcBef>
                <a:spcPts val="305"/>
              </a:spcBef>
            </a:pP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70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name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suggests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online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booking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system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basically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helps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doctors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patient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connect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easily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book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appointments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over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online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404040"/>
                </a:solidFill>
                <a:latin typeface="Verdana"/>
                <a:cs typeface="Verdana"/>
              </a:rPr>
              <a:t>platform.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8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provides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separate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work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Doctors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3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Patients.</a:t>
            </a:r>
            <a:r>
              <a:rPr sz="1700" spc="-185" dirty="0">
                <a:solidFill>
                  <a:srgbClr val="404040"/>
                </a:solidFill>
                <a:latin typeface="Verdana"/>
                <a:cs typeface="Verdana"/>
              </a:rPr>
              <a:t> This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helps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users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find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7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specific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specialty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within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walking</a:t>
            </a:r>
            <a:r>
              <a:rPr sz="17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distance.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User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select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easily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book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with the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help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calendar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shows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booked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free 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slots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particular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day.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user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easily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re-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schedule</a:t>
            </a:r>
            <a:r>
              <a:rPr sz="17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an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suitable.</a:t>
            </a:r>
            <a:r>
              <a:rPr sz="1700" spc="-185" dirty="0">
                <a:solidFill>
                  <a:srgbClr val="404040"/>
                </a:solidFill>
                <a:latin typeface="Verdana"/>
                <a:cs typeface="Verdana"/>
              </a:rPr>
              <a:t> This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provides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facility</a:t>
            </a:r>
            <a:r>
              <a:rPr sz="1700" spc="-1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10" dirty="0">
                <a:solidFill>
                  <a:srgbClr val="404040"/>
                </a:solidFill>
                <a:latin typeface="Verdana"/>
                <a:cs typeface="Verdana"/>
              </a:rPr>
              <a:t>add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name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8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relative</a:t>
            </a:r>
            <a:r>
              <a:rPr sz="17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under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same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registration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404040"/>
                </a:solidFill>
                <a:latin typeface="Verdana"/>
                <a:cs typeface="Verdana"/>
              </a:rPr>
              <a:t>number.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User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10" dirty="0">
                <a:solidFill>
                  <a:srgbClr val="404040"/>
                </a:solidFill>
                <a:latin typeface="Verdana"/>
                <a:cs typeface="Verdana"/>
              </a:rPr>
              <a:t>add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favorite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7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his/her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login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whom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he/she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consults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regularly.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User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gets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notifications</a:t>
            </a:r>
            <a:r>
              <a:rPr sz="17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404040"/>
                </a:solidFill>
                <a:latin typeface="Verdana"/>
                <a:cs typeface="Verdana"/>
              </a:rPr>
              <a:t>reminders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upcoming</a:t>
            </a:r>
            <a:r>
              <a:rPr sz="17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appointments.</a:t>
            </a:r>
            <a:endParaRPr sz="1700">
              <a:latin typeface="Verdana"/>
              <a:cs typeface="Verdana"/>
            </a:endParaRPr>
          </a:p>
          <a:p>
            <a:pPr marL="12700" marR="40005" indent="664210">
              <a:lnSpc>
                <a:spcPct val="89900"/>
              </a:lnSpc>
              <a:spcBef>
                <a:spcPts val="1000"/>
              </a:spcBef>
            </a:pP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purpose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404040"/>
                </a:solidFill>
                <a:latin typeface="Verdana"/>
                <a:cs typeface="Verdana"/>
              </a:rPr>
              <a:t>building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ease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traffic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maintenance</a:t>
            </a:r>
            <a:r>
              <a:rPr sz="17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45" dirty="0">
                <a:solidFill>
                  <a:srgbClr val="404040"/>
                </a:solidFill>
                <a:latin typeface="Verdana"/>
                <a:cs typeface="Verdana"/>
              </a:rPr>
              <a:t>database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doctors.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8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helps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hospitals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5" dirty="0">
                <a:solidFill>
                  <a:srgbClr val="404040"/>
                </a:solidFill>
                <a:latin typeface="Verdana"/>
                <a:cs typeface="Verdana"/>
              </a:rPr>
              <a:t>manage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5" dirty="0">
                <a:solidFill>
                  <a:srgbClr val="404040"/>
                </a:solidFill>
                <a:latin typeface="Verdana"/>
                <a:cs typeface="Verdana"/>
              </a:rPr>
              <a:t>data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digitally</a:t>
            </a:r>
            <a:r>
              <a:rPr sz="17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safe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secure.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Doctors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Verdana"/>
                <a:cs typeface="Verdana"/>
              </a:rPr>
              <a:t>easily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find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out </a:t>
            </a:r>
            <a:r>
              <a:rPr sz="1700" spc="-80" dirty="0">
                <a:solidFill>
                  <a:srgbClr val="404040"/>
                </a:solidFill>
                <a:latin typeface="Verdana"/>
                <a:cs typeface="Verdana"/>
              </a:rPr>
              <a:t>their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day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404040"/>
                </a:solidFill>
                <a:latin typeface="Verdana"/>
                <a:cs typeface="Verdana"/>
              </a:rPr>
              <a:t>day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appointments</a:t>
            </a:r>
            <a:r>
              <a:rPr sz="17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7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17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system.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17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know where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reach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404040"/>
                </a:solidFill>
                <a:latin typeface="Verdana"/>
                <a:cs typeface="Verdana"/>
              </a:rPr>
              <a:t>soon</a:t>
            </a:r>
            <a:r>
              <a:rPr sz="17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Verdana"/>
                <a:cs typeface="Verdana"/>
              </a:rPr>
              <a:t>possible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7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emergency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situation.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9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7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17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allows</a:t>
            </a:r>
            <a:r>
              <a:rPr sz="17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700" spc="-40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17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404040"/>
                </a:solidFill>
                <a:latin typeface="Verdana"/>
                <a:cs typeface="Verdana"/>
              </a:rPr>
              <a:t>rate</a:t>
            </a:r>
            <a:r>
              <a:rPr sz="17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13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7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7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45" dirty="0">
                <a:solidFill>
                  <a:srgbClr val="404040"/>
                </a:solidFill>
                <a:latin typeface="Verdana"/>
                <a:cs typeface="Verdana"/>
              </a:rPr>
              <a:t>5</a:t>
            </a:r>
            <a:r>
              <a:rPr sz="17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10" dirty="0">
                <a:solidFill>
                  <a:srgbClr val="404040"/>
                </a:solidFill>
                <a:latin typeface="Verdana"/>
                <a:cs typeface="Verdana"/>
              </a:rPr>
              <a:t>star</a:t>
            </a:r>
            <a:r>
              <a:rPr sz="17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Verdana"/>
                <a:cs typeface="Verdana"/>
              </a:rPr>
              <a:t>ratings.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9064"/>
            <a:ext cx="1592580" cy="506095"/>
          </a:xfrm>
          <a:custGeom>
            <a:avLst/>
            <a:gdLst/>
            <a:ahLst/>
            <a:cxnLst/>
            <a:rect l="l" t="t" r="r" b="b"/>
            <a:pathLst>
              <a:path w="1592580" h="506095">
                <a:moveTo>
                  <a:pt x="1244" y="0"/>
                </a:moveTo>
                <a:lnTo>
                  <a:pt x="0" y="150734"/>
                </a:lnTo>
                <a:lnTo>
                  <a:pt x="0" y="502420"/>
                </a:lnTo>
                <a:lnTo>
                  <a:pt x="1246174" y="505968"/>
                </a:lnTo>
                <a:lnTo>
                  <a:pt x="1346454" y="505968"/>
                </a:lnTo>
                <a:lnTo>
                  <a:pt x="1352677" y="499618"/>
                </a:lnTo>
                <a:lnTo>
                  <a:pt x="1354582" y="498094"/>
                </a:lnTo>
                <a:lnTo>
                  <a:pt x="1584960" y="268097"/>
                </a:lnTo>
                <a:lnTo>
                  <a:pt x="1590246" y="260953"/>
                </a:lnTo>
                <a:lnTo>
                  <a:pt x="1592008" y="253809"/>
                </a:lnTo>
                <a:lnTo>
                  <a:pt x="1590246" y="246665"/>
                </a:lnTo>
                <a:lnTo>
                  <a:pt x="1584960" y="239522"/>
                </a:lnTo>
                <a:lnTo>
                  <a:pt x="1356106" y="11175"/>
                </a:lnTo>
                <a:lnTo>
                  <a:pt x="1351026" y="11175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5" dirty="0"/>
              <a:t>SOFTWARE’S</a:t>
            </a:r>
            <a:r>
              <a:rPr sz="3600" spc="-70" dirty="0"/>
              <a:t> </a:t>
            </a:r>
            <a:r>
              <a:rPr sz="3600" spc="-215" dirty="0"/>
              <a:t>USED</a:t>
            </a:r>
            <a:r>
              <a:rPr sz="3600" spc="-10" dirty="0"/>
              <a:t> </a:t>
            </a:r>
            <a:r>
              <a:rPr sz="3600" spc="-260" dirty="0"/>
              <a:t>AND</a:t>
            </a:r>
            <a:r>
              <a:rPr sz="3600" dirty="0"/>
              <a:t> </a:t>
            </a:r>
            <a:r>
              <a:rPr sz="3600" spc="-110" dirty="0"/>
              <a:t>THEIR</a:t>
            </a:r>
            <a:r>
              <a:rPr sz="3600" spc="-40" dirty="0"/>
              <a:t> PURPOSE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3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700" b="1" spc="-130" dirty="0">
                <a:solidFill>
                  <a:srgbClr val="585858"/>
                </a:solidFill>
                <a:latin typeface="Tahoma"/>
                <a:cs typeface="Tahoma"/>
              </a:rPr>
              <a:t>Front</a:t>
            </a:r>
            <a:r>
              <a:rPr sz="1700" b="1" spc="-15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585858"/>
                </a:solidFill>
                <a:latin typeface="Tahoma"/>
                <a:cs typeface="Tahoma"/>
              </a:rPr>
              <a:t>end</a:t>
            </a:r>
            <a:r>
              <a:rPr sz="1700" b="1" spc="25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700" spc="-310" dirty="0">
                <a:solidFill>
                  <a:srgbClr val="585858"/>
                </a:solidFill>
              </a:rPr>
              <a:t>:</a:t>
            </a:r>
            <a:r>
              <a:rPr sz="1700" spc="-75" dirty="0">
                <a:solidFill>
                  <a:srgbClr val="585858"/>
                </a:solidFill>
              </a:rPr>
              <a:t> </a:t>
            </a:r>
            <a:r>
              <a:rPr sz="1700" spc="-130" dirty="0">
                <a:solidFill>
                  <a:srgbClr val="585858"/>
                </a:solidFill>
              </a:rPr>
              <a:t>HTML,</a:t>
            </a:r>
            <a:r>
              <a:rPr sz="1700" spc="-120" dirty="0">
                <a:solidFill>
                  <a:srgbClr val="585858"/>
                </a:solidFill>
              </a:rPr>
              <a:t> </a:t>
            </a:r>
            <a:r>
              <a:rPr sz="1700" spc="-155" dirty="0">
                <a:solidFill>
                  <a:srgbClr val="585858"/>
                </a:solidFill>
              </a:rPr>
              <a:t>CSS,</a:t>
            </a:r>
            <a:r>
              <a:rPr sz="1700" spc="-7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Java,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JavaScript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ts val="1835"/>
              </a:lnSpc>
              <a:spcBef>
                <a:spcPts val="600"/>
              </a:spcBef>
            </a:pPr>
            <a:r>
              <a:rPr sz="1700" spc="-160" dirty="0">
                <a:solidFill>
                  <a:srgbClr val="585858"/>
                </a:solidFill>
              </a:rPr>
              <a:t>HTML:</a:t>
            </a:r>
            <a:r>
              <a:rPr sz="1700" spc="-125" dirty="0">
                <a:solidFill>
                  <a:srgbClr val="585858"/>
                </a:solidFill>
              </a:rPr>
              <a:t> HTML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spc="-165" dirty="0">
                <a:solidFill>
                  <a:srgbClr val="585858"/>
                </a:solidFill>
              </a:rPr>
              <a:t>is</a:t>
            </a:r>
            <a:r>
              <a:rPr sz="1700" spc="-150" dirty="0">
                <a:solidFill>
                  <a:srgbClr val="585858"/>
                </a:solidFill>
              </a:rPr>
              <a:t> </a:t>
            </a:r>
            <a:r>
              <a:rPr sz="1700" spc="-25" dirty="0">
                <a:solidFill>
                  <a:srgbClr val="585858"/>
                </a:solidFill>
              </a:rPr>
              <a:t>used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to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create</a:t>
            </a:r>
            <a:r>
              <a:rPr sz="1700" spc="-105" dirty="0">
                <a:solidFill>
                  <a:srgbClr val="585858"/>
                </a:solidFill>
              </a:rPr>
              <a:t> </a:t>
            </a:r>
            <a:r>
              <a:rPr sz="1700" spc="60" dirty="0">
                <a:solidFill>
                  <a:srgbClr val="585858"/>
                </a:solidFill>
              </a:rPr>
              <a:t>and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25" dirty="0">
                <a:solidFill>
                  <a:srgbClr val="585858"/>
                </a:solidFill>
              </a:rPr>
              <a:t>save</a:t>
            </a:r>
            <a:r>
              <a:rPr sz="1700" spc="-110" dirty="0">
                <a:solidFill>
                  <a:srgbClr val="585858"/>
                </a:solidFill>
              </a:rPr>
              <a:t> </a:t>
            </a:r>
            <a:r>
              <a:rPr sz="1700" spc="75" dirty="0">
                <a:solidFill>
                  <a:srgbClr val="585858"/>
                </a:solidFill>
              </a:rPr>
              <a:t>web</a:t>
            </a:r>
            <a:r>
              <a:rPr sz="1700" spc="-114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document.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95" dirty="0">
                <a:solidFill>
                  <a:srgbClr val="585858"/>
                </a:solidFill>
              </a:rPr>
              <a:t>E.g.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Notepad/Notepad++</a:t>
            </a:r>
            <a:endParaRPr sz="1700"/>
          </a:p>
          <a:p>
            <a:pPr marL="12700">
              <a:lnSpc>
                <a:spcPts val="1835"/>
              </a:lnSpc>
            </a:pPr>
            <a:r>
              <a:rPr sz="1700" spc="-150" dirty="0">
                <a:solidFill>
                  <a:srgbClr val="585858"/>
                </a:solidFill>
              </a:rPr>
              <a:t>CSS</a:t>
            </a:r>
            <a:r>
              <a:rPr sz="1700" spc="-30" dirty="0">
                <a:solidFill>
                  <a:srgbClr val="585858"/>
                </a:solidFill>
              </a:rPr>
              <a:t> </a:t>
            </a:r>
            <a:r>
              <a:rPr sz="1700" spc="-310" dirty="0">
                <a:solidFill>
                  <a:srgbClr val="585858"/>
                </a:solidFill>
              </a:rPr>
              <a:t>:</a:t>
            </a:r>
            <a:r>
              <a:rPr sz="1700" spc="-1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(Cascading</a:t>
            </a:r>
            <a:r>
              <a:rPr sz="1700" spc="-105" dirty="0">
                <a:solidFill>
                  <a:srgbClr val="585858"/>
                </a:solidFill>
              </a:rPr>
              <a:t> </a:t>
            </a:r>
            <a:r>
              <a:rPr sz="1700" spc="-114" dirty="0">
                <a:solidFill>
                  <a:srgbClr val="585858"/>
                </a:solidFill>
              </a:rPr>
              <a:t>Style</a:t>
            </a:r>
            <a:r>
              <a:rPr sz="1700" spc="-50" dirty="0">
                <a:solidFill>
                  <a:srgbClr val="585858"/>
                </a:solidFill>
              </a:rPr>
              <a:t> </a:t>
            </a:r>
            <a:r>
              <a:rPr sz="1700" spc="-105" dirty="0">
                <a:solidFill>
                  <a:srgbClr val="585858"/>
                </a:solidFill>
              </a:rPr>
              <a:t>Sheets)</a:t>
            </a:r>
            <a:r>
              <a:rPr sz="1700" spc="-5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Create</a:t>
            </a:r>
            <a:r>
              <a:rPr sz="1700" spc="-50" dirty="0">
                <a:solidFill>
                  <a:srgbClr val="585858"/>
                </a:solidFill>
              </a:rPr>
              <a:t> </a:t>
            </a:r>
            <a:r>
              <a:rPr sz="1700" spc="-20" dirty="0">
                <a:solidFill>
                  <a:srgbClr val="585858"/>
                </a:solidFill>
              </a:rPr>
              <a:t>attractive</a:t>
            </a:r>
            <a:r>
              <a:rPr sz="1700" spc="-11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Layout</a:t>
            </a:r>
            <a:endParaRPr sz="170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spc="-60" dirty="0">
                <a:solidFill>
                  <a:srgbClr val="585858"/>
                </a:solidFill>
              </a:rPr>
              <a:t>Bootstrap</a:t>
            </a:r>
            <a:r>
              <a:rPr sz="1700" spc="-85" dirty="0">
                <a:solidFill>
                  <a:srgbClr val="585858"/>
                </a:solidFill>
              </a:rPr>
              <a:t> </a:t>
            </a:r>
            <a:r>
              <a:rPr sz="1700" spc="-310" dirty="0">
                <a:solidFill>
                  <a:srgbClr val="585858"/>
                </a:solidFill>
              </a:rPr>
              <a:t>: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65" dirty="0">
                <a:solidFill>
                  <a:srgbClr val="585858"/>
                </a:solidFill>
              </a:rPr>
              <a:t>responsive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25" dirty="0">
                <a:solidFill>
                  <a:srgbClr val="585858"/>
                </a:solidFill>
              </a:rPr>
              <a:t>design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mobile</a:t>
            </a:r>
            <a:r>
              <a:rPr sz="1700" spc="-155" dirty="0">
                <a:solidFill>
                  <a:srgbClr val="585858"/>
                </a:solidFill>
              </a:rPr>
              <a:t> </a:t>
            </a:r>
            <a:r>
              <a:rPr sz="1700" spc="-65" dirty="0">
                <a:solidFill>
                  <a:srgbClr val="585858"/>
                </a:solidFill>
              </a:rPr>
              <a:t>friendly</a:t>
            </a:r>
            <a:r>
              <a:rPr sz="1700" spc="-150" dirty="0">
                <a:solidFill>
                  <a:srgbClr val="585858"/>
                </a:solidFill>
              </a:rPr>
              <a:t> </a:t>
            </a:r>
            <a:r>
              <a:rPr sz="1700" spc="-20" dirty="0">
                <a:solidFill>
                  <a:srgbClr val="585858"/>
                </a:solidFill>
              </a:rPr>
              <a:t>site</a:t>
            </a:r>
            <a:endParaRPr sz="1700"/>
          </a:p>
          <a:p>
            <a:pPr marL="12700" marR="724535">
              <a:lnSpc>
                <a:spcPts val="1630"/>
              </a:lnSpc>
              <a:spcBef>
                <a:spcPts val="975"/>
              </a:spcBef>
            </a:pPr>
            <a:r>
              <a:rPr sz="1700" spc="-25" dirty="0">
                <a:solidFill>
                  <a:srgbClr val="585858"/>
                </a:solidFill>
              </a:rPr>
              <a:t>JavaScript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&amp;</a:t>
            </a:r>
            <a:r>
              <a:rPr sz="1700" spc="-70" dirty="0">
                <a:solidFill>
                  <a:srgbClr val="585858"/>
                </a:solidFill>
              </a:rPr>
              <a:t> </a:t>
            </a:r>
            <a:r>
              <a:rPr sz="1700" spc="60" dirty="0">
                <a:solidFill>
                  <a:srgbClr val="585858"/>
                </a:solidFill>
              </a:rPr>
              <a:t>Java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310" dirty="0">
                <a:solidFill>
                  <a:srgbClr val="585858"/>
                </a:solidFill>
              </a:rPr>
              <a:t>: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spc="-100" dirty="0">
                <a:solidFill>
                  <a:srgbClr val="585858"/>
                </a:solidFill>
              </a:rPr>
              <a:t>it</a:t>
            </a:r>
            <a:r>
              <a:rPr sz="1700" spc="-130" dirty="0">
                <a:solidFill>
                  <a:srgbClr val="585858"/>
                </a:solidFill>
              </a:rPr>
              <a:t> </a:t>
            </a:r>
            <a:r>
              <a:rPr sz="1700" spc="-165" dirty="0">
                <a:solidFill>
                  <a:srgbClr val="585858"/>
                </a:solidFill>
              </a:rPr>
              <a:t>is</a:t>
            </a:r>
            <a:r>
              <a:rPr sz="1700" spc="-120" dirty="0">
                <a:solidFill>
                  <a:srgbClr val="585858"/>
                </a:solidFill>
              </a:rPr>
              <a:t> </a:t>
            </a:r>
            <a:r>
              <a:rPr sz="1700" spc="130" dirty="0">
                <a:solidFill>
                  <a:srgbClr val="585858"/>
                </a:solidFill>
              </a:rPr>
              <a:t>a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35" dirty="0">
                <a:solidFill>
                  <a:srgbClr val="585858"/>
                </a:solidFill>
              </a:rPr>
              <a:t>programming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language,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commonly</a:t>
            </a:r>
            <a:r>
              <a:rPr sz="1700" spc="-105" dirty="0">
                <a:solidFill>
                  <a:srgbClr val="585858"/>
                </a:solidFill>
              </a:rPr>
              <a:t> </a:t>
            </a:r>
            <a:r>
              <a:rPr sz="1700" spc="-70" dirty="0">
                <a:solidFill>
                  <a:srgbClr val="585858"/>
                </a:solidFill>
              </a:rPr>
              <a:t>use</a:t>
            </a:r>
            <a:r>
              <a:rPr sz="1700" spc="-105" dirty="0">
                <a:solidFill>
                  <a:srgbClr val="585858"/>
                </a:solidFill>
              </a:rPr>
              <a:t> </a:t>
            </a:r>
            <a:r>
              <a:rPr sz="1700" spc="-50" dirty="0">
                <a:solidFill>
                  <a:srgbClr val="585858"/>
                </a:solidFill>
              </a:rPr>
              <a:t>with</a:t>
            </a:r>
            <a:r>
              <a:rPr sz="1700" spc="-165" dirty="0">
                <a:solidFill>
                  <a:srgbClr val="585858"/>
                </a:solidFill>
              </a:rPr>
              <a:t> </a:t>
            </a:r>
            <a:r>
              <a:rPr sz="1700" spc="45" dirty="0">
                <a:solidFill>
                  <a:srgbClr val="585858"/>
                </a:solidFill>
              </a:rPr>
              <a:t>web </a:t>
            </a:r>
            <a:r>
              <a:rPr sz="1700" spc="-10" dirty="0">
                <a:solidFill>
                  <a:srgbClr val="585858"/>
                </a:solidFill>
              </a:rPr>
              <a:t>browsers.</a:t>
            </a:r>
            <a:endParaRPr sz="1700"/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700" b="1" dirty="0">
                <a:solidFill>
                  <a:srgbClr val="585858"/>
                </a:solidFill>
                <a:latin typeface="Tahoma"/>
                <a:cs typeface="Tahoma"/>
              </a:rPr>
              <a:t>Back</a:t>
            </a:r>
            <a:r>
              <a:rPr sz="1700" b="1" spc="10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700" b="1" spc="-75" dirty="0">
                <a:solidFill>
                  <a:srgbClr val="585858"/>
                </a:solidFill>
                <a:latin typeface="Tahoma"/>
                <a:cs typeface="Tahoma"/>
              </a:rPr>
              <a:t>end</a:t>
            </a:r>
            <a:r>
              <a:rPr sz="1700" spc="-75" dirty="0">
                <a:solidFill>
                  <a:srgbClr val="585858"/>
                </a:solidFill>
              </a:rPr>
              <a:t>:</a:t>
            </a:r>
            <a:r>
              <a:rPr sz="1700" spc="-70" dirty="0">
                <a:solidFill>
                  <a:srgbClr val="585858"/>
                </a:solidFill>
              </a:rPr>
              <a:t> </a:t>
            </a:r>
            <a:r>
              <a:rPr sz="1700" spc="-85" dirty="0">
                <a:solidFill>
                  <a:srgbClr val="585858"/>
                </a:solidFill>
              </a:rPr>
              <a:t>PHP,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spc="-20" dirty="0">
                <a:solidFill>
                  <a:srgbClr val="585858"/>
                </a:solidFill>
              </a:rPr>
              <a:t>MySQL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80000"/>
              </a:lnSpc>
              <a:spcBef>
                <a:spcPts val="1010"/>
              </a:spcBef>
            </a:pPr>
            <a:r>
              <a:rPr sz="1700" spc="-120" dirty="0">
                <a:solidFill>
                  <a:srgbClr val="585858"/>
                </a:solidFill>
              </a:rPr>
              <a:t>PHP: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spc="-70" dirty="0">
                <a:solidFill>
                  <a:srgbClr val="585858"/>
                </a:solidFill>
              </a:rPr>
              <a:t>Hypertext</a:t>
            </a:r>
            <a:r>
              <a:rPr sz="1700" spc="-85" dirty="0">
                <a:solidFill>
                  <a:srgbClr val="585858"/>
                </a:solidFill>
              </a:rPr>
              <a:t> </a:t>
            </a:r>
            <a:r>
              <a:rPr sz="1700" spc="-55" dirty="0">
                <a:solidFill>
                  <a:srgbClr val="585858"/>
                </a:solidFill>
              </a:rPr>
              <a:t>Preprocessor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100" dirty="0">
                <a:solidFill>
                  <a:srgbClr val="585858"/>
                </a:solidFill>
              </a:rPr>
              <a:t>(PHP)</a:t>
            </a:r>
            <a:r>
              <a:rPr sz="1700" spc="-85" dirty="0">
                <a:solidFill>
                  <a:srgbClr val="585858"/>
                </a:solidFill>
              </a:rPr>
              <a:t> </a:t>
            </a:r>
            <a:r>
              <a:rPr sz="1700" spc="-165" dirty="0">
                <a:solidFill>
                  <a:srgbClr val="585858"/>
                </a:solidFill>
              </a:rPr>
              <a:t>is</a:t>
            </a:r>
            <a:r>
              <a:rPr sz="1700" spc="-145" dirty="0">
                <a:solidFill>
                  <a:srgbClr val="585858"/>
                </a:solidFill>
              </a:rPr>
              <a:t> </a:t>
            </a:r>
            <a:r>
              <a:rPr sz="1700" spc="130" dirty="0">
                <a:solidFill>
                  <a:srgbClr val="585858"/>
                </a:solidFill>
              </a:rPr>
              <a:t>a</a:t>
            </a:r>
            <a:r>
              <a:rPr sz="1700" spc="-7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technology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30" dirty="0">
                <a:solidFill>
                  <a:srgbClr val="585858"/>
                </a:solidFill>
              </a:rPr>
              <a:t>that</a:t>
            </a:r>
            <a:r>
              <a:rPr sz="1700" spc="-85" dirty="0">
                <a:solidFill>
                  <a:srgbClr val="585858"/>
                </a:solidFill>
              </a:rPr>
              <a:t> </a:t>
            </a:r>
            <a:r>
              <a:rPr sz="1700" spc="-45" dirty="0">
                <a:solidFill>
                  <a:srgbClr val="585858"/>
                </a:solidFill>
              </a:rPr>
              <a:t>allows</a:t>
            </a:r>
            <a:r>
              <a:rPr sz="1700" spc="-150" dirty="0">
                <a:solidFill>
                  <a:srgbClr val="585858"/>
                </a:solidFill>
              </a:rPr>
              <a:t> </a:t>
            </a:r>
            <a:r>
              <a:rPr sz="1700" spc="-45" dirty="0">
                <a:solidFill>
                  <a:srgbClr val="585858"/>
                </a:solidFill>
              </a:rPr>
              <a:t>software</a:t>
            </a:r>
            <a:r>
              <a:rPr sz="1700" spc="-13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developers </a:t>
            </a:r>
            <a:r>
              <a:rPr sz="1700" spc="-20" dirty="0">
                <a:solidFill>
                  <a:srgbClr val="585858"/>
                </a:solidFill>
              </a:rPr>
              <a:t>to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create</a:t>
            </a:r>
            <a:r>
              <a:rPr sz="1700" spc="425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dynamically</a:t>
            </a:r>
            <a:r>
              <a:rPr sz="1700" spc="-15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generated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75" dirty="0">
                <a:solidFill>
                  <a:srgbClr val="585858"/>
                </a:solidFill>
              </a:rPr>
              <a:t>web</a:t>
            </a:r>
            <a:r>
              <a:rPr sz="1700" spc="-11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pages,</a:t>
            </a:r>
            <a:r>
              <a:rPr sz="1700" spc="-120" dirty="0">
                <a:solidFill>
                  <a:srgbClr val="585858"/>
                </a:solidFill>
              </a:rPr>
              <a:t> </a:t>
            </a:r>
            <a:r>
              <a:rPr sz="1700" spc="-70" dirty="0">
                <a:solidFill>
                  <a:srgbClr val="585858"/>
                </a:solidFill>
              </a:rPr>
              <a:t>in</a:t>
            </a:r>
            <a:r>
              <a:rPr sz="1700" spc="-130" dirty="0">
                <a:solidFill>
                  <a:srgbClr val="585858"/>
                </a:solidFill>
              </a:rPr>
              <a:t> HTML,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80" dirty="0">
                <a:solidFill>
                  <a:srgbClr val="585858"/>
                </a:solidFill>
              </a:rPr>
              <a:t>XML,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-85" dirty="0">
                <a:solidFill>
                  <a:srgbClr val="585858"/>
                </a:solidFill>
              </a:rPr>
              <a:t>or</a:t>
            </a:r>
            <a:r>
              <a:rPr sz="1700" spc="-55" dirty="0">
                <a:solidFill>
                  <a:srgbClr val="585858"/>
                </a:solidFill>
              </a:rPr>
              <a:t> </a:t>
            </a:r>
            <a:r>
              <a:rPr sz="1700" spc="-45" dirty="0">
                <a:solidFill>
                  <a:srgbClr val="585858"/>
                </a:solidFill>
              </a:rPr>
              <a:t>other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document </a:t>
            </a:r>
            <a:r>
              <a:rPr sz="1700" spc="-70" dirty="0">
                <a:solidFill>
                  <a:srgbClr val="585858"/>
                </a:solidFill>
              </a:rPr>
              <a:t>types,</a:t>
            </a:r>
            <a:r>
              <a:rPr sz="1700" spc="-120" dirty="0">
                <a:solidFill>
                  <a:srgbClr val="585858"/>
                </a:solidFill>
              </a:rPr>
              <a:t> </a:t>
            </a:r>
            <a:r>
              <a:rPr sz="1700" spc="-55" dirty="0">
                <a:solidFill>
                  <a:srgbClr val="585858"/>
                </a:solidFill>
              </a:rPr>
              <a:t>as</a:t>
            </a:r>
            <a:r>
              <a:rPr sz="1700" spc="-114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per</a:t>
            </a:r>
            <a:r>
              <a:rPr sz="1700" spc="-90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client</a:t>
            </a:r>
            <a:r>
              <a:rPr sz="1700" spc="350" dirty="0">
                <a:solidFill>
                  <a:srgbClr val="585858"/>
                </a:solidFill>
              </a:rPr>
              <a:t> </a:t>
            </a:r>
            <a:r>
              <a:rPr sz="1700" spc="-65" dirty="0">
                <a:solidFill>
                  <a:srgbClr val="585858"/>
                </a:solidFill>
              </a:rPr>
              <a:t>request.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spc="-60" dirty="0">
                <a:solidFill>
                  <a:srgbClr val="585858"/>
                </a:solidFill>
              </a:rPr>
              <a:t>PHP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spc="-165" dirty="0">
                <a:solidFill>
                  <a:srgbClr val="585858"/>
                </a:solidFill>
              </a:rPr>
              <a:t>is </a:t>
            </a:r>
            <a:r>
              <a:rPr sz="1700" dirty="0">
                <a:solidFill>
                  <a:srgbClr val="585858"/>
                </a:solidFill>
              </a:rPr>
              <a:t>open</a:t>
            </a:r>
            <a:r>
              <a:rPr sz="1700" spc="-85" dirty="0">
                <a:solidFill>
                  <a:srgbClr val="585858"/>
                </a:solidFill>
              </a:rPr>
              <a:t> </a:t>
            </a:r>
            <a:r>
              <a:rPr sz="1700" spc="-25" dirty="0">
                <a:solidFill>
                  <a:srgbClr val="585858"/>
                </a:solidFill>
              </a:rPr>
              <a:t>source</a:t>
            </a:r>
            <a:r>
              <a:rPr sz="1700" spc="-10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software.</a:t>
            </a:r>
            <a:endParaRPr sz="1700"/>
          </a:p>
          <a:p>
            <a:pPr marL="12700">
              <a:lnSpc>
                <a:spcPts val="1835"/>
              </a:lnSpc>
              <a:spcBef>
                <a:spcPts val="580"/>
              </a:spcBef>
            </a:pPr>
            <a:r>
              <a:rPr sz="1700" spc="-110" dirty="0">
                <a:solidFill>
                  <a:srgbClr val="585858"/>
                </a:solidFill>
              </a:rPr>
              <a:t>MySQL: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-65" dirty="0">
                <a:solidFill>
                  <a:srgbClr val="585858"/>
                </a:solidFill>
              </a:rPr>
              <a:t>MySQL</a:t>
            </a:r>
            <a:r>
              <a:rPr sz="1700" spc="-105" dirty="0">
                <a:solidFill>
                  <a:srgbClr val="585858"/>
                </a:solidFill>
              </a:rPr>
              <a:t> </a:t>
            </a:r>
            <a:r>
              <a:rPr sz="1700" spc="-165" dirty="0">
                <a:solidFill>
                  <a:srgbClr val="585858"/>
                </a:solidFill>
              </a:rPr>
              <a:t>is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130" dirty="0">
                <a:solidFill>
                  <a:srgbClr val="585858"/>
                </a:solidFill>
              </a:rPr>
              <a:t>a</a:t>
            </a:r>
            <a:r>
              <a:rPr sz="1700" spc="-4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database,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-25" dirty="0">
                <a:solidFill>
                  <a:srgbClr val="585858"/>
                </a:solidFill>
              </a:rPr>
              <a:t>widely</a:t>
            </a:r>
            <a:r>
              <a:rPr sz="1700" spc="-145" dirty="0">
                <a:solidFill>
                  <a:srgbClr val="585858"/>
                </a:solidFill>
              </a:rPr>
              <a:t> </a:t>
            </a:r>
            <a:r>
              <a:rPr sz="1700" spc="-30" dirty="0">
                <a:solidFill>
                  <a:srgbClr val="585858"/>
                </a:solidFill>
              </a:rPr>
              <a:t>used</a:t>
            </a:r>
            <a:r>
              <a:rPr sz="1700" spc="-80" dirty="0">
                <a:solidFill>
                  <a:srgbClr val="585858"/>
                </a:solidFill>
              </a:rPr>
              <a:t> </a:t>
            </a:r>
            <a:r>
              <a:rPr sz="1700" spc="-85" dirty="0">
                <a:solidFill>
                  <a:srgbClr val="585858"/>
                </a:solidFill>
              </a:rPr>
              <a:t>for</a:t>
            </a:r>
            <a:r>
              <a:rPr sz="1700" spc="-45" dirty="0">
                <a:solidFill>
                  <a:srgbClr val="585858"/>
                </a:solidFill>
              </a:rPr>
              <a:t> </a:t>
            </a:r>
            <a:r>
              <a:rPr sz="1700" dirty="0">
                <a:solidFill>
                  <a:srgbClr val="585858"/>
                </a:solidFill>
              </a:rPr>
              <a:t>accessing</a:t>
            </a:r>
            <a:r>
              <a:rPr sz="1700" spc="-135" dirty="0">
                <a:solidFill>
                  <a:srgbClr val="585858"/>
                </a:solidFill>
              </a:rPr>
              <a:t> </a:t>
            </a:r>
            <a:r>
              <a:rPr sz="1700" spc="-50" dirty="0">
                <a:solidFill>
                  <a:srgbClr val="585858"/>
                </a:solidFill>
              </a:rPr>
              <a:t>querying,</a:t>
            </a:r>
            <a:r>
              <a:rPr sz="1700" spc="-80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updating,</a:t>
            </a:r>
            <a:r>
              <a:rPr sz="1700" spc="-125" dirty="0">
                <a:solidFill>
                  <a:srgbClr val="585858"/>
                </a:solidFill>
              </a:rPr>
              <a:t> </a:t>
            </a:r>
            <a:r>
              <a:rPr sz="1700" spc="35" dirty="0">
                <a:solidFill>
                  <a:srgbClr val="585858"/>
                </a:solidFill>
              </a:rPr>
              <a:t>and</a:t>
            </a:r>
            <a:endParaRPr sz="1700"/>
          </a:p>
          <a:p>
            <a:pPr marL="12700">
              <a:lnSpc>
                <a:spcPts val="1835"/>
              </a:lnSpc>
            </a:pPr>
            <a:r>
              <a:rPr sz="1700" dirty="0">
                <a:solidFill>
                  <a:srgbClr val="585858"/>
                </a:solidFill>
              </a:rPr>
              <a:t>managing</a:t>
            </a:r>
            <a:r>
              <a:rPr sz="1700" spc="-120" dirty="0">
                <a:solidFill>
                  <a:srgbClr val="585858"/>
                </a:solidFill>
              </a:rPr>
              <a:t> </a:t>
            </a:r>
            <a:r>
              <a:rPr sz="1700" spc="65" dirty="0">
                <a:solidFill>
                  <a:srgbClr val="585858"/>
                </a:solidFill>
              </a:rPr>
              <a:t>data</a:t>
            </a:r>
            <a:r>
              <a:rPr sz="1700" spc="-80" dirty="0">
                <a:solidFill>
                  <a:srgbClr val="585858"/>
                </a:solidFill>
              </a:rPr>
              <a:t> </a:t>
            </a:r>
            <a:r>
              <a:rPr sz="1700" spc="-70" dirty="0">
                <a:solidFill>
                  <a:srgbClr val="585858"/>
                </a:solidFill>
              </a:rPr>
              <a:t>in</a:t>
            </a:r>
            <a:r>
              <a:rPr sz="1700" spc="-95" dirty="0">
                <a:solidFill>
                  <a:srgbClr val="585858"/>
                </a:solidFill>
              </a:rPr>
              <a:t> </a:t>
            </a:r>
            <a:r>
              <a:rPr sz="1700" spc="-10" dirty="0">
                <a:solidFill>
                  <a:srgbClr val="585858"/>
                </a:solidFill>
              </a:rPr>
              <a:t>databases.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910328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70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6"/>
                </a:lnTo>
                <a:lnTo>
                  <a:pt x="1346454" y="509016"/>
                </a:lnTo>
                <a:lnTo>
                  <a:pt x="1352677" y="502539"/>
                </a:lnTo>
                <a:lnTo>
                  <a:pt x="1354582" y="501015"/>
                </a:lnTo>
                <a:lnTo>
                  <a:pt x="1584960" y="269748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6"/>
                </a:lnTo>
                <a:lnTo>
                  <a:pt x="1356106" y="11303"/>
                </a:lnTo>
                <a:lnTo>
                  <a:pt x="1351026" y="11303"/>
                </a:lnTo>
                <a:lnTo>
                  <a:pt x="1351026" y="6477"/>
                </a:lnTo>
                <a:lnTo>
                  <a:pt x="1346454" y="6477"/>
                </a:lnTo>
                <a:lnTo>
                  <a:pt x="1341628" y="1778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086" rIns="0" bIns="0" rtlCol="0">
            <a:spAutoFit/>
          </a:bodyPr>
          <a:lstStyle/>
          <a:p>
            <a:pPr marL="2735580">
              <a:lnSpc>
                <a:spcPct val="100000"/>
              </a:lnSpc>
              <a:spcBef>
                <a:spcPts val="90"/>
              </a:spcBef>
            </a:pPr>
            <a:r>
              <a:rPr sz="3200" spc="-160" dirty="0"/>
              <a:t>DESIGN</a:t>
            </a:r>
            <a:r>
              <a:rPr sz="3200" spc="-25" dirty="0"/>
              <a:t> </a:t>
            </a:r>
            <a:r>
              <a:rPr sz="3200" spc="-95" dirty="0"/>
              <a:t>PICTURES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1426463"/>
            <a:ext cx="4255008" cy="38679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68651" y="5712053"/>
            <a:ext cx="3685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404040"/>
                </a:solidFill>
                <a:latin typeface="Verdana"/>
                <a:cs typeface="Verdana"/>
              </a:rPr>
              <a:t>Fig</a:t>
            </a:r>
            <a:r>
              <a:rPr sz="12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22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12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04040"/>
                </a:solidFill>
                <a:latin typeface="Verdana"/>
                <a:cs typeface="Verdana"/>
              </a:rPr>
              <a:t>PhP,</a:t>
            </a:r>
            <a:r>
              <a:rPr sz="12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95" dirty="0">
                <a:solidFill>
                  <a:srgbClr val="404040"/>
                </a:solidFill>
                <a:latin typeface="Verdana"/>
                <a:cs typeface="Verdana"/>
              </a:rPr>
              <a:t>Sql</a:t>
            </a:r>
            <a:r>
              <a:rPr sz="12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workbench</a:t>
            </a:r>
            <a:r>
              <a:rPr sz="12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220" dirty="0">
                <a:solidFill>
                  <a:srgbClr val="404040"/>
                </a:solidFill>
                <a:latin typeface="Verdana"/>
                <a:cs typeface="Verdana"/>
              </a:rPr>
              <a:t>;</a:t>
            </a:r>
            <a:r>
              <a:rPr sz="12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10" dirty="0">
                <a:solidFill>
                  <a:srgbClr val="404040"/>
                </a:solidFill>
                <a:latin typeface="Verdana"/>
                <a:cs typeface="Verdana"/>
              </a:rPr>
              <a:t>vs</a:t>
            </a:r>
            <a:r>
              <a:rPr sz="12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80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2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220" dirty="0">
                <a:solidFill>
                  <a:srgbClr val="404040"/>
                </a:solidFill>
                <a:latin typeface="Verdana"/>
                <a:cs typeface="Verdana"/>
              </a:rPr>
              <a:t>;</a:t>
            </a:r>
            <a:r>
              <a:rPr sz="12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notepad</a:t>
            </a:r>
            <a:r>
              <a:rPr sz="12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,etc.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6688" y="1426463"/>
            <a:ext cx="5236464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469" rIns="0" bIns="0" rtlCol="0">
            <a:spAutoFit/>
          </a:bodyPr>
          <a:lstStyle/>
          <a:p>
            <a:pPr marL="2531745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DESIGN</a:t>
            </a:r>
            <a:r>
              <a:rPr sz="3600" spc="-20" dirty="0"/>
              <a:t> </a:t>
            </a:r>
            <a:r>
              <a:rPr sz="3600" spc="-90" dirty="0"/>
              <a:t>PICTURES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911" y="1493519"/>
            <a:ext cx="4696968" cy="2350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1047" y="1493519"/>
            <a:ext cx="4642104" cy="24170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911" y="4102608"/>
            <a:ext cx="4529328" cy="25664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80047" y="4102608"/>
            <a:ext cx="5023104" cy="2566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8355" rIns="0" bIns="0" rtlCol="0">
            <a:spAutoFit/>
          </a:bodyPr>
          <a:lstStyle/>
          <a:p>
            <a:pPr marL="2259965">
              <a:lnSpc>
                <a:spcPct val="100000"/>
              </a:lnSpc>
              <a:spcBef>
                <a:spcPts val="110"/>
              </a:spcBef>
            </a:pPr>
            <a:r>
              <a:rPr dirty="0"/>
              <a:t>ER</a:t>
            </a:r>
            <a:r>
              <a:rPr spc="-130" dirty="0"/>
              <a:t> </a:t>
            </a:r>
            <a:r>
              <a:rPr spc="-165" dirty="0"/>
              <a:t>DIAGRAM</a:t>
            </a:r>
          </a:p>
        </p:txBody>
      </p:sp>
      <p:sp>
        <p:nvSpPr>
          <p:cNvPr id="4" name="object 4"/>
          <p:cNvSpPr/>
          <p:nvPr/>
        </p:nvSpPr>
        <p:spPr>
          <a:xfrm>
            <a:off x="5262371" y="2772155"/>
            <a:ext cx="1426845" cy="1316990"/>
          </a:xfrm>
          <a:custGeom>
            <a:avLst/>
            <a:gdLst/>
            <a:ahLst/>
            <a:cxnLst/>
            <a:rect l="l" t="t" r="r" b="b"/>
            <a:pathLst>
              <a:path w="1426845" h="1316989">
                <a:moveTo>
                  <a:pt x="0" y="658368"/>
                </a:moveTo>
                <a:lnTo>
                  <a:pt x="713231" y="0"/>
                </a:lnTo>
                <a:lnTo>
                  <a:pt x="1426463" y="658368"/>
                </a:lnTo>
                <a:lnTo>
                  <a:pt x="713231" y="1316736"/>
                </a:lnTo>
                <a:lnTo>
                  <a:pt x="0" y="658368"/>
                </a:lnTo>
                <a:close/>
              </a:path>
            </a:pathLst>
          </a:custGeom>
          <a:ln w="15239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53995" y="3153155"/>
            <a:ext cx="1320165" cy="563880"/>
          </a:xfrm>
          <a:prstGeom prst="rect">
            <a:avLst/>
          </a:prstGeom>
          <a:ln w="15240">
            <a:solidFill>
              <a:srgbClr val="232323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1040"/>
              </a:spcBef>
            </a:pPr>
            <a:r>
              <a:rPr sz="1800" spc="-10" dirty="0">
                <a:latin typeface="Verdana"/>
                <a:cs typeface="Verdana"/>
              </a:rPr>
              <a:t>Patient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6897" y="3175254"/>
            <a:ext cx="11544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95910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latin typeface="Verdana"/>
                <a:cs typeface="Verdana"/>
              </a:rPr>
              <a:t>Books </a:t>
            </a:r>
            <a:r>
              <a:rPr sz="1400" spc="-10" dirty="0">
                <a:latin typeface="Verdana"/>
                <a:cs typeface="Verdana"/>
              </a:rPr>
              <a:t>appointment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73779" y="3406140"/>
            <a:ext cx="5145405" cy="26034"/>
          </a:xfrm>
          <a:custGeom>
            <a:avLst/>
            <a:gdLst/>
            <a:ahLst/>
            <a:cxnLst/>
            <a:rect l="l" t="t" r="r" b="b"/>
            <a:pathLst>
              <a:path w="5145405" h="26035">
                <a:moveTo>
                  <a:pt x="0" y="24384"/>
                </a:moveTo>
                <a:lnTo>
                  <a:pt x="1688973" y="24384"/>
                </a:lnTo>
              </a:path>
              <a:path w="5145405" h="26035">
                <a:moveTo>
                  <a:pt x="3115055" y="25781"/>
                </a:moveTo>
                <a:lnTo>
                  <a:pt x="5145151" y="0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18804" y="3144011"/>
            <a:ext cx="1426845" cy="521334"/>
          </a:xfrm>
          <a:prstGeom prst="rect">
            <a:avLst/>
          </a:prstGeom>
          <a:ln w="15240">
            <a:solidFill>
              <a:srgbClr val="232323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115"/>
              </a:spcBef>
            </a:pPr>
            <a:r>
              <a:rPr sz="1800" spc="-10" dirty="0">
                <a:latin typeface="Verdana"/>
                <a:cs typeface="Verdana"/>
              </a:rPr>
              <a:t>Doctor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08164" y="2040635"/>
            <a:ext cx="923925" cy="646430"/>
          </a:xfrm>
          <a:custGeom>
            <a:avLst/>
            <a:gdLst/>
            <a:ahLst/>
            <a:cxnLst/>
            <a:rect l="l" t="t" r="r" b="b"/>
            <a:pathLst>
              <a:path w="923925" h="646430">
                <a:moveTo>
                  <a:pt x="0" y="323088"/>
                </a:moveTo>
                <a:lnTo>
                  <a:pt x="3598" y="282560"/>
                </a:lnTo>
                <a:lnTo>
                  <a:pt x="14103" y="243535"/>
                </a:lnTo>
                <a:lnTo>
                  <a:pt x="31084" y="206315"/>
                </a:lnTo>
                <a:lnTo>
                  <a:pt x="54106" y="171203"/>
                </a:lnTo>
                <a:lnTo>
                  <a:pt x="82737" y="138501"/>
                </a:lnTo>
                <a:lnTo>
                  <a:pt x="116545" y="108513"/>
                </a:lnTo>
                <a:lnTo>
                  <a:pt x="155096" y="81540"/>
                </a:lnTo>
                <a:lnTo>
                  <a:pt x="197957" y="57887"/>
                </a:lnTo>
                <a:lnTo>
                  <a:pt x="244696" y="37855"/>
                </a:lnTo>
                <a:lnTo>
                  <a:pt x="294880" y="21747"/>
                </a:lnTo>
                <a:lnTo>
                  <a:pt x="348076" y="9867"/>
                </a:lnTo>
                <a:lnTo>
                  <a:pt x="403850" y="2517"/>
                </a:lnTo>
                <a:lnTo>
                  <a:pt x="461771" y="0"/>
                </a:lnTo>
                <a:lnTo>
                  <a:pt x="519693" y="2517"/>
                </a:lnTo>
                <a:lnTo>
                  <a:pt x="575467" y="9867"/>
                </a:lnTo>
                <a:lnTo>
                  <a:pt x="628663" y="21747"/>
                </a:lnTo>
                <a:lnTo>
                  <a:pt x="678847" y="37855"/>
                </a:lnTo>
                <a:lnTo>
                  <a:pt x="725586" y="57887"/>
                </a:lnTo>
                <a:lnTo>
                  <a:pt x="768447" y="81540"/>
                </a:lnTo>
                <a:lnTo>
                  <a:pt x="806998" y="108513"/>
                </a:lnTo>
                <a:lnTo>
                  <a:pt x="840806" y="138501"/>
                </a:lnTo>
                <a:lnTo>
                  <a:pt x="869437" y="171203"/>
                </a:lnTo>
                <a:lnTo>
                  <a:pt x="892459" y="206315"/>
                </a:lnTo>
                <a:lnTo>
                  <a:pt x="909440" y="243535"/>
                </a:lnTo>
                <a:lnTo>
                  <a:pt x="919945" y="282560"/>
                </a:lnTo>
                <a:lnTo>
                  <a:pt x="923543" y="323088"/>
                </a:lnTo>
                <a:lnTo>
                  <a:pt x="919945" y="363615"/>
                </a:lnTo>
                <a:lnTo>
                  <a:pt x="909440" y="402640"/>
                </a:lnTo>
                <a:lnTo>
                  <a:pt x="892459" y="439860"/>
                </a:lnTo>
                <a:lnTo>
                  <a:pt x="869437" y="474972"/>
                </a:lnTo>
                <a:lnTo>
                  <a:pt x="840806" y="507674"/>
                </a:lnTo>
                <a:lnTo>
                  <a:pt x="806998" y="537662"/>
                </a:lnTo>
                <a:lnTo>
                  <a:pt x="768447" y="564635"/>
                </a:lnTo>
                <a:lnTo>
                  <a:pt x="725586" y="588288"/>
                </a:lnTo>
                <a:lnTo>
                  <a:pt x="678847" y="608320"/>
                </a:lnTo>
                <a:lnTo>
                  <a:pt x="628663" y="624428"/>
                </a:lnTo>
                <a:lnTo>
                  <a:pt x="575467" y="636308"/>
                </a:lnTo>
                <a:lnTo>
                  <a:pt x="519693" y="643658"/>
                </a:lnTo>
                <a:lnTo>
                  <a:pt x="461771" y="646176"/>
                </a:lnTo>
                <a:lnTo>
                  <a:pt x="403850" y="643658"/>
                </a:lnTo>
                <a:lnTo>
                  <a:pt x="348076" y="636308"/>
                </a:lnTo>
                <a:lnTo>
                  <a:pt x="294880" y="624428"/>
                </a:lnTo>
                <a:lnTo>
                  <a:pt x="244696" y="608320"/>
                </a:lnTo>
                <a:lnTo>
                  <a:pt x="197957" y="588288"/>
                </a:lnTo>
                <a:lnTo>
                  <a:pt x="155096" y="564635"/>
                </a:lnTo>
                <a:lnTo>
                  <a:pt x="116545" y="537662"/>
                </a:lnTo>
                <a:lnTo>
                  <a:pt x="82737" y="507674"/>
                </a:lnTo>
                <a:lnTo>
                  <a:pt x="54106" y="474972"/>
                </a:lnTo>
                <a:lnTo>
                  <a:pt x="31084" y="439860"/>
                </a:lnTo>
                <a:lnTo>
                  <a:pt x="14103" y="402640"/>
                </a:lnTo>
                <a:lnTo>
                  <a:pt x="3598" y="363615"/>
                </a:lnTo>
                <a:lnTo>
                  <a:pt x="0" y="323088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10243" y="1714500"/>
            <a:ext cx="1198245" cy="646430"/>
          </a:xfrm>
          <a:custGeom>
            <a:avLst/>
            <a:gdLst/>
            <a:ahLst/>
            <a:cxnLst/>
            <a:rect l="l" t="t" r="r" b="b"/>
            <a:pathLst>
              <a:path w="1198245" h="646430">
                <a:moveTo>
                  <a:pt x="0" y="323088"/>
                </a:moveTo>
                <a:lnTo>
                  <a:pt x="12165" y="257974"/>
                </a:lnTo>
                <a:lnTo>
                  <a:pt x="47059" y="197328"/>
                </a:lnTo>
                <a:lnTo>
                  <a:pt x="102273" y="142447"/>
                </a:lnTo>
                <a:lnTo>
                  <a:pt x="136749" y="117574"/>
                </a:lnTo>
                <a:lnTo>
                  <a:pt x="175402" y="94630"/>
                </a:lnTo>
                <a:lnTo>
                  <a:pt x="217933" y="73778"/>
                </a:lnTo>
                <a:lnTo>
                  <a:pt x="264039" y="55178"/>
                </a:lnTo>
                <a:lnTo>
                  <a:pt x="313421" y="38995"/>
                </a:lnTo>
                <a:lnTo>
                  <a:pt x="365777" y="25390"/>
                </a:lnTo>
                <a:lnTo>
                  <a:pt x="420807" y="14525"/>
                </a:lnTo>
                <a:lnTo>
                  <a:pt x="478210" y="6564"/>
                </a:lnTo>
                <a:lnTo>
                  <a:pt x="537685" y="1668"/>
                </a:lnTo>
                <a:lnTo>
                  <a:pt x="598931" y="0"/>
                </a:lnTo>
                <a:lnTo>
                  <a:pt x="660178" y="1668"/>
                </a:lnTo>
                <a:lnTo>
                  <a:pt x="719653" y="6564"/>
                </a:lnTo>
                <a:lnTo>
                  <a:pt x="777056" y="14525"/>
                </a:lnTo>
                <a:lnTo>
                  <a:pt x="832086" y="25390"/>
                </a:lnTo>
                <a:lnTo>
                  <a:pt x="884442" y="38995"/>
                </a:lnTo>
                <a:lnTo>
                  <a:pt x="933824" y="55178"/>
                </a:lnTo>
                <a:lnTo>
                  <a:pt x="979930" y="73778"/>
                </a:lnTo>
                <a:lnTo>
                  <a:pt x="1022461" y="94630"/>
                </a:lnTo>
                <a:lnTo>
                  <a:pt x="1061114" y="117574"/>
                </a:lnTo>
                <a:lnTo>
                  <a:pt x="1095590" y="142447"/>
                </a:lnTo>
                <a:lnTo>
                  <a:pt x="1125587" y="169085"/>
                </a:lnTo>
                <a:lnTo>
                  <a:pt x="1170941" y="227012"/>
                </a:lnTo>
                <a:lnTo>
                  <a:pt x="1194772" y="290054"/>
                </a:lnTo>
                <a:lnTo>
                  <a:pt x="1197863" y="323088"/>
                </a:lnTo>
                <a:lnTo>
                  <a:pt x="1194772" y="356121"/>
                </a:lnTo>
                <a:lnTo>
                  <a:pt x="1170941" y="419163"/>
                </a:lnTo>
                <a:lnTo>
                  <a:pt x="1125587" y="477090"/>
                </a:lnTo>
                <a:lnTo>
                  <a:pt x="1095590" y="503728"/>
                </a:lnTo>
                <a:lnTo>
                  <a:pt x="1061114" y="528601"/>
                </a:lnTo>
                <a:lnTo>
                  <a:pt x="1022461" y="551545"/>
                </a:lnTo>
                <a:lnTo>
                  <a:pt x="979930" y="572397"/>
                </a:lnTo>
                <a:lnTo>
                  <a:pt x="933824" y="590997"/>
                </a:lnTo>
                <a:lnTo>
                  <a:pt x="884442" y="607180"/>
                </a:lnTo>
                <a:lnTo>
                  <a:pt x="832086" y="620785"/>
                </a:lnTo>
                <a:lnTo>
                  <a:pt x="777056" y="631650"/>
                </a:lnTo>
                <a:lnTo>
                  <a:pt x="719653" y="639611"/>
                </a:lnTo>
                <a:lnTo>
                  <a:pt x="660178" y="644507"/>
                </a:lnTo>
                <a:lnTo>
                  <a:pt x="598931" y="646176"/>
                </a:lnTo>
                <a:lnTo>
                  <a:pt x="537685" y="644507"/>
                </a:lnTo>
                <a:lnTo>
                  <a:pt x="478210" y="639611"/>
                </a:lnTo>
                <a:lnTo>
                  <a:pt x="420807" y="631650"/>
                </a:lnTo>
                <a:lnTo>
                  <a:pt x="365777" y="620785"/>
                </a:lnTo>
                <a:lnTo>
                  <a:pt x="313421" y="607180"/>
                </a:lnTo>
                <a:lnTo>
                  <a:pt x="264039" y="590997"/>
                </a:lnTo>
                <a:lnTo>
                  <a:pt x="217933" y="572397"/>
                </a:lnTo>
                <a:lnTo>
                  <a:pt x="175402" y="551545"/>
                </a:lnTo>
                <a:lnTo>
                  <a:pt x="136749" y="528601"/>
                </a:lnTo>
                <a:lnTo>
                  <a:pt x="102273" y="503728"/>
                </a:lnTo>
                <a:lnTo>
                  <a:pt x="72276" y="477090"/>
                </a:lnTo>
                <a:lnTo>
                  <a:pt x="26922" y="419163"/>
                </a:lnTo>
                <a:lnTo>
                  <a:pt x="3091" y="356121"/>
                </a:lnTo>
                <a:lnTo>
                  <a:pt x="0" y="323088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30794" y="2245868"/>
            <a:ext cx="5581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latin typeface="Verdana"/>
                <a:cs typeface="Verdana"/>
              </a:rPr>
              <a:t>Name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0769" y="2066671"/>
            <a:ext cx="680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name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4242" y="2141042"/>
            <a:ext cx="6965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0" dirty="0">
                <a:latin typeface="Verdana"/>
                <a:cs typeface="Verdana"/>
              </a:rPr>
              <a:t>address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0769" y="4453204"/>
            <a:ext cx="41084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latin typeface="Verdana"/>
                <a:cs typeface="Verdana"/>
              </a:rPr>
              <a:t>DOB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49523" y="1900427"/>
            <a:ext cx="2212975" cy="646430"/>
          </a:xfrm>
          <a:custGeom>
            <a:avLst/>
            <a:gdLst/>
            <a:ahLst/>
            <a:cxnLst/>
            <a:rect l="l" t="t" r="r" b="b"/>
            <a:pathLst>
              <a:path w="2212975" h="646430">
                <a:moveTo>
                  <a:pt x="0" y="323088"/>
                </a:moveTo>
                <a:lnTo>
                  <a:pt x="3562" y="282560"/>
                </a:lnTo>
                <a:lnTo>
                  <a:pt x="13965" y="243535"/>
                </a:lnTo>
                <a:lnTo>
                  <a:pt x="30778" y="206315"/>
                </a:lnTo>
                <a:lnTo>
                  <a:pt x="53573" y="171203"/>
                </a:lnTo>
                <a:lnTo>
                  <a:pt x="81922" y="138501"/>
                </a:lnTo>
                <a:lnTo>
                  <a:pt x="115396" y="108513"/>
                </a:lnTo>
                <a:lnTo>
                  <a:pt x="153566" y="81540"/>
                </a:lnTo>
                <a:lnTo>
                  <a:pt x="196004" y="57887"/>
                </a:lnTo>
                <a:lnTo>
                  <a:pt x="242280" y="37855"/>
                </a:lnTo>
                <a:lnTo>
                  <a:pt x="291967" y="21747"/>
                </a:lnTo>
                <a:lnTo>
                  <a:pt x="344634" y="9867"/>
                </a:lnTo>
                <a:lnTo>
                  <a:pt x="399855" y="2517"/>
                </a:lnTo>
                <a:lnTo>
                  <a:pt x="457200" y="0"/>
                </a:lnTo>
                <a:lnTo>
                  <a:pt x="514544" y="2517"/>
                </a:lnTo>
                <a:lnTo>
                  <a:pt x="569765" y="9867"/>
                </a:lnTo>
                <a:lnTo>
                  <a:pt x="622432" y="21747"/>
                </a:lnTo>
                <a:lnTo>
                  <a:pt x="672119" y="37855"/>
                </a:lnTo>
                <a:lnTo>
                  <a:pt x="718395" y="57887"/>
                </a:lnTo>
                <a:lnTo>
                  <a:pt x="760833" y="81540"/>
                </a:lnTo>
                <a:lnTo>
                  <a:pt x="799003" y="108513"/>
                </a:lnTo>
                <a:lnTo>
                  <a:pt x="832477" y="138501"/>
                </a:lnTo>
                <a:lnTo>
                  <a:pt x="860826" y="171203"/>
                </a:lnTo>
                <a:lnTo>
                  <a:pt x="883621" y="206315"/>
                </a:lnTo>
                <a:lnTo>
                  <a:pt x="900434" y="243535"/>
                </a:lnTo>
                <a:lnTo>
                  <a:pt x="910837" y="282560"/>
                </a:lnTo>
                <a:lnTo>
                  <a:pt x="914400" y="323088"/>
                </a:lnTo>
                <a:lnTo>
                  <a:pt x="910837" y="363615"/>
                </a:lnTo>
                <a:lnTo>
                  <a:pt x="900434" y="402640"/>
                </a:lnTo>
                <a:lnTo>
                  <a:pt x="883621" y="439860"/>
                </a:lnTo>
                <a:lnTo>
                  <a:pt x="860826" y="474972"/>
                </a:lnTo>
                <a:lnTo>
                  <a:pt x="832477" y="507674"/>
                </a:lnTo>
                <a:lnTo>
                  <a:pt x="799003" y="537662"/>
                </a:lnTo>
                <a:lnTo>
                  <a:pt x="760833" y="564635"/>
                </a:lnTo>
                <a:lnTo>
                  <a:pt x="718395" y="588288"/>
                </a:lnTo>
                <a:lnTo>
                  <a:pt x="672119" y="608320"/>
                </a:lnTo>
                <a:lnTo>
                  <a:pt x="622432" y="624428"/>
                </a:lnTo>
                <a:lnTo>
                  <a:pt x="569765" y="636308"/>
                </a:lnTo>
                <a:lnTo>
                  <a:pt x="514544" y="643658"/>
                </a:lnTo>
                <a:lnTo>
                  <a:pt x="457200" y="646176"/>
                </a:lnTo>
                <a:lnTo>
                  <a:pt x="399855" y="643658"/>
                </a:lnTo>
                <a:lnTo>
                  <a:pt x="344634" y="636308"/>
                </a:lnTo>
                <a:lnTo>
                  <a:pt x="291967" y="624428"/>
                </a:lnTo>
                <a:lnTo>
                  <a:pt x="242280" y="608320"/>
                </a:lnTo>
                <a:lnTo>
                  <a:pt x="196004" y="588288"/>
                </a:lnTo>
                <a:lnTo>
                  <a:pt x="153566" y="564635"/>
                </a:lnTo>
                <a:lnTo>
                  <a:pt x="115396" y="537662"/>
                </a:lnTo>
                <a:lnTo>
                  <a:pt x="81922" y="507674"/>
                </a:lnTo>
                <a:lnTo>
                  <a:pt x="53573" y="474972"/>
                </a:lnTo>
                <a:lnTo>
                  <a:pt x="30778" y="439860"/>
                </a:lnTo>
                <a:lnTo>
                  <a:pt x="13965" y="402640"/>
                </a:lnTo>
                <a:lnTo>
                  <a:pt x="3562" y="363615"/>
                </a:lnTo>
                <a:lnTo>
                  <a:pt x="0" y="323088"/>
                </a:lnTo>
                <a:close/>
              </a:path>
              <a:path w="2212975" h="646430">
                <a:moveTo>
                  <a:pt x="1389888" y="350520"/>
                </a:moveTo>
                <a:lnTo>
                  <a:pt x="1404590" y="277592"/>
                </a:lnTo>
                <a:lnTo>
                  <a:pt x="1422231" y="243738"/>
                </a:lnTo>
                <a:lnTo>
                  <a:pt x="1446078" y="212061"/>
                </a:lnTo>
                <a:lnTo>
                  <a:pt x="1475640" y="182887"/>
                </a:lnTo>
                <a:lnTo>
                  <a:pt x="1510426" y="156543"/>
                </a:lnTo>
                <a:lnTo>
                  <a:pt x="1549946" y="133355"/>
                </a:lnTo>
                <a:lnTo>
                  <a:pt x="1593708" y="113650"/>
                </a:lnTo>
                <a:lnTo>
                  <a:pt x="1641222" y="97756"/>
                </a:lnTo>
                <a:lnTo>
                  <a:pt x="1691998" y="85998"/>
                </a:lnTo>
                <a:lnTo>
                  <a:pt x="1745543" y="78704"/>
                </a:lnTo>
                <a:lnTo>
                  <a:pt x="1801367" y="76200"/>
                </a:lnTo>
                <a:lnTo>
                  <a:pt x="1857192" y="78704"/>
                </a:lnTo>
                <a:lnTo>
                  <a:pt x="1910737" y="85998"/>
                </a:lnTo>
                <a:lnTo>
                  <a:pt x="1961513" y="97756"/>
                </a:lnTo>
                <a:lnTo>
                  <a:pt x="2009027" y="113650"/>
                </a:lnTo>
                <a:lnTo>
                  <a:pt x="2052789" y="133355"/>
                </a:lnTo>
                <a:lnTo>
                  <a:pt x="2092309" y="156543"/>
                </a:lnTo>
                <a:lnTo>
                  <a:pt x="2127095" y="182887"/>
                </a:lnTo>
                <a:lnTo>
                  <a:pt x="2156657" y="212061"/>
                </a:lnTo>
                <a:lnTo>
                  <a:pt x="2180504" y="243738"/>
                </a:lnTo>
                <a:lnTo>
                  <a:pt x="2198145" y="277592"/>
                </a:lnTo>
                <a:lnTo>
                  <a:pt x="2212848" y="350520"/>
                </a:lnTo>
                <a:lnTo>
                  <a:pt x="2209090" y="387745"/>
                </a:lnTo>
                <a:lnTo>
                  <a:pt x="2180504" y="457301"/>
                </a:lnTo>
                <a:lnTo>
                  <a:pt x="2156657" y="488978"/>
                </a:lnTo>
                <a:lnTo>
                  <a:pt x="2127095" y="518152"/>
                </a:lnTo>
                <a:lnTo>
                  <a:pt x="2092309" y="544496"/>
                </a:lnTo>
                <a:lnTo>
                  <a:pt x="2052789" y="567684"/>
                </a:lnTo>
                <a:lnTo>
                  <a:pt x="2009027" y="587389"/>
                </a:lnTo>
                <a:lnTo>
                  <a:pt x="1961513" y="603283"/>
                </a:lnTo>
                <a:lnTo>
                  <a:pt x="1910737" y="615041"/>
                </a:lnTo>
                <a:lnTo>
                  <a:pt x="1857192" y="622335"/>
                </a:lnTo>
                <a:lnTo>
                  <a:pt x="1801367" y="624839"/>
                </a:lnTo>
                <a:lnTo>
                  <a:pt x="1745543" y="622335"/>
                </a:lnTo>
                <a:lnTo>
                  <a:pt x="1691998" y="615041"/>
                </a:lnTo>
                <a:lnTo>
                  <a:pt x="1641222" y="603283"/>
                </a:lnTo>
                <a:lnTo>
                  <a:pt x="1593708" y="587389"/>
                </a:lnTo>
                <a:lnTo>
                  <a:pt x="1549946" y="567684"/>
                </a:lnTo>
                <a:lnTo>
                  <a:pt x="1510426" y="544496"/>
                </a:lnTo>
                <a:lnTo>
                  <a:pt x="1475640" y="518152"/>
                </a:lnTo>
                <a:lnTo>
                  <a:pt x="1446078" y="488978"/>
                </a:lnTo>
                <a:lnTo>
                  <a:pt x="1422231" y="457301"/>
                </a:lnTo>
                <a:lnTo>
                  <a:pt x="1404590" y="423447"/>
                </a:lnTo>
                <a:lnTo>
                  <a:pt x="1389888" y="350520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3419" y="3232404"/>
            <a:ext cx="1030605" cy="396240"/>
          </a:xfrm>
          <a:custGeom>
            <a:avLst/>
            <a:gdLst/>
            <a:ahLst/>
            <a:cxnLst/>
            <a:rect l="l" t="t" r="r" b="b"/>
            <a:pathLst>
              <a:path w="1030605" h="396239">
                <a:moveTo>
                  <a:pt x="0" y="198120"/>
                </a:moveTo>
                <a:lnTo>
                  <a:pt x="15731" y="149319"/>
                </a:lnTo>
                <a:lnTo>
                  <a:pt x="60352" y="104958"/>
                </a:lnTo>
                <a:lnTo>
                  <a:pt x="130001" y="66518"/>
                </a:lnTo>
                <a:lnTo>
                  <a:pt x="173003" y="49981"/>
                </a:lnTo>
                <a:lnTo>
                  <a:pt x="220815" y="35481"/>
                </a:lnTo>
                <a:lnTo>
                  <a:pt x="272953" y="23201"/>
                </a:lnTo>
                <a:lnTo>
                  <a:pt x="328934" y="13328"/>
                </a:lnTo>
                <a:lnTo>
                  <a:pt x="388276" y="6047"/>
                </a:lnTo>
                <a:lnTo>
                  <a:pt x="450496" y="1542"/>
                </a:lnTo>
                <a:lnTo>
                  <a:pt x="515111" y="0"/>
                </a:lnTo>
                <a:lnTo>
                  <a:pt x="579724" y="1542"/>
                </a:lnTo>
                <a:lnTo>
                  <a:pt x="641943" y="6047"/>
                </a:lnTo>
                <a:lnTo>
                  <a:pt x="701284" y="13328"/>
                </a:lnTo>
                <a:lnTo>
                  <a:pt x="757264" y="23201"/>
                </a:lnTo>
                <a:lnTo>
                  <a:pt x="809402" y="35481"/>
                </a:lnTo>
                <a:lnTo>
                  <a:pt x="857214" y="49981"/>
                </a:lnTo>
                <a:lnTo>
                  <a:pt x="900218" y="66518"/>
                </a:lnTo>
                <a:lnTo>
                  <a:pt x="937930" y="84905"/>
                </a:lnTo>
                <a:lnTo>
                  <a:pt x="995550" y="126491"/>
                </a:lnTo>
                <a:lnTo>
                  <a:pt x="1026210" y="173257"/>
                </a:lnTo>
                <a:lnTo>
                  <a:pt x="1030224" y="198120"/>
                </a:lnTo>
                <a:lnTo>
                  <a:pt x="1026210" y="222982"/>
                </a:lnTo>
                <a:lnTo>
                  <a:pt x="995550" y="269748"/>
                </a:lnTo>
                <a:lnTo>
                  <a:pt x="937930" y="311334"/>
                </a:lnTo>
                <a:lnTo>
                  <a:pt x="900218" y="329721"/>
                </a:lnTo>
                <a:lnTo>
                  <a:pt x="857214" y="346258"/>
                </a:lnTo>
                <a:lnTo>
                  <a:pt x="809402" y="360758"/>
                </a:lnTo>
                <a:lnTo>
                  <a:pt x="757264" y="373038"/>
                </a:lnTo>
                <a:lnTo>
                  <a:pt x="701284" y="382911"/>
                </a:lnTo>
                <a:lnTo>
                  <a:pt x="641943" y="390192"/>
                </a:lnTo>
                <a:lnTo>
                  <a:pt x="579724" y="394697"/>
                </a:lnTo>
                <a:lnTo>
                  <a:pt x="515111" y="396240"/>
                </a:lnTo>
                <a:lnTo>
                  <a:pt x="450496" y="394697"/>
                </a:lnTo>
                <a:lnTo>
                  <a:pt x="388276" y="390192"/>
                </a:lnTo>
                <a:lnTo>
                  <a:pt x="328934" y="382911"/>
                </a:lnTo>
                <a:lnTo>
                  <a:pt x="272953" y="373038"/>
                </a:lnTo>
                <a:lnTo>
                  <a:pt x="220815" y="360758"/>
                </a:lnTo>
                <a:lnTo>
                  <a:pt x="173003" y="346258"/>
                </a:lnTo>
                <a:lnTo>
                  <a:pt x="130001" y="329721"/>
                </a:lnTo>
                <a:lnTo>
                  <a:pt x="92289" y="311334"/>
                </a:lnTo>
                <a:lnTo>
                  <a:pt x="34672" y="269748"/>
                </a:lnTo>
                <a:lnTo>
                  <a:pt x="4013" y="222982"/>
                </a:lnTo>
                <a:lnTo>
                  <a:pt x="0" y="198120"/>
                </a:lnTo>
                <a:close/>
              </a:path>
            </a:pathLst>
          </a:custGeom>
          <a:ln w="15239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536191" y="1889760"/>
            <a:ext cx="890269" cy="1268730"/>
            <a:chOff x="1536191" y="1889760"/>
            <a:chExt cx="890269" cy="1268730"/>
          </a:xfrm>
        </p:grpSpPr>
        <p:sp>
          <p:nvSpPr>
            <p:cNvPr id="18" name="object 18"/>
            <p:cNvSpPr/>
            <p:nvPr/>
          </p:nvSpPr>
          <p:spPr>
            <a:xfrm>
              <a:off x="1543811" y="1897380"/>
              <a:ext cx="875030" cy="646430"/>
            </a:xfrm>
            <a:custGeom>
              <a:avLst/>
              <a:gdLst/>
              <a:ahLst/>
              <a:cxnLst/>
              <a:rect l="l" t="t" r="r" b="b"/>
              <a:pathLst>
                <a:path w="875030" h="646430">
                  <a:moveTo>
                    <a:pt x="0" y="323088"/>
                  </a:moveTo>
                  <a:lnTo>
                    <a:pt x="3408" y="282560"/>
                  </a:lnTo>
                  <a:lnTo>
                    <a:pt x="13358" y="243535"/>
                  </a:lnTo>
                  <a:lnTo>
                    <a:pt x="29442" y="206315"/>
                  </a:lnTo>
                  <a:lnTo>
                    <a:pt x="51248" y="171203"/>
                  </a:lnTo>
                  <a:lnTo>
                    <a:pt x="78367" y="138501"/>
                  </a:lnTo>
                  <a:lnTo>
                    <a:pt x="110389" y="108513"/>
                  </a:lnTo>
                  <a:lnTo>
                    <a:pt x="146904" y="81540"/>
                  </a:lnTo>
                  <a:lnTo>
                    <a:pt x="187502" y="57887"/>
                  </a:lnTo>
                  <a:lnTo>
                    <a:pt x="231773" y="37855"/>
                  </a:lnTo>
                  <a:lnTo>
                    <a:pt x="279307" y="21747"/>
                  </a:lnTo>
                  <a:lnTo>
                    <a:pt x="329694" y="9867"/>
                  </a:lnTo>
                  <a:lnTo>
                    <a:pt x="382524" y="2517"/>
                  </a:lnTo>
                  <a:lnTo>
                    <a:pt x="437388" y="0"/>
                  </a:lnTo>
                  <a:lnTo>
                    <a:pt x="492251" y="2517"/>
                  </a:lnTo>
                  <a:lnTo>
                    <a:pt x="545081" y="9867"/>
                  </a:lnTo>
                  <a:lnTo>
                    <a:pt x="595468" y="21747"/>
                  </a:lnTo>
                  <a:lnTo>
                    <a:pt x="643002" y="37855"/>
                  </a:lnTo>
                  <a:lnTo>
                    <a:pt x="687273" y="57887"/>
                  </a:lnTo>
                  <a:lnTo>
                    <a:pt x="727871" y="81540"/>
                  </a:lnTo>
                  <a:lnTo>
                    <a:pt x="764386" y="108513"/>
                  </a:lnTo>
                  <a:lnTo>
                    <a:pt x="796408" y="138501"/>
                  </a:lnTo>
                  <a:lnTo>
                    <a:pt x="823527" y="171203"/>
                  </a:lnTo>
                  <a:lnTo>
                    <a:pt x="845333" y="206315"/>
                  </a:lnTo>
                  <a:lnTo>
                    <a:pt x="861417" y="243535"/>
                  </a:lnTo>
                  <a:lnTo>
                    <a:pt x="871367" y="282560"/>
                  </a:lnTo>
                  <a:lnTo>
                    <a:pt x="874776" y="323088"/>
                  </a:lnTo>
                  <a:lnTo>
                    <a:pt x="871367" y="363615"/>
                  </a:lnTo>
                  <a:lnTo>
                    <a:pt x="861417" y="402640"/>
                  </a:lnTo>
                  <a:lnTo>
                    <a:pt x="845333" y="439860"/>
                  </a:lnTo>
                  <a:lnTo>
                    <a:pt x="823527" y="474972"/>
                  </a:lnTo>
                  <a:lnTo>
                    <a:pt x="796408" y="507674"/>
                  </a:lnTo>
                  <a:lnTo>
                    <a:pt x="764386" y="537662"/>
                  </a:lnTo>
                  <a:lnTo>
                    <a:pt x="727871" y="564635"/>
                  </a:lnTo>
                  <a:lnTo>
                    <a:pt x="687273" y="588288"/>
                  </a:lnTo>
                  <a:lnTo>
                    <a:pt x="643002" y="608320"/>
                  </a:lnTo>
                  <a:lnTo>
                    <a:pt x="595468" y="624428"/>
                  </a:lnTo>
                  <a:lnTo>
                    <a:pt x="545081" y="636308"/>
                  </a:lnTo>
                  <a:lnTo>
                    <a:pt x="492251" y="643658"/>
                  </a:lnTo>
                  <a:lnTo>
                    <a:pt x="437388" y="646176"/>
                  </a:lnTo>
                  <a:lnTo>
                    <a:pt x="382524" y="643658"/>
                  </a:lnTo>
                  <a:lnTo>
                    <a:pt x="329694" y="636308"/>
                  </a:lnTo>
                  <a:lnTo>
                    <a:pt x="279307" y="624428"/>
                  </a:lnTo>
                  <a:lnTo>
                    <a:pt x="231773" y="608320"/>
                  </a:lnTo>
                  <a:lnTo>
                    <a:pt x="187502" y="588288"/>
                  </a:lnTo>
                  <a:lnTo>
                    <a:pt x="146904" y="564635"/>
                  </a:lnTo>
                  <a:lnTo>
                    <a:pt x="110389" y="537662"/>
                  </a:lnTo>
                  <a:lnTo>
                    <a:pt x="78367" y="507674"/>
                  </a:lnTo>
                  <a:lnTo>
                    <a:pt x="51248" y="474972"/>
                  </a:lnTo>
                  <a:lnTo>
                    <a:pt x="29442" y="439860"/>
                  </a:lnTo>
                  <a:lnTo>
                    <a:pt x="13358" y="402640"/>
                  </a:lnTo>
                  <a:lnTo>
                    <a:pt x="3408" y="363615"/>
                  </a:lnTo>
                  <a:lnTo>
                    <a:pt x="0" y="323088"/>
                  </a:lnTo>
                  <a:close/>
                </a:path>
              </a:pathLst>
            </a:custGeom>
            <a:ln w="1524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2723" y="2543556"/>
              <a:ext cx="274320" cy="610870"/>
            </a:xfrm>
            <a:custGeom>
              <a:avLst/>
              <a:gdLst/>
              <a:ahLst/>
              <a:cxnLst/>
              <a:rect l="l" t="t" r="r" b="b"/>
              <a:pathLst>
                <a:path w="274319" h="610869">
                  <a:moveTo>
                    <a:pt x="0" y="0"/>
                  </a:moveTo>
                  <a:lnTo>
                    <a:pt x="274065" y="610362"/>
                  </a:lnTo>
                </a:path>
              </a:pathLst>
            </a:custGeom>
            <a:ln w="914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80742" y="5233873"/>
            <a:ext cx="901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latin typeface="Verdana"/>
                <a:cs typeface="Verdana"/>
              </a:rPr>
              <a:t>icPatient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58692" y="4580382"/>
            <a:ext cx="13290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60" dirty="0">
                <a:latin typeface="Verdana"/>
                <a:cs typeface="Verdana"/>
              </a:rPr>
              <a:t>MaritialStatus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5992" y="3272485"/>
            <a:ext cx="789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Gender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31975" y="3425952"/>
            <a:ext cx="929640" cy="1313815"/>
            <a:chOff x="1331975" y="3425952"/>
            <a:chExt cx="929640" cy="1313815"/>
          </a:xfrm>
        </p:grpSpPr>
        <p:sp>
          <p:nvSpPr>
            <p:cNvPr id="24" name="object 24"/>
            <p:cNvSpPr/>
            <p:nvPr/>
          </p:nvSpPr>
          <p:spPr>
            <a:xfrm>
              <a:off x="1339595" y="4405884"/>
              <a:ext cx="914400" cy="326390"/>
            </a:xfrm>
            <a:custGeom>
              <a:avLst/>
              <a:gdLst/>
              <a:ahLst/>
              <a:cxnLst/>
              <a:rect l="l" t="t" r="r" b="b"/>
              <a:pathLst>
                <a:path w="914400" h="326389">
                  <a:moveTo>
                    <a:pt x="0" y="163068"/>
                  </a:moveTo>
                  <a:lnTo>
                    <a:pt x="19359" y="115978"/>
                  </a:lnTo>
                  <a:lnTo>
                    <a:pt x="73664" y="74283"/>
                  </a:lnTo>
                  <a:lnTo>
                    <a:pt x="112153" y="56090"/>
                  </a:lnTo>
                  <a:lnTo>
                    <a:pt x="157254" y="40003"/>
                  </a:lnTo>
                  <a:lnTo>
                    <a:pt x="208262" y="26275"/>
                  </a:lnTo>
                  <a:lnTo>
                    <a:pt x="264468" y="15158"/>
                  </a:lnTo>
                  <a:lnTo>
                    <a:pt x="325165" y="6905"/>
                  </a:lnTo>
                  <a:lnTo>
                    <a:pt x="389644" y="1768"/>
                  </a:lnTo>
                  <a:lnTo>
                    <a:pt x="457199" y="0"/>
                  </a:lnTo>
                  <a:lnTo>
                    <a:pt x="524755" y="1768"/>
                  </a:lnTo>
                  <a:lnTo>
                    <a:pt x="589234" y="6905"/>
                  </a:lnTo>
                  <a:lnTo>
                    <a:pt x="649931" y="15158"/>
                  </a:lnTo>
                  <a:lnTo>
                    <a:pt x="706137" y="26275"/>
                  </a:lnTo>
                  <a:lnTo>
                    <a:pt x="757145" y="40003"/>
                  </a:lnTo>
                  <a:lnTo>
                    <a:pt x="802246" y="56090"/>
                  </a:lnTo>
                  <a:lnTo>
                    <a:pt x="840735" y="74283"/>
                  </a:lnTo>
                  <a:lnTo>
                    <a:pt x="895040" y="115978"/>
                  </a:lnTo>
                  <a:lnTo>
                    <a:pt x="914399" y="163068"/>
                  </a:lnTo>
                  <a:lnTo>
                    <a:pt x="909442" y="187161"/>
                  </a:lnTo>
                  <a:lnTo>
                    <a:pt x="871902" y="231806"/>
                  </a:lnTo>
                  <a:lnTo>
                    <a:pt x="802246" y="270045"/>
                  </a:lnTo>
                  <a:lnTo>
                    <a:pt x="757145" y="286132"/>
                  </a:lnTo>
                  <a:lnTo>
                    <a:pt x="706137" y="299860"/>
                  </a:lnTo>
                  <a:lnTo>
                    <a:pt x="649931" y="310977"/>
                  </a:lnTo>
                  <a:lnTo>
                    <a:pt x="589234" y="319230"/>
                  </a:lnTo>
                  <a:lnTo>
                    <a:pt x="524755" y="324367"/>
                  </a:lnTo>
                  <a:lnTo>
                    <a:pt x="457199" y="326136"/>
                  </a:lnTo>
                  <a:lnTo>
                    <a:pt x="389644" y="324367"/>
                  </a:lnTo>
                  <a:lnTo>
                    <a:pt x="325165" y="319230"/>
                  </a:lnTo>
                  <a:lnTo>
                    <a:pt x="264468" y="310977"/>
                  </a:lnTo>
                  <a:lnTo>
                    <a:pt x="208262" y="299860"/>
                  </a:lnTo>
                  <a:lnTo>
                    <a:pt x="157254" y="286132"/>
                  </a:lnTo>
                  <a:lnTo>
                    <a:pt x="112153" y="270045"/>
                  </a:lnTo>
                  <a:lnTo>
                    <a:pt x="73664" y="251852"/>
                  </a:lnTo>
                  <a:lnTo>
                    <a:pt x="19359" y="210157"/>
                  </a:lnTo>
                  <a:lnTo>
                    <a:pt x="0" y="163068"/>
                  </a:lnTo>
                  <a:close/>
                </a:path>
              </a:pathLst>
            </a:custGeom>
            <a:ln w="1524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23643" y="3430524"/>
              <a:ext cx="531495" cy="974725"/>
            </a:xfrm>
            <a:custGeom>
              <a:avLst/>
              <a:gdLst/>
              <a:ahLst/>
              <a:cxnLst/>
              <a:rect l="l" t="t" r="r" b="b"/>
              <a:pathLst>
                <a:path w="531494" h="974725">
                  <a:moveTo>
                    <a:pt x="0" y="0"/>
                  </a:moveTo>
                  <a:lnTo>
                    <a:pt x="531241" y="5206"/>
                  </a:lnTo>
                </a:path>
                <a:path w="531494" h="974725">
                  <a:moveTo>
                    <a:pt x="73151" y="974344"/>
                  </a:moveTo>
                  <a:lnTo>
                    <a:pt x="530351" y="234695"/>
                  </a:lnTo>
                </a:path>
              </a:pathLst>
            </a:custGeom>
            <a:ln w="914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789176" y="3712464"/>
            <a:ext cx="1152525" cy="1938655"/>
            <a:chOff x="1789176" y="3712464"/>
            <a:chExt cx="1152525" cy="1938655"/>
          </a:xfrm>
        </p:grpSpPr>
        <p:sp>
          <p:nvSpPr>
            <p:cNvPr id="27" name="object 27"/>
            <p:cNvSpPr/>
            <p:nvPr/>
          </p:nvSpPr>
          <p:spPr>
            <a:xfrm>
              <a:off x="1796796" y="5079492"/>
              <a:ext cx="1137285" cy="563880"/>
            </a:xfrm>
            <a:custGeom>
              <a:avLst/>
              <a:gdLst/>
              <a:ahLst/>
              <a:cxnLst/>
              <a:rect l="l" t="t" r="r" b="b"/>
              <a:pathLst>
                <a:path w="1137285" h="563879">
                  <a:moveTo>
                    <a:pt x="0" y="281939"/>
                  </a:moveTo>
                  <a:lnTo>
                    <a:pt x="13111" y="221460"/>
                  </a:lnTo>
                  <a:lnTo>
                    <a:pt x="50595" y="165499"/>
                  </a:lnTo>
                  <a:lnTo>
                    <a:pt x="109679" y="115433"/>
                  </a:lnTo>
                  <a:lnTo>
                    <a:pt x="146453" y="93042"/>
                  </a:lnTo>
                  <a:lnTo>
                    <a:pt x="187587" y="72640"/>
                  </a:lnTo>
                  <a:lnTo>
                    <a:pt x="232733" y="54400"/>
                  </a:lnTo>
                  <a:lnTo>
                    <a:pt x="281544" y="38495"/>
                  </a:lnTo>
                  <a:lnTo>
                    <a:pt x="333675" y="25095"/>
                  </a:lnTo>
                  <a:lnTo>
                    <a:pt x="388778" y="14374"/>
                  </a:lnTo>
                  <a:lnTo>
                    <a:pt x="446506" y="6503"/>
                  </a:lnTo>
                  <a:lnTo>
                    <a:pt x="506513" y="1654"/>
                  </a:lnTo>
                  <a:lnTo>
                    <a:pt x="568452" y="0"/>
                  </a:lnTo>
                  <a:lnTo>
                    <a:pt x="630390" y="1654"/>
                  </a:lnTo>
                  <a:lnTo>
                    <a:pt x="690397" y="6503"/>
                  </a:lnTo>
                  <a:lnTo>
                    <a:pt x="748125" y="14374"/>
                  </a:lnTo>
                  <a:lnTo>
                    <a:pt x="803228" y="25095"/>
                  </a:lnTo>
                  <a:lnTo>
                    <a:pt x="855359" y="38495"/>
                  </a:lnTo>
                  <a:lnTo>
                    <a:pt x="904170" y="54400"/>
                  </a:lnTo>
                  <a:lnTo>
                    <a:pt x="949316" y="72640"/>
                  </a:lnTo>
                  <a:lnTo>
                    <a:pt x="990450" y="93042"/>
                  </a:lnTo>
                  <a:lnTo>
                    <a:pt x="1027224" y="115433"/>
                  </a:lnTo>
                  <a:lnTo>
                    <a:pt x="1059292" y="139643"/>
                  </a:lnTo>
                  <a:lnTo>
                    <a:pt x="1107923" y="192828"/>
                  </a:lnTo>
                  <a:lnTo>
                    <a:pt x="1133568" y="251221"/>
                  </a:lnTo>
                  <a:lnTo>
                    <a:pt x="1136904" y="281939"/>
                  </a:lnTo>
                  <a:lnTo>
                    <a:pt x="1133568" y="312658"/>
                  </a:lnTo>
                  <a:lnTo>
                    <a:pt x="1107923" y="371051"/>
                  </a:lnTo>
                  <a:lnTo>
                    <a:pt x="1059292" y="424236"/>
                  </a:lnTo>
                  <a:lnTo>
                    <a:pt x="1027224" y="448446"/>
                  </a:lnTo>
                  <a:lnTo>
                    <a:pt x="990450" y="470837"/>
                  </a:lnTo>
                  <a:lnTo>
                    <a:pt x="949316" y="491239"/>
                  </a:lnTo>
                  <a:lnTo>
                    <a:pt x="904170" y="509479"/>
                  </a:lnTo>
                  <a:lnTo>
                    <a:pt x="855359" y="525384"/>
                  </a:lnTo>
                  <a:lnTo>
                    <a:pt x="803228" y="538784"/>
                  </a:lnTo>
                  <a:lnTo>
                    <a:pt x="748125" y="549505"/>
                  </a:lnTo>
                  <a:lnTo>
                    <a:pt x="690397" y="557376"/>
                  </a:lnTo>
                  <a:lnTo>
                    <a:pt x="630390" y="562225"/>
                  </a:lnTo>
                  <a:lnTo>
                    <a:pt x="568452" y="563879"/>
                  </a:lnTo>
                  <a:lnTo>
                    <a:pt x="506513" y="562225"/>
                  </a:lnTo>
                  <a:lnTo>
                    <a:pt x="446506" y="557376"/>
                  </a:lnTo>
                  <a:lnTo>
                    <a:pt x="388778" y="549505"/>
                  </a:lnTo>
                  <a:lnTo>
                    <a:pt x="333675" y="538784"/>
                  </a:lnTo>
                  <a:lnTo>
                    <a:pt x="281544" y="525384"/>
                  </a:lnTo>
                  <a:lnTo>
                    <a:pt x="232733" y="509479"/>
                  </a:lnTo>
                  <a:lnTo>
                    <a:pt x="187587" y="491239"/>
                  </a:lnTo>
                  <a:lnTo>
                    <a:pt x="146453" y="470837"/>
                  </a:lnTo>
                  <a:lnTo>
                    <a:pt x="109679" y="448446"/>
                  </a:lnTo>
                  <a:lnTo>
                    <a:pt x="77611" y="424236"/>
                  </a:lnTo>
                  <a:lnTo>
                    <a:pt x="28980" y="371051"/>
                  </a:lnTo>
                  <a:lnTo>
                    <a:pt x="3335" y="312658"/>
                  </a:lnTo>
                  <a:lnTo>
                    <a:pt x="0" y="281939"/>
                  </a:lnTo>
                  <a:close/>
                </a:path>
              </a:pathLst>
            </a:custGeom>
            <a:ln w="1524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66772" y="3717036"/>
              <a:ext cx="547370" cy="1362075"/>
            </a:xfrm>
            <a:custGeom>
              <a:avLst/>
              <a:gdLst/>
              <a:ahLst/>
              <a:cxnLst/>
              <a:rect l="l" t="t" r="r" b="b"/>
              <a:pathLst>
                <a:path w="547369" h="1362075">
                  <a:moveTo>
                    <a:pt x="0" y="1361820"/>
                  </a:moveTo>
                  <a:lnTo>
                    <a:pt x="547369" y="0"/>
                  </a:lnTo>
                </a:path>
              </a:pathLst>
            </a:custGeom>
            <a:ln w="914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880169" y="2438209"/>
            <a:ext cx="5300980" cy="2573020"/>
            <a:chOff x="2880169" y="2438209"/>
            <a:chExt cx="5300980" cy="2573020"/>
          </a:xfrm>
        </p:grpSpPr>
        <p:sp>
          <p:nvSpPr>
            <p:cNvPr id="30" name="object 30"/>
            <p:cNvSpPr/>
            <p:nvPr/>
          </p:nvSpPr>
          <p:spPr>
            <a:xfrm>
              <a:off x="3049524" y="4451604"/>
              <a:ext cx="1689100" cy="551815"/>
            </a:xfrm>
            <a:custGeom>
              <a:avLst/>
              <a:gdLst/>
              <a:ahLst/>
              <a:cxnLst/>
              <a:rect l="l" t="t" r="r" b="b"/>
              <a:pathLst>
                <a:path w="1689100" h="551814">
                  <a:moveTo>
                    <a:pt x="0" y="275844"/>
                  </a:moveTo>
                  <a:lnTo>
                    <a:pt x="11049" y="231087"/>
                  </a:lnTo>
                  <a:lnTo>
                    <a:pt x="43037" y="188634"/>
                  </a:lnTo>
                  <a:lnTo>
                    <a:pt x="94228" y="149053"/>
                  </a:lnTo>
                  <a:lnTo>
                    <a:pt x="162885" y="112910"/>
                  </a:lnTo>
                  <a:lnTo>
                    <a:pt x="203219" y="96304"/>
                  </a:lnTo>
                  <a:lnTo>
                    <a:pt x="247269" y="80772"/>
                  </a:lnTo>
                  <a:lnTo>
                    <a:pt x="294815" y="66382"/>
                  </a:lnTo>
                  <a:lnTo>
                    <a:pt x="345643" y="53205"/>
                  </a:lnTo>
                  <a:lnTo>
                    <a:pt x="399533" y="41314"/>
                  </a:lnTo>
                  <a:lnTo>
                    <a:pt x="456270" y="30778"/>
                  </a:lnTo>
                  <a:lnTo>
                    <a:pt x="515635" y="21669"/>
                  </a:lnTo>
                  <a:lnTo>
                    <a:pt x="577413" y="14057"/>
                  </a:lnTo>
                  <a:lnTo>
                    <a:pt x="641384" y="8013"/>
                  </a:lnTo>
                  <a:lnTo>
                    <a:pt x="707334" y="3608"/>
                  </a:lnTo>
                  <a:lnTo>
                    <a:pt x="775043" y="914"/>
                  </a:lnTo>
                  <a:lnTo>
                    <a:pt x="844296" y="0"/>
                  </a:lnTo>
                  <a:lnTo>
                    <a:pt x="913548" y="914"/>
                  </a:lnTo>
                  <a:lnTo>
                    <a:pt x="981257" y="3608"/>
                  </a:lnTo>
                  <a:lnTo>
                    <a:pt x="1047207" y="8013"/>
                  </a:lnTo>
                  <a:lnTo>
                    <a:pt x="1111178" y="14057"/>
                  </a:lnTo>
                  <a:lnTo>
                    <a:pt x="1172956" y="21669"/>
                  </a:lnTo>
                  <a:lnTo>
                    <a:pt x="1232321" y="30778"/>
                  </a:lnTo>
                  <a:lnTo>
                    <a:pt x="1289058" y="41314"/>
                  </a:lnTo>
                  <a:lnTo>
                    <a:pt x="1342948" y="53205"/>
                  </a:lnTo>
                  <a:lnTo>
                    <a:pt x="1393776" y="66382"/>
                  </a:lnTo>
                  <a:lnTo>
                    <a:pt x="1441323" y="80772"/>
                  </a:lnTo>
                  <a:lnTo>
                    <a:pt x="1485372" y="96304"/>
                  </a:lnTo>
                  <a:lnTo>
                    <a:pt x="1525706" y="112910"/>
                  </a:lnTo>
                  <a:lnTo>
                    <a:pt x="1562109" y="130516"/>
                  </a:lnTo>
                  <a:lnTo>
                    <a:pt x="1622250" y="168449"/>
                  </a:lnTo>
                  <a:lnTo>
                    <a:pt x="1664057" y="209537"/>
                  </a:lnTo>
                  <a:lnTo>
                    <a:pt x="1685793" y="253212"/>
                  </a:lnTo>
                  <a:lnTo>
                    <a:pt x="1688591" y="275844"/>
                  </a:lnTo>
                  <a:lnTo>
                    <a:pt x="1685793" y="298475"/>
                  </a:lnTo>
                  <a:lnTo>
                    <a:pt x="1664057" y="342150"/>
                  </a:lnTo>
                  <a:lnTo>
                    <a:pt x="1622250" y="383238"/>
                  </a:lnTo>
                  <a:lnTo>
                    <a:pt x="1562109" y="421171"/>
                  </a:lnTo>
                  <a:lnTo>
                    <a:pt x="1525706" y="438777"/>
                  </a:lnTo>
                  <a:lnTo>
                    <a:pt x="1485372" y="455383"/>
                  </a:lnTo>
                  <a:lnTo>
                    <a:pt x="1441322" y="470916"/>
                  </a:lnTo>
                  <a:lnTo>
                    <a:pt x="1393776" y="485305"/>
                  </a:lnTo>
                  <a:lnTo>
                    <a:pt x="1342948" y="498482"/>
                  </a:lnTo>
                  <a:lnTo>
                    <a:pt x="1289058" y="510373"/>
                  </a:lnTo>
                  <a:lnTo>
                    <a:pt x="1232321" y="520909"/>
                  </a:lnTo>
                  <a:lnTo>
                    <a:pt x="1172956" y="530018"/>
                  </a:lnTo>
                  <a:lnTo>
                    <a:pt x="1111178" y="537630"/>
                  </a:lnTo>
                  <a:lnTo>
                    <a:pt x="1047207" y="543674"/>
                  </a:lnTo>
                  <a:lnTo>
                    <a:pt x="981257" y="548079"/>
                  </a:lnTo>
                  <a:lnTo>
                    <a:pt x="913548" y="550773"/>
                  </a:lnTo>
                  <a:lnTo>
                    <a:pt x="844296" y="551688"/>
                  </a:lnTo>
                  <a:lnTo>
                    <a:pt x="775043" y="550773"/>
                  </a:lnTo>
                  <a:lnTo>
                    <a:pt x="707334" y="548079"/>
                  </a:lnTo>
                  <a:lnTo>
                    <a:pt x="641384" y="543674"/>
                  </a:lnTo>
                  <a:lnTo>
                    <a:pt x="577413" y="537630"/>
                  </a:lnTo>
                  <a:lnTo>
                    <a:pt x="515635" y="530018"/>
                  </a:lnTo>
                  <a:lnTo>
                    <a:pt x="456270" y="520909"/>
                  </a:lnTo>
                  <a:lnTo>
                    <a:pt x="399533" y="510373"/>
                  </a:lnTo>
                  <a:lnTo>
                    <a:pt x="345643" y="498482"/>
                  </a:lnTo>
                  <a:lnTo>
                    <a:pt x="294815" y="485305"/>
                  </a:lnTo>
                  <a:lnTo>
                    <a:pt x="247268" y="470916"/>
                  </a:lnTo>
                  <a:lnTo>
                    <a:pt x="203219" y="455383"/>
                  </a:lnTo>
                  <a:lnTo>
                    <a:pt x="162885" y="438777"/>
                  </a:lnTo>
                  <a:lnTo>
                    <a:pt x="126482" y="421171"/>
                  </a:lnTo>
                  <a:lnTo>
                    <a:pt x="66341" y="383238"/>
                  </a:lnTo>
                  <a:lnTo>
                    <a:pt x="24534" y="342150"/>
                  </a:lnTo>
                  <a:lnTo>
                    <a:pt x="2798" y="298475"/>
                  </a:lnTo>
                  <a:lnTo>
                    <a:pt x="0" y="275844"/>
                  </a:lnTo>
                  <a:close/>
                </a:path>
              </a:pathLst>
            </a:custGeom>
            <a:ln w="1524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84932" y="2442972"/>
              <a:ext cx="1677670" cy="2009775"/>
            </a:xfrm>
            <a:custGeom>
              <a:avLst/>
              <a:gdLst/>
              <a:ahLst/>
              <a:cxnLst/>
              <a:rect l="l" t="t" r="r" b="b"/>
              <a:pathLst>
                <a:path w="1677670" h="2009775">
                  <a:moveTo>
                    <a:pt x="619379" y="103631"/>
                  </a:moveTo>
                  <a:lnTo>
                    <a:pt x="0" y="733551"/>
                  </a:lnTo>
                </a:path>
                <a:path w="1677670" h="2009775">
                  <a:moveTo>
                    <a:pt x="1009015" y="2009266"/>
                  </a:moveTo>
                  <a:lnTo>
                    <a:pt x="688847" y="1274064"/>
                  </a:lnTo>
                </a:path>
                <a:path w="1677670" h="2009775">
                  <a:moveTo>
                    <a:pt x="621792" y="699388"/>
                  </a:moveTo>
                  <a:lnTo>
                    <a:pt x="1677416" y="0"/>
                  </a:lnTo>
                </a:path>
              </a:pathLst>
            </a:custGeom>
            <a:ln w="914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3300" y="4000500"/>
              <a:ext cx="820419" cy="548640"/>
            </a:xfrm>
            <a:custGeom>
              <a:avLst/>
              <a:gdLst/>
              <a:ahLst/>
              <a:cxnLst/>
              <a:rect l="l" t="t" r="r" b="b"/>
              <a:pathLst>
                <a:path w="820420" h="548639">
                  <a:moveTo>
                    <a:pt x="0" y="274319"/>
                  </a:moveTo>
                  <a:lnTo>
                    <a:pt x="14642" y="201392"/>
                  </a:lnTo>
                  <a:lnTo>
                    <a:pt x="32212" y="167538"/>
                  </a:lnTo>
                  <a:lnTo>
                    <a:pt x="55964" y="135861"/>
                  </a:lnTo>
                  <a:lnTo>
                    <a:pt x="85410" y="106687"/>
                  </a:lnTo>
                  <a:lnTo>
                    <a:pt x="120062" y="80343"/>
                  </a:lnTo>
                  <a:lnTo>
                    <a:pt x="159431" y="57155"/>
                  </a:lnTo>
                  <a:lnTo>
                    <a:pt x="203030" y="37450"/>
                  </a:lnTo>
                  <a:lnTo>
                    <a:pt x="250370" y="21556"/>
                  </a:lnTo>
                  <a:lnTo>
                    <a:pt x="300963" y="9798"/>
                  </a:lnTo>
                  <a:lnTo>
                    <a:pt x="354321" y="2504"/>
                  </a:lnTo>
                  <a:lnTo>
                    <a:pt x="409955" y="0"/>
                  </a:lnTo>
                  <a:lnTo>
                    <a:pt x="465590" y="2504"/>
                  </a:lnTo>
                  <a:lnTo>
                    <a:pt x="518948" y="9798"/>
                  </a:lnTo>
                  <a:lnTo>
                    <a:pt x="569541" y="21556"/>
                  </a:lnTo>
                  <a:lnTo>
                    <a:pt x="616881" y="37450"/>
                  </a:lnTo>
                  <a:lnTo>
                    <a:pt x="660480" y="57155"/>
                  </a:lnTo>
                  <a:lnTo>
                    <a:pt x="699849" y="80343"/>
                  </a:lnTo>
                  <a:lnTo>
                    <a:pt x="734501" y="106687"/>
                  </a:lnTo>
                  <a:lnTo>
                    <a:pt x="763947" y="135861"/>
                  </a:lnTo>
                  <a:lnTo>
                    <a:pt x="787699" y="167538"/>
                  </a:lnTo>
                  <a:lnTo>
                    <a:pt x="805269" y="201392"/>
                  </a:lnTo>
                  <a:lnTo>
                    <a:pt x="819911" y="274319"/>
                  </a:lnTo>
                  <a:lnTo>
                    <a:pt x="816170" y="311545"/>
                  </a:lnTo>
                  <a:lnTo>
                    <a:pt x="787699" y="381101"/>
                  </a:lnTo>
                  <a:lnTo>
                    <a:pt x="763947" y="412778"/>
                  </a:lnTo>
                  <a:lnTo>
                    <a:pt x="734501" y="441952"/>
                  </a:lnTo>
                  <a:lnTo>
                    <a:pt x="699849" y="468296"/>
                  </a:lnTo>
                  <a:lnTo>
                    <a:pt x="660480" y="491484"/>
                  </a:lnTo>
                  <a:lnTo>
                    <a:pt x="616881" y="511189"/>
                  </a:lnTo>
                  <a:lnTo>
                    <a:pt x="569541" y="527083"/>
                  </a:lnTo>
                  <a:lnTo>
                    <a:pt x="518948" y="538841"/>
                  </a:lnTo>
                  <a:lnTo>
                    <a:pt x="465590" y="546135"/>
                  </a:lnTo>
                  <a:lnTo>
                    <a:pt x="409955" y="548639"/>
                  </a:lnTo>
                  <a:lnTo>
                    <a:pt x="354321" y="546135"/>
                  </a:lnTo>
                  <a:lnTo>
                    <a:pt x="300963" y="538841"/>
                  </a:lnTo>
                  <a:lnTo>
                    <a:pt x="250370" y="527083"/>
                  </a:lnTo>
                  <a:lnTo>
                    <a:pt x="203030" y="511189"/>
                  </a:lnTo>
                  <a:lnTo>
                    <a:pt x="159431" y="491484"/>
                  </a:lnTo>
                  <a:lnTo>
                    <a:pt x="120062" y="468296"/>
                  </a:lnTo>
                  <a:lnTo>
                    <a:pt x="85410" y="441952"/>
                  </a:lnTo>
                  <a:lnTo>
                    <a:pt x="55964" y="412778"/>
                  </a:lnTo>
                  <a:lnTo>
                    <a:pt x="32212" y="381101"/>
                  </a:lnTo>
                  <a:lnTo>
                    <a:pt x="14642" y="347247"/>
                  </a:lnTo>
                  <a:lnTo>
                    <a:pt x="0" y="274319"/>
                  </a:lnTo>
                  <a:close/>
                </a:path>
              </a:pathLst>
            </a:custGeom>
            <a:ln w="1524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43373" y="2137994"/>
            <a:ext cx="5537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0" dirty="0">
                <a:latin typeface="Verdana"/>
                <a:cs typeface="Verdana"/>
              </a:rPr>
              <a:t>Email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70975" y="1923364"/>
            <a:ext cx="738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Phone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355580" y="1766316"/>
            <a:ext cx="1045844" cy="546100"/>
          </a:xfrm>
          <a:custGeom>
            <a:avLst/>
            <a:gdLst/>
            <a:ahLst/>
            <a:cxnLst/>
            <a:rect l="l" t="t" r="r" b="b"/>
            <a:pathLst>
              <a:path w="1045845" h="546100">
                <a:moveTo>
                  <a:pt x="0" y="272796"/>
                </a:moveTo>
                <a:lnTo>
                  <a:pt x="13807" y="210258"/>
                </a:lnTo>
                <a:lnTo>
                  <a:pt x="53135" y="152844"/>
                </a:lnTo>
                <a:lnTo>
                  <a:pt x="81389" y="126570"/>
                </a:lnTo>
                <a:lnTo>
                  <a:pt x="114846" y="102192"/>
                </a:lnTo>
                <a:lnTo>
                  <a:pt x="153114" y="79914"/>
                </a:lnTo>
                <a:lnTo>
                  <a:pt x="195800" y="59942"/>
                </a:lnTo>
                <a:lnTo>
                  <a:pt x="242513" y="42480"/>
                </a:lnTo>
                <a:lnTo>
                  <a:pt x="292859" y="27734"/>
                </a:lnTo>
                <a:lnTo>
                  <a:pt x="346446" y="15907"/>
                </a:lnTo>
                <a:lnTo>
                  <a:pt x="402882" y="7206"/>
                </a:lnTo>
                <a:lnTo>
                  <a:pt x="461775" y="1835"/>
                </a:lnTo>
                <a:lnTo>
                  <a:pt x="522731" y="0"/>
                </a:lnTo>
                <a:lnTo>
                  <a:pt x="583688" y="1835"/>
                </a:lnTo>
                <a:lnTo>
                  <a:pt x="642581" y="7206"/>
                </a:lnTo>
                <a:lnTo>
                  <a:pt x="699017" y="15907"/>
                </a:lnTo>
                <a:lnTo>
                  <a:pt x="752604" y="27734"/>
                </a:lnTo>
                <a:lnTo>
                  <a:pt x="802950" y="42480"/>
                </a:lnTo>
                <a:lnTo>
                  <a:pt x="849663" y="59942"/>
                </a:lnTo>
                <a:lnTo>
                  <a:pt x="892349" y="79914"/>
                </a:lnTo>
                <a:lnTo>
                  <a:pt x="930617" y="102192"/>
                </a:lnTo>
                <a:lnTo>
                  <a:pt x="964074" y="126570"/>
                </a:lnTo>
                <a:lnTo>
                  <a:pt x="992328" y="152844"/>
                </a:lnTo>
                <a:lnTo>
                  <a:pt x="1031656" y="210258"/>
                </a:lnTo>
                <a:lnTo>
                  <a:pt x="1045464" y="272796"/>
                </a:lnTo>
                <a:lnTo>
                  <a:pt x="1041946" y="304602"/>
                </a:lnTo>
                <a:lnTo>
                  <a:pt x="1014986" y="364783"/>
                </a:lnTo>
                <a:lnTo>
                  <a:pt x="964074" y="419021"/>
                </a:lnTo>
                <a:lnTo>
                  <a:pt x="930617" y="443399"/>
                </a:lnTo>
                <a:lnTo>
                  <a:pt x="892349" y="465677"/>
                </a:lnTo>
                <a:lnTo>
                  <a:pt x="849663" y="485649"/>
                </a:lnTo>
                <a:lnTo>
                  <a:pt x="802950" y="503111"/>
                </a:lnTo>
                <a:lnTo>
                  <a:pt x="752604" y="517857"/>
                </a:lnTo>
                <a:lnTo>
                  <a:pt x="699017" y="529684"/>
                </a:lnTo>
                <a:lnTo>
                  <a:pt x="642581" y="538385"/>
                </a:lnTo>
                <a:lnTo>
                  <a:pt x="583688" y="543756"/>
                </a:lnTo>
                <a:lnTo>
                  <a:pt x="522731" y="545592"/>
                </a:lnTo>
                <a:lnTo>
                  <a:pt x="461775" y="543756"/>
                </a:lnTo>
                <a:lnTo>
                  <a:pt x="402882" y="538385"/>
                </a:lnTo>
                <a:lnTo>
                  <a:pt x="346446" y="529684"/>
                </a:lnTo>
                <a:lnTo>
                  <a:pt x="292859" y="517857"/>
                </a:lnTo>
                <a:lnTo>
                  <a:pt x="242513" y="503111"/>
                </a:lnTo>
                <a:lnTo>
                  <a:pt x="195800" y="485649"/>
                </a:lnTo>
                <a:lnTo>
                  <a:pt x="153114" y="465677"/>
                </a:lnTo>
                <a:lnTo>
                  <a:pt x="114846" y="443399"/>
                </a:lnTo>
                <a:lnTo>
                  <a:pt x="81389" y="419021"/>
                </a:lnTo>
                <a:lnTo>
                  <a:pt x="53135" y="392747"/>
                </a:lnTo>
                <a:lnTo>
                  <a:pt x="13807" y="335333"/>
                </a:lnTo>
                <a:lnTo>
                  <a:pt x="0" y="272796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473055" y="1881327"/>
            <a:ext cx="8883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Verdana"/>
                <a:cs typeface="Verdana"/>
              </a:rPr>
              <a:t>address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93889" y="4123182"/>
            <a:ext cx="5537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latin typeface="Verdana"/>
                <a:cs typeface="Verdana"/>
              </a:rPr>
              <a:t>Email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840723" y="4433315"/>
            <a:ext cx="914400" cy="323215"/>
          </a:xfrm>
          <a:custGeom>
            <a:avLst/>
            <a:gdLst/>
            <a:ahLst/>
            <a:cxnLst/>
            <a:rect l="l" t="t" r="r" b="b"/>
            <a:pathLst>
              <a:path w="914400" h="323214">
                <a:moveTo>
                  <a:pt x="0" y="161543"/>
                </a:moveTo>
                <a:lnTo>
                  <a:pt x="19359" y="114865"/>
                </a:lnTo>
                <a:lnTo>
                  <a:pt x="73664" y="73553"/>
                </a:lnTo>
                <a:lnTo>
                  <a:pt x="112153" y="55533"/>
                </a:lnTo>
                <a:lnTo>
                  <a:pt x="157254" y="39602"/>
                </a:lnTo>
                <a:lnTo>
                  <a:pt x="208262" y="26009"/>
                </a:lnTo>
                <a:lnTo>
                  <a:pt x="264468" y="15004"/>
                </a:lnTo>
                <a:lnTo>
                  <a:pt x="325165" y="6834"/>
                </a:lnTo>
                <a:lnTo>
                  <a:pt x="389644" y="1750"/>
                </a:lnTo>
                <a:lnTo>
                  <a:pt x="457200" y="0"/>
                </a:lnTo>
                <a:lnTo>
                  <a:pt x="524755" y="1750"/>
                </a:lnTo>
                <a:lnTo>
                  <a:pt x="589234" y="6834"/>
                </a:lnTo>
                <a:lnTo>
                  <a:pt x="649931" y="15004"/>
                </a:lnTo>
                <a:lnTo>
                  <a:pt x="706137" y="26009"/>
                </a:lnTo>
                <a:lnTo>
                  <a:pt x="757145" y="39602"/>
                </a:lnTo>
                <a:lnTo>
                  <a:pt x="802246" y="55533"/>
                </a:lnTo>
                <a:lnTo>
                  <a:pt x="840735" y="73553"/>
                </a:lnTo>
                <a:lnTo>
                  <a:pt x="895040" y="114865"/>
                </a:lnTo>
                <a:lnTo>
                  <a:pt x="914400" y="161543"/>
                </a:lnTo>
                <a:lnTo>
                  <a:pt x="909442" y="185429"/>
                </a:lnTo>
                <a:lnTo>
                  <a:pt x="871902" y="229674"/>
                </a:lnTo>
                <a:lnTo>
                  <a:pt x="802246" y="267554"/>
                </a:lnTo>
                <a:lnTo>
                  <a:pt x="757145" y="283485"/>
                </a:lnTo>
                <a:lnTo>
                  <a:pt x="706137" y="297078"/>
                </a:lnTo>
                <a:lnTo>
                  <a:pt x="649931" y="308083"/>
                </a:lnTo>
                <a:lnTo>
                  <a:pt x="589234" y="316253"/>
                </a:lnTo>
                <a:lnTo>
                  <a:pt x="524755" y="321337"/>
                </a:lnTo>
                <a:lnTo>
                  <a:pt x="457200" y="323087"/>
                </a:lnTo>
                <a:lnTo>
                  <a:pt x="389644" y="321337"/>
                </a:lnTo>
                <a:lnTo>
                  <a:pt x="325165" y="316253"/>
                </a:lnTo>
                <a:lnTo>
                  <a:pt x="264468" y="308083"/>
                </a:lnTo>
                <a:lnTo>
                  <a:pt x="208262" y="297078"/>
                </a:lnTo>
                <a:lnTo>
                  <a:pt x="157254" y="283485"/>
                </a:lnTo>
                <a:lnTo>
                  <a:pt x="112153" y="267554"/>
                </a:lnTo>
                <a:lnTo>
                  <a:pt x="73664" y="249534"/>
                </a:lnTo>
                <a:lnTo>
                  <a:pt x="19359" y="208222"/>
                </a:lnTo>
                <a:lnTo>
                  <a:pt x="0" y="161543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070975" y="4459046"/>
            <a:ext cx="47307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latin typeface="Verdana"/>
                <a:cs typeface="Verdana"/>
              </a:rPr>
              <a:t>DOB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425683" y="4171188"/>
            <a:ext cx="1137285" cy="563880"/>
          </a:xfrm>
          <a:custGeom>
            <a:avLst/>
            <a:gdLst/>
            <a:ahLst/>
            <a:cxnLst/>
            <a:rect l="l" t="t" r="r" b="b"/>
            <a:pathLst>
              <a:path w="1137284" h="563879">
                <a:moveTo>
                  <a:pt x="0" y="281939"/>
                </a:moveTo>
                <a:lnTo>
                  <a:pt x="13111" y="221460"/>
                </a:lnTo>
                <a:lnTo>
                  <a:pt x="50595" y="165499"/>
                </a:lnTo>
                <a:lnTo>
                  <a:pt x="109679" y="115433"/>
                </a:lnTo>
                <a:lnTo>
                  <a:pt x="146453" y="93042"/>
                </a:lnTo>
                <a:lnTo>
                  <a:pt x="187587" y="72640"/>
                </a:lnTo>
                <a:lnTo>
                  <a:pt x="232733" y="54400"/>
                </a:lnTo>
                <a:lnTo>
                  <a:pt x="281544" y="38495"/>
                </a:lnTo>
                <a:lnTo>
                  <a:pt x="333675" y="25095"/>
                </a:lnTo>
                <a:lnTo>
                  <a:pt x="388778" y="14374"/>
                </a:lnTo>
                <a:lnTo>
                  <a:pt x="446506" y="6503"/>
                </a:lnTo>
                <a:lnTo>
                  <a:pt x="506513" y="1654"/>
                </a:lnTo>
                <a:lnTo>
                  <a:pt x="568451" y="0"/>
                </a:lnTo>
                <a:lnTo>
                  <a:pt x="630390" y="1654"/>
                </a:lnTo>
                <a:lnTo>
                  <a:pt x="690397" y="6503"/>
                </a:lnTo>
                <a:lnTo>
                  <a:pt x="748125" y="14374"/>
                </a:lnTo>
                <a:lnTo>
                  <a:pt x="803228" y="25095"/>
                </a:lnTo>
                <a:lnTo>
                  <a:pt x="855359" y="38495"/>
                </a:lnTo>
                <a:lnTo>
                  <a:pt x="904170" y="54400"/>
                </a:lnTo>
                <a:lnTo>
                  <a:pt x="949316" y="72640"/>
                </a:lnTo>
                <a:lnTo>
                  <a:pt x="990450" y="93042"/>
                </a:lnTo>
                <a:lnTo>
                  <a:pt x="1027224" y="115433"/>
                </a:lnTo>
                <a:lnTo>
                  <a:pt x="1059292" y="139643"/>
                </a:lnTo>
                <a:lnTo>
                  <a:pt x="1107923" y="192828"/>
                </a:lnTo>
                <a:lnTo>
                  <a:pt x="1133568" y="251221"/>
                </a:lnTo>
                <a:lnTo>
                  <a:pt x="1136904" y="281939"/>
                </a:lnTo>
                <a:lnTo>
                  <a:pt x="1133568" y="312658"/>
                </a:lnTo>
                <a:lnTo>
                  <a:pt x="1107923" y="371051"/>
                </a:lnTo>
                <a:lnTo>
                  <a:pt x="1059292" y="424236"/>
                </a:lnTo>
                <a:lnTo>
                  <a:pt x="1027224" y="448446"/>
                </a:lnTo>
                <a:lnTo>
                  <a:pt x="990450" y="470837"/>
                </a:lnTo>
                <a:lnTo>
                  <a:pt x="949316" y="491239"/>
                </a:lnTo>
                <a:lnTo>
                  <a:pt x="904170" y="509479"/>
                </a:lnTo>
                <a:lnTo>
                  <a:pt x="855359" y="525384"/>
                </a:lnTo>
                <a:lnTo>
                  <a:pt x="803228" y="538784"/>
                </a:lnTo>
                <a:lnTo>
                  <a:pt x="748125" y="549505"/>
                </a:lnTo>
                <a:lnTo>
                  <a:pt x="690397" y="557376"/>
                </a:lnTo>
                <a:lnTo>
                  <a:pt x="630390" y="562225"/>
                </a:lnTo>
                <a:lnTo>
                  <a:pt x="568451" y="563880"/>
                </a:lnTo>
                <a:lnTo>
                  <a:pt x="506513" y="562225"/>
                </a:lnTo>
                <a:lnTo>
                  <a:pt x="446506" y="557376"/>
                </a:lnTo>
                <a:lnTo>
                  <a:pt x="388778" y="549505"/>
                </a:lnTo>
                <a:lnTo>
                  <a:pt x="333675" y="538784"/>
                </a:lnTo>
                <a:lnTo>
                  <a:pt x="281544" y="525384"/>
                </a:lnTo>
                <a:lnTo>
                  <a:pt x="232733" y="509479"/>
                </a:lnTo>
                <a:lnTo>
                  <a:pt x="187587" y="491239"/>
                </a:lnTo>
                <a:lnTo>
                  <a:pt x="146453" y="470837"/>
                </a:lnTo>
                <a:lnTo>
                  <a:pt x="109679" y="448446"/>
                </a:lnTo>
                <a:lnTo>
                  <a:pt x="77611" y="424236"/>
                </a:lnTo>
                <a:lnTo>
                  <a:pt x="28980" y="371051"/>
                </a:lnTo>
                <a:lnTo>
                  <a:pt x="3335" y="312658"/>
                </a:lnTo>
                <a:lnTo>
                  <a:pt x="0" y="281939"/>
                </a:lnTo>
                <a:close/>
              </a:path>
            </a:pathLst>
          </a:custGeom>
          <a:ln w="15240">
            <a:solidFill>
              <a:srgbClr val="2323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500741" y="4284040"/>
            <a:ext cx="88265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latin typeface="Verdana"/>
                <a:cs typeface="Verdana"/>
              </a:rPr>
              <a:t>icDoctor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410700" y="2360676"/>
            <a:ext cx="20955" cy="781685"/>
          </a:xfrm>
          <a:custGeom>
            <a:avLst/>
            <a:gdLst/>
            <a:ahLst/>
            <a:cxnLst/>
            <a:rect l="l" t="t" r="r" b="b"/>
            <a:pathLst>
              <a:path w="20954" h="781685">
                <a:moveTo>
                  <a:pt x="0" y="0"/>
                </a:moveTo>
                <a:lnTo>
                  <a:pt x="20954" y="781176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057388" y="2592323"/>
            <a:ext cx="711835" cy="1442720"/>
          </a:xfrm>
          <a:custGeom>
            <a:avLst/>
            <a:gdLst/>
            <a:ahLst/>
            <a:cxnLst/>
            <a:rect l="l" t="t" r="r" b="b"/>
            <a:pathLst>
              <a:path w="711834" h="1442720">
                <a:moveTo>
                  <a:pt x="140207" y="0"/>
                </a:moveTo>
                <a:lnTo>
                  <a:pt x="661288" y="586231"/>
                </a:lnTo>
              </a:path>
              <a:path w="711834" h="1442720">
                <a:moveTo>
                  <a:pt x="0" y="1442720"/>
                </a:moveTo>
                <a:lnTo>
                  <a:pt x="711707" y="1072895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34500" y="3665220"/>
            <a:ext cx="95250" cy="765810"/>
          </a:xfrm>
          <a:custGeom>
            <a:avLst/>
            <a:gdLst/>
            <a:ahLst/>
            <a:cxnLst/>
            <a:rect l="l" t="t" r="r" b="b"/>
            <a:pathLst>
              <a:path w="95250" h="765810">
                <a:moveTo>
                  <a:pt x="95123" y="0"/>
                </a:moveTo>
                <a:lnTo>
                  <a:pt x="0" y="765555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114788" y="3665220"/>
            <a:ext cx="882650" cy="504825"/>
          </a:xfrm>
          <a:custGeom>
            <a:avLst/>
            <a:gdLst/>
            <a:ahLst/>
            <a:cxnLst/>
            <a:rect l="l" t="t" r="r" b="b"/>
            <a:pathLst>
              <a:path w="882650" h="504825">
                <a:moveTo>
                  <a:pt x="0" y="0"/>
                </a:moveTo>
                <a:lnTo>
                  <a:pt x="882141" y="504570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114788" y="2311907"/>
            <a:ext cx="765810" cy="843280"/>
          </a:xfrm>
          <a:custGeom>
            <a:avLst/>
            <a:gdLst/>
            <a:ahLst/>
            <a:cxnLst/>
            <a:rect l="l" t="t" r="r" b="b"/>
            <a:pathLst>
              <a:path w="765809" h="843280">
                <a:moveTo>
                  <a:pt x="0" y="842899"/>
                </a:moveTo>
                <a:lnTo>
                  <a:pt x="765301" y="0"/>
                </a:lnTo>
              </a:path>
            </a:pathLst>
          </a:custGeom>
          <a:ln w="9144">
            <a:solidFill>
              <a:srgbClr val="31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691" rIns="0" bIns="0" rtlCol="0">
            <a:spAutoFit/>
          </a:bodyPr>
          <a:lstStyle/>
          <a:p>
            <a:pPr marL="1306195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FEATURES</a:t>
            </a:r>
            <a:r>
              <a:rPr spc="-180" dirty="0"/>
              <a:t> </a:t>
            </a:r>
            <a:r>
              <a:rPr spc="-195" dirty="0"/>
              <a:t>OF</a:t>
            </a:r>
            <a:r>
              <a:rPr spc="-55" dirty="0"/>
              <a:t> </a:t>
            </a:r>
            <a:r>
              <a:rPr spc="-25" dirty="0"/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26004" y="1865503"/>
            <a:ext cx="8963025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2095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Online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Doctor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Appointment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Booking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System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150" dirty="0">
                <a:latin typeface="Verdana"/>
                <a:cs typeface="Verdana"/>
              </a:rPr>
              <a:t>a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course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project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developed </a:t>
            </a:r>
            <a:r>
              <a:rPr sz="1800" spc="-80" dirty="0">
                <a:latin typeface="Verdana"/>
                <a:cs typeface="Verdana"/>
              </a:rPr>
              <a:t>using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PHP,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MySQL,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Java,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bootstrap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175" dirty="0">
                <a:latin typeface="Verdana"/>
                <a:cs typeface="Verdana"/>
              </a:rPr>
              <a:t>CSS.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The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main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features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this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35" dirty="0">
                <a:latin typeface="Verdana"/>
                <a:cs typeface="Verdana"/>
              </a:rPr>
              <a:t>web </a:t>
            </a:r>
            <a:r>
              <a:rPr sz="1800" dirty="0">
                <a:latin typeface="Verdana"/>
                <a:cs typeface="Verdana"/>
              </a:rPr>
              <a:t>application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project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as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follows </a:t>
            </a:r>
            <a:r>
              <a:rPr sz="1800" spc="-37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826385" algn="l"/>
                <a:tab pos="3533775" algn="l"/>
              </a:tabLst>
            </a:pP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project</a:t>
            </a:r>
            <a:r>
              <a:rPr sz="1800" spc="36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contains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admin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user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sides.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The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admin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side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manages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all the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management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like</a:t>
            </a:r>
            <a:r>
              <a:rPr sz="1800" dirty="0">
                <a:latin typeface="Verdana"/>
                <a:cs typeface="Verdana"/>
              </a:rPr>
              <a:t>	managing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schedules,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patient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records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manage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appointment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time,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manage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45" dirty="0">
                <a:latin typeface="Verdana"/>
                <a:cs typeface="Verdana"/>
              </a:rPr>
              <a:t>treatment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facilities,</a:t>
            </a:r>
            <a:r>
              <a:rPr sz="1800" spc="-204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so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on.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1604010" algn="l"/>
              </a:tabLst>
            </a:pPr>
            <a:r>
              <a:rPr sz="1800" spc="-200" dirty="0">
                <a:latin typeface="Verdana"/>
                <a:cs typeface="Verdana"/>
              </a:rPr>
              <a:t>This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system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allows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50" dirty="0">
                <a:latin typeface="Verdana"/>
                <a:cs typeface="Verdana"/>
              </a:rPr>
              <a:t>us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directly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book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appointment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with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doctors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40" dirty="0"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tabLst>
                <a:tab pos="2204720" algn="l"/>
              </a:tabLst>
            </a:pPr>
            <a:r>
              <a:rPr sz="1800" dirty="0">
                <a:latin typeface="Verdana"/>
                <a:cs typeface="Verdana"/>
              </a:rPr>
              <a:t>medical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experts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through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online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medium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5" dirty="0">
                <a:latin typeface="Verdana"/>
                <a:cs typeface="Verdana"/>
              </a:rPr>
              <a:t>sitting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our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homes.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  <a:tab pos="3634104" algn="l"/>
              </a:tabLst>
            </a:pPr>
            <a:r>
              <a:rPr sz="1800" spc="-200" dirty="0">
                <a:latin typeface="Verdana"/>
                <a:cs typeface="Verdana"/>
              </a:rPr>
              <a:t>This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system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is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very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effective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in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tackling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the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modern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day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problems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during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this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hard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time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pandemic.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200" dirty="0">
                <a:latin typeface="Verdana"/>
                <a:cs typeface="Verdana"/>
              </a:rPr>
              <a:t>This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20" dirty="0">
                <a:latin typeface="Verdana"/>
                <a:cs typeface="Verdana"/>
              </a:rPr>
              <a:t>system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is</a:t>
            </a:r>
            <a:r>
              <a:rPr sz="1800" spc="33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easily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accessible</a:t>
            </a:r>
            <a:r>
              <a:rPr sz="1800" spc="-175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through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any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web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platform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we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can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book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800" spc="-65" dirty="0">
                <a:latin typeface="Verdana"/>
                <a:cs typeface="Verdana"/>
              </a:rPr>
              <a:t>our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appointments.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can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directly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message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65" dirty="0">
                <a:latin typeface="Verdana"/>
                <a:cs typeface="Verdana"/>
              </a:rPr>
              <a:t>and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consult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the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doctor.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Verdana"/>
                <a:cs typeface="Verdana"/>
              </a:rPr>
              <a:t>Patient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and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Doctors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details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such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as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age,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phone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number,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address,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etc.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are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available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in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the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web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application.</a:t>
            </a:r>
            <a:endParaRPr sz="1800">
              <a:latin typeface="Verdana"/>
              <a:cs typeface="Verdana"/>
            </a:endParaRPr>
          </a:p>
          <a:p>
            <a:pPr marL="299085" marR="25971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85" dirty="0">
                <a:latin typeface="Verdana"/>
                <a:cs typeface="Verdana"/>
              </a:rPr>
              <a:t>Both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patients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and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doctors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110" dirty="0">
                <a:latin typeface="Verdana"/>
                <a:cs typeface="Verdana"/>
              </a:rPr>
              <a:t>can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create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account</a:t>
            </a:r>
            <a:r>
              <a:rPr sz="1800" spc="-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their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and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its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easily accessible.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980" rIns="0" bIns="0" rtlCol="0">
            <a:spAutoFit/>
          </a:bodyPr>
          <a:lstStyle/>
          <a:p>
            <a:pPr marL="2193290">
              <a:lnSpc>
                <a:spcPct val="100000"/>
              </a:lnSpc>
              <a:spcBef>
                <a:spcPts val="100"/>
              </a:spcBef>
            </a:pPr>
            <a:r>
              <a:rPr sz="4800" spc="-25" dirty="0"/>
              <a:t>PROJECT</a:t>
            </a:r>
            <a:r>
              <a:rPr sz="4800" spc="-260" dirty="0"/>
              <a:t> </a:t>
            </a:r>
            <a:r>
              <a:rPr sz="4800" spc="-345" dirty="0"/>
              <a:t>VIDEO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3223386" y="2388234"/>
            <a:ext cx="729360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Google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  <a:hlinkClick r:id="rId2"/>
              </a:rPr>
              <a:t>Drive(2019bcs091@sggs.ac.in)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video</a:t>
            </a:r>
            <a:r>
              <a:rPr sz="1800" b="1" spc="5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link</a:t>
            </a:r>
            <a:r>
              <a:rPr sz="1800" b="1" spc="60" dirty="0">
                <a:latin typeface="Tahoma"/>
                <a:cs typeface="Tahoma"/>
              </a:rPr>
              <a:t> </a:t>
            </a:r>
            <a:r>
              <a:rPr sz="1800" spc="-37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u="sng" spc="-5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https://drive.google.com/file/d/1QxDa_QCy3plm22Q0zQ5am5Nj-</a:t>
            </a:r>
            <a:r>
              <a:rPr sz="1800" spc="-50" dirty="0">
                <a:solidFill>
                  <a:srgbClr val="2C9FF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800" u="sng" spc="-3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p2vfcTf/view?usp=sharing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6" rIns="0" bIns="0" rtlCol="0">
            <a:spAutoFit/>
          </a:bodyPr>
          <a:lstStyle/>
          <a:p>
            <a:pPr marL="2122805">
              <a:lnSpc>
                <a:spcPct val="100000"/>
              </a:lnSpc>
              <a:spcBef>
                <a:spcPts val="95"/>
              </a:spcBef>
            </a:pPr>
            <a:r>
              <a:rPr sz="4400" spc="-190" dirty="0"/>
              <a:t>RESOURCES</a:t>
            </a:r>
            <a:r>
              <a:rPr sz="4400" spc="-40" dirty="0"/>
              <a:t> </a:t>
            </a:r>
            <a:r>
              <a:rPr sz="4400" spc="-280" dirty="0"/>
              <a:t>USED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668651" y="1849721"/>
            <a:ext cx="8656320" cy="403352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  <a:hlinkClick r:id="rId2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  <a:hlinkClick r:id="rId2"/>
              </a:rPr>
              <a:t>	</a:t>
            </a:r>
            <a:r>
              <a:rPr sz="1800" u="sng" spc="-7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2"/>
              </a:rPr>
              <a:t>https://www.nbis.se/assets/img/logos/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https://zapier.com/blog/best-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appointment-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scheduling-</a:t>
            </a:r>
            <a:r>
              <a:rPr sz="1800" spc="5" dirty="0">
                <a:solidFill>
                  <a:srgbClr val="404040"/>
                </a:solidFill>
                <a:latin typeface="Verdana"/>
                <a:cs typeface="Verdana"/>
              </a:rPr>
              <a:t>apps/</a:t>
            </a:r>
            <a:endParaRPr sz="1800">
              <a:latin typeface="Verdana"/>
              <a:cs typeface="Verdana"/>
            </a:endParaRPr>
          </a:p>
          <a:p>
            <a:pPr marL="356870" marR="486409" indent="-344805">
              <a:lnSpc>
                <a:spcPct val="100000"/>
              </a:lnSpc>
              <a:spcBef>
                <a:spcPts val="1010"/>
              </a:spcBef>
              <a:tabLst>
                <a:tab pos="356870" algn="l"/>
              </a:tabLst>
            </a:pPr>
            <a:r>
              <a:rPr sz="1800" spc="-1800" dirty="0">
                <a:solidFill>
                  <a:srgbClr val="353535"/>
                </a:solidFill>
                <a:latin typeface="Microsoft Sans Serif"/>
                <a:cs typeface="Microsoft Sans Serif"/>
                <a:hlinkClick r:id="rId3"/>
              </a:rPr>
              <a:t>🠶</a:t>
            </a:r>
            <a:r>
              <a:rPr sz="1800" u="sng" spc="-6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https://10to8.com/blog/how-</a:t>
            </a:r>
            <a:r>
              <a:rPr sz="1800" u="sng" spc="-9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to-</a:t>
            </a:r>
            <a:r>
              <a:rPr sz="1800" u="sng" spc="-1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create-</a:t>
            </a:r>
            <a:r>
              <a:rPr sz="1800" u="sng" spc="-4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an-</a:t>
            </a:r>
            <a:r>
              <a:rPr sz="1800" u="sng" spc="-7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online-</a:t>
            </a:r>
            <a:r>
              <a:rPr sz="1800" u="sng" spc="-3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booking-</a:t>
            </a:r>
            <a:r>
              <a:rPr sz="1800" u="sng" spc="-14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system-</a:t>
            </a:r>
            <a:r>
              <a:rPr sz="1800" u="sng" spc="-61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free-</a:t>
            </a:r>
            <a:r>
              <a:rPr sz="1800" spc="500" dirty="0">
                <a:solidFill>
                  <a:srgbClr val="2C9FF0"/>
                </a:solidFill>
                <a:latin typeface="Verdana"/>
                <a:cs typeface="Verdana"/>
                <a:hlinkClick r:id="rId3"/>
              </a:rPr>
              <a:t>     </a:t>
            </a:r>
            <a:r>
              <a:rPr sz="1800" u="sng" spc="-1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3"/>
              </a:rPr>
              <a:t>guide/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  <a:hlinkClick r:id="rId4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  <a:hlinkClick r:id="rId4"/>
              </a:rPr>
              <a:t>	</a:t>
            </a:r>
            <a:r>
              <a:rPr sz="1800" u="sng" spc="-4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4"/>
              </a:rPr>
              <a:t>https://www.w3schools.com/php/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356870" algn="l"/>
              </a:tabLst>
            </a:pPr>
            <a:r>
              <a:rPr sz="1600" spc="3215" dirty="0">
                <a:solidFill>
                  <a:srgbClr val="353535"/>
                </a:solidFill>
                <a:latin typeface="Microsoft Sans Serif"/>
                <a:cs typeface="Microsoft Sans Serif"/>
              </a:rPr>
              <a:t>🠶</a:t>
            </a:r>
            <a:r>
              <a:rPr sz="1600" dirty="0">
                <a:solidFill>
                  <a:srgbClr val="353535"/>
                </a:solidFill>
                <a:latin typeface="Microsoft Sans Serif"/>
                <a:cs typeface="Microsoft Sans Serif"/>
              </a:rPr>
              <a:t>	</a:t>
            </a:r>
            <a:r>
              <a:rPr sz="1600" b="1" spc="-130" dirty="0">
                <a:solidFill>
                  <a:srgbClr val="404040"/>
                </a:solidFill>
                <a:latin typeface="Tahoma"/>
                <a:cs typeface="Tahoma"/>
              </a:rPr>
              <a:t>HTML/CSS:</a:t>
            </a:r>
            <a:r>
              <a:rPr sz="16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ahoma"/>
                <a:cs typeface="Tahoma"/>
              </a:rPr>
              <a:t>Making</a:t>
            </a:r>
            <a:r>
              <a:rPr sz="16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5" dirty="0">
                <a:solidFill>
                  <a:srgbClr val="404040"/>
                </a:solidFill>
                <a:latin typeface="Tahoma"/>
                <a:cs typeface="Tahoma"/>
              </a:rPr>
              <a:t>webpages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  <a:hlinkClick r:id="rId5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  <a:hlinkClick r:id="rId5"/>
              </a:rPr>
              <a:t>	</a:t>
            </a:r>
            <a:r>
              <a:rPr sz="1800" u="sng" spc="-2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5"/>
              </a:rPr>
              <a:t>https://www.khanacademy.org/computing/computer-</a:t>
            </a:r>
            <a:r>
              <a:rPr sz="1800" u="sng" spc="-6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5"/>
              </a:rPr>
              <a:t>programming/html-</a:t>
            </a:r>
            <a:endParaRPr sz="1800">
              <a:latin typeface="Verdana"/>
              <a:cs typeface="Verdana"/>
            </a:endParaRPr>
          </a:p>
          <a:p>
            <a:pPr marL="356870">
              <a:lnSpc>
                <a:spcPct val="100000"/>
              </a:lnSpc>
            </a:pPr>
            <a:r>
              <a:rPr sz="1800" u="sng" spc="-2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5"/>
              </a:rPr>
              <a:t>css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  <a:hlinkClick r:id="rId6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  <a:hlinkClick r:id="rId6"/>
              </a:rPr>
              <a:t>	</a:t>
            </a:r>
            <a:r>
              <a:rPr sz="1800" u="sng" spc="-7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6"/>
              </a:rPr>
              <a:t>https://www.geeksforgeeks.org/css-</a:t>
            </a:r>
            <a:r>
              <a:rPr sz="1800" u="sng" spc="-8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6"/>
              </a:rPr>
              <a:t>tutorials/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6870" algn="l"/>
              </a:tabLst>
            </a:pPr>
            <a:r>
              <a:rPr sz="1800" spc="3690" dirty="0">
                <a:solidFill>
                  <a:srgbClr val="353535"/>
                </a:solidFill>
                <a:latin typeface="Microsoft Sans Serif"/>
                <a:cs typeface="Microsoft Sans Serif"/>
                <a:hlinkClick r:id="rId7"/>
              </a:rPr>
              <a:t>🠶</a:t>
            </a:r>
            <a:r>
              <a:rPr sz="1800" dirty="0">
                <a:solidFill>
                  <a:srgbClr val="353535"/>
                </a:solidFill>
                <a:latin typeface="Microsoft Sans Serif"/>
                <a:cs typeface="Microsoft Sans Serif"/>
                <a:hlinkClick r:id="rId7"/>
              </a:rPr>
              <a:t>	</a:t>
            </a:r>
            <a:r>
              <a:rPr sz="1800" u="sng" spc="-5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https://www.softermii.com/blog/doctor-</a:t>
            </a:r>
            <a:r>
              <a:rPr sz="1800" u="sng" spc="-2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appointment-</a:t>
            </a:r>
            <a:r>
              <a:rPr sz="1800" u="sng" spc="2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app-</a:t>
            </a:r>
            <a:r>
              <a:rPr sz="1800" u="sng" spc="-1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development-</a:t>
            </a:r>
            <a:endParaRPr sz="1800">
              <a:latin typeface="Verdana"/>
              <a:cs typeface="Verdana"/>
            </a:endParaRPr>
          </a:p>
          <a:p>
            <a:pPr marL="356870">
              <a:lnSpc>
                <a:spcPct val="100000"/>
              </a:lnSpc>
            </a:pPr>
            <a:r>
              <a:rPr sz="1800" u="sng" spc="-3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guide-</a:t>
            </a:r>
            <a:r>
              <a:rPr sz="1800" u="sng" spc="-75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features-</a:t>
            </a:r>
            <a:r>
              <a:rPr sz="1800" u="sng" spc="-3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technologies-</a:t>
            </a:r>
            <a:r>
              <a:rPr sz="1800" u="sng" spc="-10" dirty="0">
                <a:solidFill>
                  <a:srgbClr val="2C9FF0"/>
                </a:solidFill>
                <a:uFill>
                  <a:solidFill>
                    <a:srgbClr val="2C9FF0"/>
                  </a:solidFill>
                </a:uFill>
                <a:latin typeface="Verdana"/>
                <a:cs typeface="Verdana"/>
                <a:hlinkClick r:id="rId7"/>
              </a:rPr>
              <a:t>and-monetization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4704">
              <a:lnSpc>
                <a:spcPct val="100000"/>
              </a:lnSpc>
              <a:spcBef>
                <a:spcPts val="95"/>
              </a:spcBef>
            </a:pPr>
            <a:r>
              <a:rPr sz="4400" spc="-114" dirty="0"/>
              <a:t>REPORT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pc="-120" dirty="0"/>
              <a:t>The</a:t>
            </a:r>
            <a:r>
              <a:rPr spc="-105" dirty="0"/>
              <a:t> </a:t>
            </a:r>
            <a:r>
              <a:rPr dirty="0"/>
              <a:t>proposed</a:t>
            </a:r>
            <a:r>
              <a:rPr spc="-105" dirty="0"/>
              <a:t> </a:t>
            </a:r>
            <a:r>
              <a:rPr spc="-20" dirty="0"/>
              <a:t>project</a:t>
            </a:r>
            <a:r>
              <a:rPr spc="-110" dirty="0"/>
              <a:t> </a:t>
            </a:r>
            <a:r>
              <a:rPr spc="-215" dirty="0"/>
              <a:t>is</a:t>
            </a:r>
            <a:r>
              <a:rPr spc="-130" dirty="0"/>
              <a:t> </a:t>
            </a:r>
            <a:r>
              <a:rPr spc="155" dirty="0"/>
              <a:t>a</a:t>
            </a:r>
            <a:r>
              <a:rPr spc="-135" dirty="0"/>
              <a:t> </a:t>
            </a:r>
            <a:r>
              <a:rPr spc="-125" dirty="0"/>
              <a:t>smart</a:t>
            </a:r>
            <a:r>
              <a:rPr spc="-135" dirty="0"/>
              <a:t> </a:t>
            </a:r>
            <a:r>
              <a:rPr spc="-10" dirty="0"/>
              <a:t>appointment</a:t>
            </a:r>
            <a:r>
              <a:rPr spc="-160" dirty="0"/>
              <a:t> </a:t>
            </a:r>
            <a:r>
              <a:rPr dirty="0"/>
              <a:t>booking</a:t>
            </a:r>
            <a:r>
              <a:rPr spc="-105" dirty="0"/>
              <a:t> </a:t>
            </a:r>
            <a:r>
              <a:rPr spc="-140" dirty="0"/>
              <a:t>system</a:t>
            </a:r>
            <a:r>
              <a:rPr spc="-100" dirty="0"/>
              <a:t> </a:t>
            </a:r>
            <a:r>
              <a:rPr spc="-20" dirty="0"/>
              <a:t>that </a:t>
            </a:r>
            <a:r>
              <a:rPr spc="-50" dirty="0"/>
              <a:t>provides</a:t>
            </a:r>
            <a:r>
              <a:rPr spc="-114" dirty="0"/>
              <a:t> </a:t>
            </a:r>
            <a:r>
              <a:rPr spc="-45" dirty="0"/>
              <a:t>patients</a:t>
            </a:r>
            <a:r>
              <a:rPr spc="-185" dirty="0"/>
              <a:t> </a:t>
            </a:r>
            <a:r>
              <a:rPr spc="-100" dirty="0"/>
              <a:t>or</a:t>
            </a:r>
            <a:r>
              <a:rPr spc="-114" dirty="0"/>
              <a:t> </a:t>
            </a:r>
            <a:r>
              <a:rPr spc="-10" dirty="0"/>
              <a:t>any</a:t>
            </a:r>
            <a:r>
              <a:rPr spc="-145" dirty="0"/>
              <a:t> </a:t>
            </a:r>
            <a:r>
              <a:rPr spc="-135" dirty="0"/>
              <a:t>user</a:t>
            </a:r>
            <a:r>
              <a:rPr spc="-114" dirty="0"/>
              <a:t> </a:t>
            </a:r>
            <a:r>
              <a:rPr spc="55" dirty="0"/>
              <a:t>an</a:t>
            </a:r>
            <a:r>
              <a:rPr spc="-135" dirty="0"/>
              <a:t> </a:t>
            </a:r>
            <a:r>
              <a:rPr spc="-45" dirty="0"/>
              <a:t>easy</a:t>
            </a:r>
            <a:r>
              <a:rPr spc="-130" dirty="0"/>
              <a:t> </a:t>
            </a:r>
            <a:r>
              <a:rPr dirty="0"/>
              <a:t>way</a:t>
            </a:r>
            <a:r>
              <a:rPr spc="-17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booking</a:t>
            </a:r>
            <a:r>
              <a:rPr spc="-110" dirty="0"/>
              <a:t> </a:t>
            </a:r>
            <a:r>
              <a:rPr spc="155" dirty="0"/>
              <a:t>a</a:t>
            </a:r>
            <a:r>
              <a:rPr spc="-155" dirty="0"/>
              <a:t> </a:t>
            </a:r>
            <a:r>
              <a:rPr spc="-10" dirty="0"/>
              <a:t>doctor’s appointment</a:t>
            </a:r>
            <a:r>
              <a:rPr spc="-114" dirty="0"/>
              <a:t> </a:t>
            </a:r>
            <a:r>
              <a:rPr spc="-60" dirty="0"/>
              <a:t>online.</a:t>
            </a:r>
            <a:r>
              <a:rPr spc="-80" dirty="0"/>
              <a:t> </a:t>
            </a:r>
            <a:r>
              <a:rPr spc="-225" dirty="0"/>
              <a:t>This</a:t>
            </a:r>
            <a:r>
              <a:rPr spc="-60" dirty="0"/>
              <a:t> </a:t>
            </a:r>
            <a:r>
              <a:rPr spc="-215" dirty="0"/>
              <a:t>is</a:t>
            </a:r>
            <a:r>
              <a:rPr spc="-80" dirty="0"/>
              <a:t> </a:t>
            </a:r>
            <a:r>
              <a:rPr spc="155" dirty="0"/>
              <a:t>a</a:t>
            </a:r>
            <a:r>
              <a:rPr spc="-105" dirty="0"/>
              <a:t> </a:t>
            </a:r>
            <a:r>
              <a:rPr spc="75" dirty="0"/>
              <a:t>web</a:t>
            </a:r>
            <a:r>
              <a:rPr spc="-95" dirty="0"/>
              <a:t> </a:t>
            </a:r>
            <a:r>
              <a:rPr dirty="0"/>
              <a:t>based</a:t>
            </a:r>
            <a:r>
              <a:rPr spc="-50" dirty="0"/>
              <a:t> </a:t>
            </a:r>
            <a:r>
              <a:rPr dirty="0"/>
              <a:t>application</a:t>
            </a:r>
            <a:r>
              <a:rPr spc="-130" dirty="0"/>
              <a:t> </a:t>
            </a:r>
            <a:r>
              <a:rPr spc="-35" dirty="0"/>
              <a:t>that</a:t>
            </a:r>
            <a:r>
              <a:rPr spc="-114" dirty="0"/>
              <a:t> </a:t>
            </a:r>
            <a:r>
              <a:rPr spc="-10" dirty="0"/>
              <a:t>overcomes </a:t>
            </a:r>
            <a:r>
              <a:rPr spc="-20" dirty="0"/>
              <a:t>the</a:t>
            </a:r>
            <a:r>
              <a:rPr spc="-135" dirty="0"/>
              <a:t> </a:t>
            </a:r>
            <a:r>
              <a:rPr spc="-145" dirty="0"/>
              <a:t>issue</a:t>
            </a:r>
            <a:r>
              <a:rPr spc="-8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managing</a:t>
            </a:r>
            <a:r>
              <a:rPr spc="-110" dirty="0"/>
              <a:t> </a:t>
            </a:r>
            <a:r>
              <a:rPr spc="75" dirty="0"/>
              <a:t>and</a:t>
            </a:r>
            <a:r>
              <a:rPr spc="-110" dirty="0"/>
              <a:t> </a:t>
            </a:r>
            <a:r>
              <a:rPr spc="-10" dirty="0"/>
              <a:t>booking</a:t>
            </a:r>
            <a:r>
              <a:rPr spc="-110" dirty="0"/>
              <a:t> </a:t>
            </a:r>
            <a:r>
              <a:rPr spc="-30" dirty="0"/>
              <a:t>appointments</a:t>
            </a:r>
            <a:r>
              <a:rPr spc="-140" dirty="0"/>
              <a:t> </a:t>
            </a:r>
            <a:r>
              <a:rPr spc="50" dirty="0"/>
              <a:t>according</a:t>
            </a:r>
            <a:r>
              <a:rPr spc="-80" dirty="0"/>
              <a:t> </a:t>
            </a:r>
            <a:r>
              <a:rPr spc="-10" dirty="0"/>
              <a:t>to</a:t>
            </a:r>
            <a:r>
              <a:rPr spc="-145" dirty="0"/>
              <a:t> </a:t>
            </a:r>
            <a:r>
              <a:rPr spc="-10" dirty="0"/>
              <a:t>user’s </a:t>
            </a:r>
            <a:r>
              <a:rPr spc="75" dirty="0"/>
              <a:t>choice</a:t>
            </a:r>
            <a:r>
              <a:rPr spc="-80" dirty="0"/>
              <a:t> </a:t>
            </a:r>
            <a:r>
              <a:rPr spc="-100" dirty="0"/>
              <a:t>or</a:t>
            </a:r>
            <a:r>
              <a:rPr spc="-105" dirty="0"/>
              <a:t> </a:t>
            </a:r>
            <a:r>
              <a:rPr spc="-10" dirty="0"/>
              <a:t>demands.</a:t>
            </a:r>
            <a:r>
              <a:rPr spc="-90" dirty="0"/>
              <a:t> </a:t>
            </a:r>
            <a:r>
              <a:rPr spc="-120" dirty="0"/>
              <a:t>The</a:t>
            </a:r>
            <a:r>
              <a:rPr spc="-80" dirty="0"/>
              <a:t> </a:t>
            </a:r>
            <a:r>
              <a:rPr spc="-110" dirty="0"/>
              <a:t>task</a:t>
            </a:r>
            <a:r>
              <a:rPr spc="-130" dirty="0"/>
              <a:t> </a:t>
            </a:r>
            <a:r>
              <a:rPr spc="-85" dirty="0"/>
              <a:t>sometimes</a:t>
            </a:r>
            <a:r>
              <a:rPr spc="-105" dirty="0"/>
              <a:t> </a:t>
            </a:r>
            <a:r>
              <a:rPr dirty="0"/>
              <a:t>becomes</a:t>
            </a:r>
            <a:r>
              <a:rPr spc="-95" dirty="0"/>
              <a:t> </a:t>
            </a:r>
            <a:r>
              <a:rPr spc="-100" dirty="0"/>
              <a:t>very</a:t>
            </a:r>
            <a:r>
              <a:rPr spc="-70" dirty="0"/>
              <a:t> </a:t>
            </a:r>
            <a:r>
              <a:rPr spc="-50" dirty="0"/>
              <a:t>tedious</a:t>
            </a:r>
            <a:r>
              <a:rPr spc="-114" dirty="0"/>
              <a:t> </a:t>
            </a:r>
            <a:r>
              <a:rPr spc="-90" dirty="0"/>
              <a:t>for</a:t>
            </a:r>
            <a:r>
              <a:rPr spc="-80" dirty="0"/>
              <a:t> </a:t>
            </a:r>
            <a:r>
              <a:rPr spc="-25" dirty="0"/>
              <a:t>the </a:t>
            </a:r>
            <a:r>
              <a:rPr dirty="0"/>
              <a:t>compounder</a:t>
            </a:r>
            <a:r>
              <a:rPr spc="-5" dirty="0"/>
              <a:t> </a:t>
            </a:r>
            <a:r>
              <a:rPr spc="-100" dirty="0"/>
              <a:t>or</a:t>
            </a:r>
            <a:r>
              <a:rPr spc="-40" dirty="0"/>
              <a:t> </a:t>
            </a:r>
            <a:r>
              <a:rPr dirty="0"/>
              <a:t>doctor</a:t>
            </a:r>
            <a:r>
              <a:rPr spc="-40" dirty="0"/>
              <a:t> </a:t>
            </a:r>
            <a:r>
              <a:rPr spc="-105" dirty="0"/>
              <a:t>himself</a:t>
            </a:r>
            <a:r>
              <a:rPr spc="-65" dirty="0"/>
              <a:t> </a:t>
            </a:r>
            <a:r>
              <a:rPr spc="-105" dirty="0"/>
              <a:t>in</a:t>
            </a:r>
            <a:r>
              <a:rPr spc="-85" dirty="0"/>
              <a:t> </a:t>
            </a:r>
            <a:r>
              <a:rPr spc="-45" dirty="0"/>
              <a:t>manually</a:t>
            </a:r>
            <a:r>
              <a:rPr spc="-55" dirty="0"/>
              <a:t> </a:t>
            </a:r>
            <a:r>
              <a:rPr spc="-50" dirty="0"/>
              <a:t>allotting</a:t>
            </a:r>
            <a:r>
              <a:rPr spc="-114" dirty="0"/>
              <a:t> </a:t>
            </a:r>
            <a:r>
              <a:rPr spc="-30" dirty="0"/>
              <a:t>appointments</a:t>
            </a:r>
            <a:r>
              <a:rPr spc="-125" dirty="0"/>
              <a:t> </a:t>
            </a:r>
            <a:r>
              <a:rPr spc="-25" dirty="0"/>
              <a:t>for </a:t>
            </a:r>
            <a:r>
              <a:rPr spc="-20" dirty="0"/>
              <a:t>the</a:t>
            </a:r>
            <a:r>
              <a:rPr spc="-145" dirty="0"/>
              <a:t> </a:t>
            </a:r>
            <a:r>
              <a:rPr spc="-155" dirty="0"/>
              <a:t>users</a:t>
            </a:r>
            <a:r>
              <a:rPr spc="-105" dirty="0"/>
              <a:t> </a:t>
            </a:r>
            <a:r>
              <a:rPr spc="-65" dirty="0"/>
              <a:t>as</a:t>
            </a:r>
            <a:r>
              <a:rPr spc="-125" dirty="0"/>
              <a:t> </a:t>
            </a:r>
            <a:r>
              <a:rPr spc="-10" dirty="0"/>
              <a:t>per</a:t>
            </a:r>
            <a:r>
              <a:rPr spc="-120" dirty="0"/>
              <a:t> </a:t>
            </a:r>
            <a:r>
              <a:rPr spc="-100" dirty="0"/>
              <a:t>their</a:t>
            </a:r>
            <a:r>
              <a:rPr spc="-140" dirty="0"/>
              <a:t> </a:t>
            </a:r>
            <a:r>
              <a:rPr spc="-60" dirty="0"/>
              <a:t>availability.</a:t>
            </a:r>
            <a:r>
              <a:rPr spc="-170" dirty="0"/>
              <a:t> </a:t>
            </a:r>
            <a:r>
              <a:rPr spc="55" dirty="0"/>
              <a:t>Hence</a:t>
            </a:r>
            <a:r>
              <a:rPr spc="-125" dirty="0"/>
              <a:t> </a:t>
            </a:r>
            <a:r>
              <a:rPr spc="-150" dirty="0"/>
              <a:t>this </a:t>
            </a:r>
            <a:r>
              <a:rPr spc="-20" dirty="0"/>
              <a:t>project</a:t>
            </a:r>
            <a:r>
              <a:rPr spc="-100" dirty="0"/>
              <a:t> </a:t>
            </a:r>
            <a:r>
              <a:rPr spc="-90" dirty="0"/>
              <a:t>offers</a:t>
            </a:r>
            <a:r>
              <a:rPr spc="-114" dirty="0"/>
              <a:t> </a:t>
            </a:r>
            <a:r>
              <a:rPr dirty="0"/>
              <a:t>an</a:t>
            </a:r>
            <a:r>
              <a:rPr spc="-105" dirty="0"/>
              <a:t> </a:t>
            </a:r>
            <a:r>
              <a:rPr spc="-10" dirty="0"/>
              <a:t>effective </a:t>
            </a:r>
            <a:r>
              <a:rPr spc="-85" dirty="0"/>
              <a:t>solution</a:t>
            </a:r>
            <a:r>
              <a:rPr spc="-100" dirty="0"/>
              <a:t> </a:t>
            </a:r>
            <a:r>
              <a:rPr spc="-20" dirty="0"/>
              <a:t>where</a:t>
            </a:r>
            <a:r>
              <a:rPr spc="-150" dirty="0"/>
              <a:t> </a:t>
            </a:r>
            <a:r>
              <a:rPr spc="-160" dirty="0"/>
              <a:t>users</a:t>
            </a:r>
            <a:r>
              <a:rPr spc="-114" dirty="0"/>
              <a:t> </a:t>
            </a:r>
            <a:r>
              <a:rPr spc="120" dirty="0"/>
              <a:t>can</a:t>
            </a:r>
            <a:r>
              <a:rPr spc="-120" dirty="0"/>
              <a:t> </a:t>
            </a:r>
            <a:r>
              <a:rPr spc="-40" dirty="0"/>
              <a:t>view</a:t>
            </a:r>
            <a:r>
              <a:rPr spc="-105" dirty="0"/>
              <a:t> </a:t>
            </a:r>
            <a:r>
              <a:rPr spc="-90" dirty="0"/>
              <a:t>various</a:t>
            </a:r>
            <a:r>
              <a:rPr spc="-105" dirty="0"/>
              <a:t> </a:t>
            </a:r>
            <a:r>
              <a:rPr dirty="0"/>
              <a:t>booking</a:t>
            </a:r>
            <a:r>
              <a:rPr spc="-105" dirty="0"/>
              <a:t> </a:t>
            </a:r>
            <a:r>
              <a:rPr spc="-150" dirty="0"/>
              <a:t>slots</a:t>
            </a:r>
            <a:r>
              <a:rPr spc="-130" dirty="0"/>
              <a:t> </a:t>
            </a:r>
            <a:r>
              <a:rPr dirty="0"/>
              <a:t>available</a:t>
            </a:r>
            <a:r>
              <a:rPr spc="-175" dirty="0"/>
              <a:t> </a:t>
            </a:r>
            <a:r>
              <a:rPr spc="50" dirty="0"/>
              <a:t>and </a:t>
            </a:r>
            <a:r>
              <a:rPr spc="-10" dirty="0"/>
              <a:t>select</a:t>
            </a:r>
            <a:r>
              <a:rPr spc="-90" dirty="0"/>
              <a:t> </a:t>
            </a:r>
            <a:r>
              <a:rPr spc="-20" dirty="0"/>
              <a:t>the</a:t>
            </a:r>
            <a:r>
              <a:rPr spc="-140" dirty="0"/>
              <a:t> </a:t>
            </a:r>
            <a:r>
              <a:rPr spc="-40" dirty="0"/>
              <a:t>preferred</a:t>
            </a:r>
            <a:r>
              <a:rPr spc="-114" dirty="0"/>
              <a:t> </a:t>
            </a:r>
            <a:r>
              <a:rPr spc="70" dirty="0"/>
              <a:t>date</a:t>
            </a:r>
            <a:r>
              <a:rPr spc="-114" dirty="0"/>
              <a:t> </a:t>
            </a:r>
            <a:r>
              <a:rPr spc="70" dirty="0"/>
              <a:t>and</a:t>
            </a:r>
            <a:r>
              <a:rPr spc="-114" dirty="0"/>
              <a:t> </a:t>
            </a:r>
            <a:r>
              <a:rPr spc="-90" dirty="0"/>
              <a:t>time.</a:t>
            </a:r>
            <a:r>
              <a:rPr spc="-160" dirty="0"/>
              <a:t> </a:t>
            </a:r>
            <a:r>
              <a:rPr spc="-120" dirty="0"/>
              <a:t>The</a:t>
            </a:r>
            <a:r>
              <a:rPr spc="-90" dirty="0"/>
              <a:t> </a:t>
            </a:r>
            <a:r>
              <a:rPr dirty="0"/>
              <a:t>already</a:t>
            </a:r>
            <a:r>
              <a:rPr spc="-125" dirty="0"/>
              <a:t> </a:t>
            </a:r>
            <a:r>
              <a:rPr dirty="0"/>
              <a:t>booked</a:t>
            </a:r>
            <a:r>
              <a:rPr spc="-65" dirty="0"/>
              <a:t> </a:t>
            </a:r>
            <a:r>
              <a:rPr spc="70" dirty="0"/>
              <a:t>space</a:t>
            </a:r>
            <a:r>
              <a:rPr spc="-114" dirty="0"/>
              <a:t> </a:t>
            </a:r>
            <a:r>
              <a:rPr spc="-110" dirty="0"/>
              <a:t>will</a:t>
            </a:r>
            <a:r>
              <a:rPr spc="-155" dirty="0"/>
              <a:t> </a:t>
            </a:r>
            <a:r>
              <a:rPr spc="80" dirty="0"/>
              <a:t>be </a:t>
            </a:r>
            <a:r>
              <a:rPr spc="-30" dirty="0"/>
              <a:t>marked</a:t>
            </a:r>
            <a:r>
              <a:rPr spc="-125" dirty="0"/>
              <a:t> </a:t>
            </a:r>
            <a:r>
              <a:rPr spc="75" dirty="0"/>
              <a:t>and</a:t>
            </a:r>
            <a:r>
              <a:rPr spc="-120" dirty="0"/>
              <a:t> </a:t>
            </a:r>
            <a:r>
              <a:rPr spc="-110" dirty="0"/>
              <a:t>will</a:t>
            </a:r>
            <a:r>
              <a:rPr spc="-160" dirty="0"/>
              <a:t> </a:t>
            </a:r>
            <a:r>
              <a:rPr spc="-25" dirty="0"/>
              <a:t>not</a:t>
            </a:r>
            <a:r>
              <a:rPr spc="-100" dirty="0"/>
              <a:t> </a:t>
            </a:r>
            <a:r>
              <a:rPr spc="105" dirty="0"/>
              <a:t>be</a:t>
            </a:r>
            <a:r>
              <a:rPr spc="-120" dirty="0"/>
              <a:t> </a:t>
            </a:r>
            <a:r>
              <a:rPr dirty="0"/>
              <a:t>available</a:t>
            </a:r>
            <a:r>
              <a:rPr spc="-170" dirty="0"/>
              <a:t> </a:t>
            </a:r>
            <a:r>
              <a:rPr spc="-95" dirty="0"/>
              <a:t>for </a:t>
            </a:r>
            <a:r>
              <a:rPr dirty="0"/>
              <a:t>anyone</a:t>
            </a:r>
            <a:r>
              <a:rPr spc="-95" dirty="0"/>
              <a:t> </a:t>
            </a:r>
            <a:r>
              <a:rPr spc="-65" dirty="0"/>
              <a:t>else</a:t>
            </a:r>
            <a:r>
              <a:rPr spc="-100" dirty="0"/>
              <a:t> </a:t>
            </a:r>
            <a:r>
              <a:rPr spc="-90" dirty="0"/>
              <a:t>for</a:t>
            </a:r>
            <a:r>
              <a:rPr spc="-120" dirty="0"/>
              <a:t> </a:t>
            </a:r>
            <a:r>
              <a:rPr spc="-20" dirty="0"/>
              <a:t>the</a:t>
            </a:r>
            <a:r>
              <a:rPr spc="-140" dirty="0"/>
              <a:t> </a:t>
            </a:r>
            <a:r>
              <a:rPr spc="-10" dirty="0"/>
              <a:t>specified </a:t>
            </a:r>
            <a:r>
              <a:rPr spc="-90" dirty="0"/>
              <a:t>time.</a:t>
            </a:r>
            <a:r>
              <a:rPr spc="-160" dirty="0"/>
              <a:t> </a:t>
            </a:r>
            <a:r>
              <a:rPr spc="-220" dirty="0"/>
              <a:t>This</a:t>
            </a:r>
            <a:r>
              <a:rPr spc="-145" dirty="0"/>
              <a:t> </a:t>
            </a:r>
            <a:r>
              <a:rPr spc="-135" dirty="0"/>
              <a:t>system</a:t>
            </a:r>
            <a:r>
              <a:rPr spc="-114" dirty="0"/>
              <a:t> </a:t>
            </a:r>
            <a:r>
              <a:rPr spc="-50" dirty="0"/>
              <a:t>also</a:t>
            </a:r>
            <a:r>
              <a:rPr spc="-155" dirty="0"/>
              <a:t> </a:t>
            </a:r>
            <a:r>
              <a:rPr spc="-55" dirty="0"/>
              <a:t>allows</a:t>
            </a:r>
            <a:r>
              <a:rPr spc="-145" dirty="0"/>
              <a:t> </a:t>
            </a:r>
            <a:r>
              <a:rPr spc="-155" dirty="0"/>
              <a:t>users</a:t>
            </a:r>
            <a:r>
              <a:rPr spc="-120" dirty="0"/>
              <a:t> </a:t>
            </a:r>
            <a:r>
              <a:rPr spc="-10" dirty="0"/>
              <a:t>to</a:t>
            </a:r>
            <a:r>
              <a:rPr spc="-170" dirty="0"/>
              <a:t> </a:t>
            </a:r>
            <a:r>
              <a:rPr spc="90" dirty="0"/>
              <a:t>cancel</a:t>
            </a:r>
            <a:r>
              <a:rPr spc="-125" dirty="0"/>
              <a:t> </a:t>
            </a:r>
            <a:r>
              <a:rPr spc="-100" dirty="0"/>
              <a:t>their</a:t>
            </a:r>
            <a:r>
              <a:rPr spc="-160" dirty="0"/>
              <a:t> </a:t>
            </a:r>
            <a:r>
              <a:rPr dirty="0"/>
              <a:t>booking</a:t>
            </a:r>
            <a:r>
              <a:rPr spc="-114" dirty="0"/>
              <a:t> </a:t>
            </a:r>
            <a:r>
              <a:rPr spc="-60" dirty="0"/>
              <a:t>anytime.</a:t>
            </a:r>
            <a:r>
              <a:rPr spc="-135" dirty="0"/>
              <a:t> </a:t>
            </a:r>
            <a:r>
              <a:rPr spc="-25" dirty="0"/>
              <a:t>The </a:t>
            </a:r>
            <a:r>
              <a:rPr dirty="0"/>
              <a:t>application</a:t>
            </a:r>
            <a:r>
              <a:rPr spc="-145" dirty="0"/>
              <a:t> </a:t>
            </a:r>
            <a:r>
              <a:rPr spc="-135" dirty="0"/>
              <a:t>uses</a:t>
            </a:r>
            <a:r>
              <a:rPr spc="-85" dirty="0"/>
              <a:t> </a:t>
            </a:r>
            <a:r>
              <a:rPr spc="-160" dirty="0"/>
              <a:t>HTML,</a:t>
            </a:r>
            <a:r>
              <a:rPr spc="-100" dirty="0"/>
              <a:t> </a:t>
            </a:r>
            <a:r>
              <a:rPr spc="-200" dirty="0"/>
              <a:t>CSS,</a:t>
            </a:r>
            <a:r>
              <a:rPr spc="-50" dirty="0"/>
              <a:t> </a:t>
            </a:r>
            <a:r>
              <a:rPr dirty="0"/>
              <a:t>Java,</a:t>
            </a:r>
            <a:r>
              <a:rPr spc="-100" dirty="0"/>
              <a:t> </a:t>
            </a:r>
            <a:r>
              <a:rPr spc="-35" dirty="0"/>
              <a:t>JavaScript</a:t>
            </a:r>
            <a:r>
              <a:rPr spc="-105" dirty="0"/>
              <a:t> </a:t>
            </a:r>
            <a:r>
              <a:rPr spc="-60" dirty="0"/>
              <a:t>as</a:t>
            </a:r>
            <a:r>
              <a:rPr spc="-100" dirty="0"/>
              <a:t> </a:t>
            </a:r>
            <a:r>
              <a:rPr spc="155" dirty="0"/>
              <a:t>a</a:t>
            </a:r>
            <a:r>
              <a:rPr spc="-100" dirty="0"/>
              <a:t> </a:t>
            </a:r>
            <a:r>
              <a:rPr spc="-105" dirty="0"/>
              <a:t>front-</a:t>
            </a:r>
            <a:r>
              <a:rPr spc="55" dirty="0"/>
              <a:t>end</a:t>
            </a:r>
            <a:r>
              <a:rPr spc="-95" dirty="0"/>
              <a:t> </a:t>
            </a:r>
            <a:r>
              <a:rPr spc="75" dirty="0"/>
              <a:t>and</a:t>
            </a:r>
            <a:r>
              <a:rPr spc="-95" dirty="0"/>
              <a:t> </a:t>
            </a:r>
            <a:r>
              <a:rPr spc="-25" dirty="0"/>
              <a:t>SQL </a:t>
            </a:r>
            <a:r>
              <a:rPr spc="50" dirty="0"/>
              <a:t>database</a:t>
            </a:r>
            <a:r>
              <a:rPr spc="-125" dirty="0"/>
              <a:t> </a:t>
            </a:r>
            <a:r>
              <a:rPr spc="-60" dirty="0"/>
              <a:t>as</a:t>
            </a:r>
            <a:r>
              <a:rPr spc="-100" dirty="0"/>
              <a:t> </a:t>
            </a:r>
            <a:r>
              <a:rPr spc="-25" dirty="0"/>
              <a:t>the</a:t>
            </a:r>
            <a:r>
              <a:rPr spc="-120" dirty="0"/>
              <a:t> </a:t>
            </a:r>
            <a:r>
              <a:rPr dirty="0"/>
              <a:t>back-</a:t>
            </a:r>
            <a:r>
              <a:rPr spc="-20" dirty="0"/>
              <a:t>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2691" rIns="0" bIns="0" rtlCol="0">
            <a:spAutoFit/>
          </a:bodyPr>
          <a:lstStyle/>
          <a:p>
            <a:pPr marL="1141095">
              <a:lnSpc>
                <a:spcPct val="100000"/>
              </a:lnSpc>
              <a:spcBef>
                <a:spcPts val="110"/>
              </a:spcBef>
            </a:pPr>
            <a:r>
              <a:rPr spc="-340" dirty="0"/>
              <a:t>CONCLUSION</a:t>
            </a:r>
            <a:r>
              <a:rPr spc="15" dirty="0"/>
              <a:t> </a:t>
            </a:r>
            <a:r>
              <a:rPr spc="-290" dirty="0"/>
              <a:t>AND</a:t>
            </a:r>
            <a:r>
              <a:rPr dirty="0"/>
              <a:t> </a:t>
            </a:r>
            <a:r>
              <a:rPr spc="-31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8651" y="1895982"/>
            <a:ext cx="8659495" cy="37176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865755" algn="l"/>
                <a:tab pos="4960620" algn="l"/>
                <a:tab pos="6789420" algn="l"/>
              </a:tabLst>
            </a:pP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2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per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Verdana"/>
                <a:cs typeface="Verdana"/>
              </a:rPr>
              <a:t>requirements</a:t>
            </a:r>
            <a:r>
              <a:rPr sz="20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Verdana"/>
                <a:cs typeface="Verdana"/>
              </a:rPr>
              <a:t>DBMS </a:t>
            </a:r>
            <a:r>
              <a:rPr sz="2000" spc="-25" dirty="0">
                <a:solidFill>
                  <a:srgbClr val="404040"/>
                </a:solidFill>
                <a:latin typeface="Verdana"/>
                <a:cs typeface="Verdana"/>
              </a:rPr>
              <a:t>course</a:t>
            </a:r>
            <a:r>
              <a:rPr sz="2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lang="en-IN" sz="2000" spc="-20" dirty="0">
                <a:solidFill>
                  <a:srgbClr val="404040"/>
                </a:solidFill>
                <a:latin typeface="Verdana"/>
                <a:cs typeface="Verdana"/>
              </a:rPr>
              <a:t> I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finished </a:t>
            </a:r>
            <a:r>
              <a:rPr sz="2000" spc="-40" dirty="0">
                <a:solidFill>
                  <a:srgbClr val="404040"/>
                </a:solidFill>
                <a:latin typeface="Verdana"/>
                <a:cs typeface="Verdana"/>
              </a:rPr>
              <a:t>building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Verdana"/>
                <a:cs typeface="Verdana"/>
              </a:rPr>
              <a:t>high-</a:t>
            </a:r>
            <a:r>
              <a:rPr sz="2000" spc="55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r>
              <a:rPr sz="2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Verdana"/>
                <a:cs typeface="Verdana"/>
              </a:rPr>
              <a:t>web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application</a:t>
            </a:r>
            <a:r>
              <a:rPr sz="2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Verdana"/>
                <a:cs typeface="Verdana"/>
              </a:rPr>
              <a:t>online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2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appointment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booking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Verdana"/>
                <a:cs typeface="Verdana"/>
              </a:rPr>
              <a:t>system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Verdana"/>
                <a:cs typeface="Verdana"/>
              </a:rPr>
              <a:t>working</a:t>
            </a:r>
            <a:r>
              <a:rPr sz="2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Verdana"/>
                <a:cs typeface="Verdana"/>
              </a:rPr>
              <a:t>web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application</a:t>
            </a:r>
            <a:r>
              <a:rPr sz="20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Verdana"/>
                <a:cs typeface="Verdana"/>
              </a:rPr>
              <a:t>be </a:t>
            </a:r>
            <a:r>
              <a:rPr sz="2000" spc="-25" dirty="0">
                <a:solidFill>
                  <a:srgbClr val="404040"/>
                </a:solidFill>
                <a:latin typeface="Verdana"/>
                <a:cs typeface="Verdana"/>
              </a:rPr>
              <a:t>used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hospitals,</a:t>
            </a:r>
            <a:r>
              <a:rPr sz="20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Verdana"/>
                <a:cs typeface="Verdana"/>
              </a:rPr>
              <a:t>doctors,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Verdana"/>
                <a:cs typeface="Verdana"/>
              </a:rPr>
              <a:t>patients</a:t>
            </a:r>
            <a:r>
              <a:rPr sz="20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common</a:t>
            </a:r>
            <a:r>
              <a:rPr sz="2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Verdana"/>
                <a:cs typeface="Verdana"/>
              </a:rPr>
              <a:t>people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their </a:t>
            </a:r>
            <a:r>
              <a:rPr sz="2000" spc="-40" dirty="0">
                <a:solidFill>
                  <a:srgbClr val="404040"/>
                </a:solidFill>
                <a:latin typeface="Verdana"/>
                <a:cs typeface="Verdana"/>
              </a:rPr>
              <a:t>benefit.</a:t>
            </a:r>
            <a:r>
              <a:rPr sz="2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endParaRPr lang="en-IN" sz="2000" spc="-145" dirty="0">
              <a:solidFill>
                <a:srgbClr val="404040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865755" algn="l"/>
                <a:tab pos="4960620" algn="l"/>
                <a:tab pos="6789420" algn="l"/>
              </a:tabLst>
            </a:pPr>
            <a:r>
              <a:rPr lang="en-IN" sz="200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Verdana"/>
                <a:cs typeface="Verdana"/>
              </a:rPr>
              <a:t>developed</a:t>
            </a:r>
            <a:r>
              <a:rPr sz="2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interface</a:t>
            </a:r>
            <a:r>
              <a:rPr sz="2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where</a:t>
            </a:r>
            <a:r>
              <a:rPr sz="2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doctors</a:t>
            </a:r>
            <a:r>
              <a:rPr sz="20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patients </a:t>
            </a:r>
            <a:r>
              <a:rPr sz="2000" spc="-10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Verdana"/>
                <a:cs typeface="Verdana"/>
              </a:rPr>
              <a:t>need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doctor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Verdana"/>
                <a:cs typeface="Verdana"/>
              </a:rPr>
              <a:t>connect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20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Verdana"/>
                <a:cs typeface="Verdana"/>
              </a:rPr>
              <a:t>other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book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their appointment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beforehand</a:t>
            </a:r>
            <a:r>
              <a:rPr sz="2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Verdana"/>
                <a:cs typeface="Verdana"/>
              </a:rPr>
              <a:t>without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visiting</a:t>
            </a:r>
            <a:r>
              <a:rPr sz="20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Verdana"/>
                <a:cs typeface="Verdana"/>
              </a:rPr>
              <a:t>hospital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20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clinic </a:t>
            </a:r>
            <a:r>
              <a:rPr sz="2000" spc="-70" dirty="0">
                <a:solidFill>
                  <a:srgbClr val="404040"/>
                </a:solidFill>
                <a:latin typeface="Verdana"/>
                <a:cs typeface="Verdana"/>
              </a:rPr>
              <a:t>physically.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endParaRPr lang="en-IN" sz="2000" spc="-120" dirty="0">
              <a:solidFill>
                <a:srgbClr val="404040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865755" algn="l"/>
                <a:tab pos="4960620" algn="l"/>
                <a:tab pos="6789420" algn="l"/>
              </a:tabLst>
            </a:pP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lang="en-IN" sz="2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contains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admin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Verdana"/>
                <a:cs typeface="Verdana"/>
              </a:rPr>
              <a:t>user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sides.</a:t>
            </a:r>
            <a:r>
              <a:rPr sz="2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admin </a:t>
            </a:r>
            <a:r>
              <a:rPr sz="2000" spc="-55" dirty="0">
                <a:solidFill>
                  <a:srgbClr val="404040"/>
                </a:solidFill>
                <a:latin typeface="Verdana"/>
                <a:cs typeface="Verdana"/>
              </a:rPr>
              <a:t>side</a:t>
            </a:r>
            <a:r>
              <a:rPr sz="20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manages</a:t>
            </a:r>
            <a:r>
              <a:rPr sz="2000" spc="-55" dirty="0">
                <a:solidFill>
                  <a:srgbClr val="404040"/>
                </a:solidFill>
                <a:latin typeface="Verdana"/>
                <a:cs typeface="Verdana"/>
              </a:rPr>
              <a:t> all</a:t>
            </a:r>
            <a:r>
              <a:rPr sz="20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management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like</a:t>
            </a:r>
            <a:r>
              <a:rPr lang="en-IN" sz="2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managing</a:t>
            </a:r>
            <a:r>
              <a:rPr sz="2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Verdana"/>
                <a:cs typeface="Verdana"/>
              </a:rPr>
              <a:t>schedules,</a:t>
            </a:r>
            <a:r>
              <a:rPr sz="2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patient </a:t>
            </a:r>
            <a:r>
              <a:rPr sz="2000" spc="-35" dirty="0">
                <a:solidFill>
                  <a:srgbClr val="404040"/>
                </a:solidFill>
                <a:latin typeface="Verdana"/>
                <a:cs typeface="Verdana"/>
              </a:rPr>
              <a:t>records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Verdana"/>
                <a:cs typeface="Verdana"/>
              </a:rPr>
              <a:t>manage</a:t>
            </a:r>
            <a:r>
              <a:rPr sz="2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appointment</a:t>
            </a:r>
            <a:r>
              <a:rPr sz="20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time,</a:t>
            </a:r>
            <a:r>
              <a:rPr sz="2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Verdana"/>
                <a:cs typeface="Verdana"/>
              </a:rPr>
              <a:t>manage</a:t>
            </a:r>
            <a:r>
              <a:rPr sz="20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Verdana"/>
                <a:cs typeface="Verdana"/>
              </a:rPr>
              <a:t>treatment </a:t>
            </a:r>
            <a:r>
              <a:rPr sz="2000" spc="-75" dirty="0">
                <a:solidFill>
                  <a:srgbClr val="404040"/>
                </a:solidFill>
                <a:latin typeface="Verdana"/>
                <a:cs typeface="Verdana"/>
              </a:rPr>
              <a:t>facilities,</a:t>
            </a:r>
            <a:r>
              <a:rPr sz="20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Verdana"/>
                <a:cs typeface="Verdana"/>
              </a:rPr>
              <a:t>so</a:t>
            </a:r>
            <a:r>
              <a:rPr sz="2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Verdana"/>
                <a:cs typeface="Verdana"/>
              </a:rPr>
              <a:t>on.</a:t>
            </a:r>
            <a:r>
              <a:rPr sz="2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3231"/>
            <a:ext cx="1592580" cy="509270"/>
          </a:xfrm>
          <a:custGeom>
            <a:avLst/>
            <a:gdLst/>
            <a:ahLst/>
            <a:cxnLst/>
            <a:rect l="l" t="t" r="r" b="b"/>
            <a:pathLst>
              <a:path w="1592580" h="509269">
                <a:moveTo>
                  <a:pt x="1244" y="0"/>
                </a:moveTo>
                <a:lnTo>
                  <a:pt x="0" y="151648"/>
                </a:lnTo>
                <a:lnTo>
                  <a:pt x="0" y="505468"/>
                </a:lnTo>
                <a:lnTo>
                  <a:pt x="1246174" y="509015"/>
                </a:lnTo>
                <a:lnTo>
                  <a:pt x="1346454" y="509015"/>
                </a:lnTo>
                <a:lnTo>
                  <a:pt x="1352677" y="502538"/>
                </a:lnTo>
                <a:lnTo>
                  <a:pt x="1354582" y="501014"/>
                </a:lnTo>
                <a:lnTo>
                  <a:pt x="1584960" y="269747"/>
                </a:lnTo>
                <a:lnTo>
                  <a:pt x="1590246" y="262530"/>
                </a:lnTo>
                <a:lnTo>
                  <a:pt x="1592008" y="255349"/>
                </a:lnTo>
                <a:lnTo>
                  <a:pt x="1590246" y="248191"/>
                </a:lnTo>
                <a:lnTo>
                  <a:pt x="1584960" y="241045"/>
                </a:lnTo>
                <a:lnTo>
                  <a:pt x="1356106" y="11302"/>
                </a:lnTo>
                <a:lnTo>
                  <a:pt x="1351026" y="11302"/>
                </a:lnTo>
                <a:lnTo>
                  <a:pt x="1351026" y="6476"/>
                </a:lnTo>
                <a:lnTo>
                  <a:pt x="1346454" y="6476"/>
                </a:lnTo>
                <a:lnTo>
                  <a:pt x="1341628" y="1777"/>
                </a:lnTo>
                <a:lnTo>
                  <a:pt x="1244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6471" y="2359558"/>
            <a:ext cx="4011295" cy="28251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0535"/>
              </a:lnSpc>
              <a:spcBef>
                <a:spcPts val="110"/>
              </a:spcBef>
            </a:pPr>
            <a:r>
              <a:rPr sz="8800" spc="575" dirty="0">
                <a:latin typeface="Cambria"/>
                <a:cs typeface="Cambria"/>
              </a:rPr>
              <a:t>THANK</a:t>
            </a:r>
            <a:endParaRPr sz="8800">
              <a:latin typeface="Cambria"/>
              <a:cs typeface="Cambria"/>
            </a:endParaRPr>
          </a:p>
          <a:p>
            <a:pPr marL="103505">
              <a:lnSpc>
                <a:spcPts val="11495"/>
              </a:lnSpc>
            </a:pPr>
            <a:r>
              <a:rPr sz="9600" spc="600" dirty="0">
                <a:latin typeface="Cambria"/>
                <a:cs typeface="Cambria"/>
              </a:rPr>
              <a:t>YOU!!!</a:t>
            </a:r>
            <a:endParaRPr sz="9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1304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 MT</vt:lpstr>
      <vt:lpstr>Cambria</vt:lpstr>
      <vt:lpstr>Microsoft Sans Serif</vt:lpstr>
      <vt:lpstr>Tahoma</vt:lpstr>
      <vt:lpstr>Times New Roman</vt:lpstr>
      <vt:lpstr>Verdana</vt:lpstr>
      <vt:lpstr>Office Theme</vt:lpstr>
      <vt:lpstr>PowerPoint Presentation</vt:lpstr>
      <vt:lpstr>TABLE OF CONTENTS</vt:lpstr>
      <vt:lpstr>PROJECT INFO</vt:lpstr>
      <vt:lpstr>PROBLEM STATEMENT</vt:lpstr>
      <vt:lpstr>INTRODUCTION</vt:lpstr>
      <vt:lpstr>SOFTWARE’S USED AND THEIR PURPOSE</vt:lpstr>
      <vt:lpstr>DESIGN PICTURES</vt:lpstr>
      <vt:lpstr>DESIGN PICTURES</vt:lpstr>
      <vt:lpstr>ER DIAGRAM</vt:lpstr>
      <vt:lpstr>FEATURES OF PROJECT</vt:lpstr>
      <vt:lpstr>PROJECT VIDEO</vt:lpstr>
      <vt:lpstr>RESOURCES USED</vt:lpstr>
      <vt:lpstr>REPORT</vt:lpstr>
      <vt:lpstr>CONCLUSION AND SUMMARY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bhupesh borkar</cp:lastModifiedBy>
  <cp:revision>7</cp:revision>
  <dcterms:created xsi:type="dcterms:W3CDTF">2025-12-23T08:30:01Z</dcterms:created>
  <dcterms:modified xsi:type="dcterms:W3CDTF">2025-12-23T08:47:12Z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2025-12-23T00:00:00Z</vt:filetime>
  </property>
  <property fmtid="{D5CDD505-2E9C-101B-9397-08002B2CF9AE}" pid="5" name="Producer">
    <vt:lpwstr>www.ilovepdf.com</vt:lpwstr>
  </property>
</Properties>
</file>