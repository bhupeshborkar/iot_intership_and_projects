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57" r:id="rId4"/>
    <p:sldId id="269" r:id="rId5"/>
    <p:sldId id="258" r:id="rId6"/>
    <p:sldId id="259" r:id="rId7"/>
    <p:sldId id="260" r:id="rId8"/>
    <p:sldId id="261" r:id="rId9"/>
    <p:sldId id="262" r:id="rId10"/>
    <p:sldId id="263" r:id="rId11"/>
    <p:sldId id="265" r:id="rId12"/>
    <p:sldId id="266" r:id="rId13"/>
    <p:sldId id="267" r:id="rId14"/>
    <p:sldId id="268"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5" d="100"/>
          <a:sy n="85" d="100"/>
        </p:scale>
        <p:origin x="59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2014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12098568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3523201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15384B5-5EC6-4377-918F-19F31DBDD35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3159915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15384B5-5EC6-4377-918F-19F31DBDD355}" type="datetimeFigureOut">
              <a:rPr lang="en-IN" smtClean="0"/>
              <a:t>23-12-2025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3907677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15384B5-5EC6-4377-918F-19F31DBDD355}" type="datetimeFigureOut">
              <a:rPr lang="en-IN" smtClean="0"/>
              <a:t>23-12-2025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37599710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15384B5-5EC6-4377-918F-19F31DBDD355}" type="datetimeFigureOut">
              <a:rPr lang="en-IN" smtClean="0"/>
              <a:t>23-12-2025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24971497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5384B5-5EC6-4377-918F-19F31DBDD35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32594670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5384B5-5EC6-4377-918F-19F31DBDD355}" type="datetimeFigureOut">
              <a:rPr lang="en-IN" smtClean="0"/>
              <a:t>23-12-2025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18840748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515384B5-5EC6-4377-918F-19F31DBDD355}" type="datetimeFigureOut">
              <a:rPr lang="en-IN" smtClean="0"/>
              <a:t>23-12-2025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5407262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13716925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6385830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26404025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5321038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8381886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403735406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5384B5-5EC6-4377-918F-19F31DBDD355}" type="datetimeFigureOut">
              <a:rPr lang="en-IN" smtClean="0"/>
              <a:t>23-12-2025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08C51BB-78D6-45A6-BC3F-CA4A88C45E10}" type="slidenum">
              <a:rPr lang="en-IN" smtClean="0"/>
              <a:t>‹#›</a:t>
            </a:fld>
            <a:endParaRPr lang="en-IN"/>
          </a:p>
        </p:txBody>
      </p:sp>
    </p:spTree>
    <p:extLst>
      <p:ext uri="{BB962C8B-B14F-4D97-AF65-F5344CB8AC3E}">
        <p14:creationId xmlns:p14="http://schemas.microsoft.com/office/powerpoint/2010/main" val="28447250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515384B5-5EC6-4377-918F-19F31DBDD355}" type="datetimeFigureOut">
              <a:rPr lang="en-IN" smtClean="0"/>
              <a:t>23-12-2025</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B08C51BB-78D6-45A6-BC3F-CA4A88C45E10}" type="slidenum">
              <a:rPr lang="en-IN" smtClean="0"/>
              <a:t>‹#›</a:t>
            </a:fld>
            <a:endParaRPr lang="en-IN"/>
          </a:p>
        </p:txBody>
      </p:sp>
    </p:spTree>
    <p:extLst>
      <p:ext uri="{BB962C8B-B14F-4D97-AF65-F5344CB8AC3E}">
        <p14:creationId xmlns:p14="http://schemas.microsoft.com/office/powerpoint/2010/main" val="1939009468"/>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hyperlink" Target="https://en.wikipedia.org/wiki/Operating_system" TargetMode="Externa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hyperlink" Target="https://privacybadger.org/"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www.eff.org/https-everywhere" TargetMode="External"/><Relationship Id="rId2" Type="http://schemas.openxmlformats.org/officeDocument/2006/relationships/hyperlink" Target="https://addons.mozilla.org/en-US/firefox/addon/multi-account-containers/"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B12E7-0734-4AFE-B25C-05C407DEF3CF}"/>
              </a:ext>
            </a:extLst>
          </p:cNvPr>
          <p:cNvSpPr>
            <a:spLocks noGrp="1"/>
          </p:cNvSpPr>
          <p:nvPr>
            <p:ph type="ctrTitle"/>
          </p:nvPr>
        </p:nvSpPr>
        <p:spPr/>
        <p:txBody>
          <a:bodyPr>
            <a:normAutofit/>
          </a:bodyPr>
          <a:lstStyle/>
          <a:p>
            <a:r>
              <a:rPr lang="en-IN" sz="7200" b="1" dirty="0">
                <a:latin typeface="Footlight MT Light" panose="0204060206030A020304" pitchFamily="18" charset="0"/>
              </a:rPr>
              <a:t>CYBER SECURITY</a:t>
            </a:r>
          </a:p>
        </p:txBody>
      </p:sp>
      <p:sp>
        <p:nvSpPr>
          <p:cNvPr id="3" name="Subtitle 2">
            <a:extLst>
              <a:ext uri="{FF2B5EF4-FFF2-40B4-BE49-F238E27FC236}">
                <a16:creationId xmlns:a16="http://schemas.microsoft.com/office/drawing/2014/main" id="{6F1B95F2-E018-4DE4-9625-0B4265B6FA7B}"/>
              </a:ext>
            </a:extLst>
          </p:cNvPr>
          <p:cNvSpPr>
            <a:spLocks noGrp="1"/>
          </p:cNvSpPr>
          <p:nvPr>
            <p:ph type="subTitle" idx="1"/>
          </p:nvPr>
        </p:nvSpPr>
        <p:spPr>
          <a:xfrm>
            <a:off x="1524000" y="3845858"/>
            <a:ext cx="9144000" cy="1694330"/>
          </a:xfrm>
        </p:spPr>
        <p:txBody>
          <a:bodyPr>
            <a:normAutofit/>
          </a:bodyPr>
          <a:lstStyle/>
          <a:p>
            <a:r>
              <a:rPr lang="en-IN" sz="2800" dirty="0"/>
              <a:t>REG. NO.  :   2019BCS091</a:t>
            </a:r>
          </a:p>
          <a:p>
            <a:r>
              <a:rPr lang="en-IN" sz="2800" dirty="0"/>
              <a:t>NAME        :   BHUPESH BORKAR 	</a:t>
            </a:r>
          </a:p>
        </p:txBody>
      </p:sp>
    </p:spTree>
    <p:extLst>
      <p:ext uri="{BB962C8B-B14F-4D97-AF65-F5344CB8AC3E}">
        <p14:creationId xmlns:p14="http://schemas.microsoft.com/office/powerpoint/2010/main" val="42181464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CA3886-24CA-4855-942B-FA483F501DEB}"/>
              </a:ext>
            </a:extLst>
          </p:cNvPr>
          <p:cNvSpPr txBox="1"/>
          <p:nvPr/>
        </p:nvSpPr>
        <p:spPr>
          <a:xfrm>
            <a:off x="654423" y="385482"/>
            <a:ext cx="10488706" cy="584775"/>
          </a:xfrm>
          <a:prstGeom prst="rect">
            <a:avLst/>
          </a:prstGeom>
          <a:noFill/>
        </p:spPr>
        <p:txBody>
          <a:bodyPr wrap="square" rtlCol="0">
            <a:spAutoFit/>
          </a:bodyPr>
          <a:lstStyle/>
          <a:p>
            <a:pPr algn="ctr"/>
            <a:r>
              <a:rPr lang="en-IN" sz="3200" b="1" dirty="0"/>
              <a:t>INDEX</a:t>
            </a:r>
            <a:endParaRPr lang="en-IN" b="1" dirty="0"/>
          </a:p>
        </p:txBody>
      </p:sp>
      <p:sp>
        <p:nvSpPr>
          <p:cNvPr id="3" name="TextBox 2">
            <a:extLst>
              <a:ext uri="{FF2B5EF4-FFF2-40B4-BE49-F238E27FC236}">
                <a16:creationId xmlns:a16="http://schemas.microsoft.com/office/drawing/2014/main" id="{29403F6C-0F88-48CF-B432-29DFE896A64D}"/>
              </a:ext>
            </a:extLst>
          </p:cNvPr>
          <p:cNvSpPr txBox="1"/>
          <p:nvPr/>
        </p:nvSpPr>
        <p:spPr>
          <a:xfrm>
            <a:off x="242048" y="1246094"/>
            <a:ext cx="10999694" cy="369332"/>
          </a:xfrm>
          <a:prstGeom prst="rect">
            <a:avLst/>
          </a:prstGeom>
          <a:noFill/>
        </p:spPr>
        <p:txBody>
          <a:bodyPr wrap="square" rtlCol="0">
            <a:spAutoFit/>
          </a:bodyPr>
          <a:lstStyle/>
          <a:p>
            <a:r>
              <a:rPr lang="en-IN" b="1" dirty="0"/>
              <a:t>  SR. NO.	</a:t>
            </a:r>
            <a:r>
              <a:rPr lang="en-IN" dirty="0"/>
              <a:t>							      </a:t>
            </a:r>
            <a:r>
              <a:rPr lang="en-IN" b="1" dirty="0"/>
              <a:t>TITLE</a:t>
            </a:r>
            <a:r>
              <a:rPr lang="en-IN" dirty="0"/>
              <a:t>									</a:t>
            </a:r>
            <a:r>
              <a:rPr lang="en-IN" b="1" dirty="0"/>
              <a:t>PAGE  NO.</a:t>
            </a:r>
          </a:p>
        </p:txBody>
      </p:sp>
      <p:sp>
        <p:nvSpPr>
          <p:cNvPr id="4" name="TextBox 3">
            <a:extLst>
              <a:ext uri="{FF2B5EF4-FFF2-40B4-BE49-F238E27FC236}">
                <a16:creationId xmlns:a16="http://schemas.microsoft.com/office/drawing/2014/main" id="{8E1A3E28-B539-4E24-9F52-3BE9D9F72C25}"/>
              </a:ext>
            </a:extLst>
          </p:cNvPr>
          <p:cNvSpPr txBox="1"/>
          <p:nvPr/>
        </p:nvSpPr>
        <p:spPr>
          <a:xfrm>
            <a:off x="537882" y="1615426"/>
            <a:ext cx="11241742" cy="3139321"/>
          </a:xfrm>
          <a:prstGeom prst="rect">
            <a:avLst/>
          </a:prstGeom>
          <a:noFill/>
        </p:spPr>
        <p:txBody>
          <a:bodyPr wrap="square" rtlCol="0">
            <a:spAutoFit/>
          </a:bodyPr>
          <a:lstStyle/>
          <a:p>
            <a:r>
              <a:rPr lang="en-IN" dirty="0"/>
              <a:t>  1. BROWSER  SAFETY															3</a:t>
            </a:r>
          </a:p>
          <a:p>
            <a:r>
              <a:rPr lang="en-IN" dirty="0"/>
              <a:t>  2. DIFFERENT WAYS A BROWSER CAN BE BREACHED								4</a:t>
            </a:r>
          </a:p>
          <a:p>
            <a:r>
              <a:rPr lang="en-IN" dirty="0"/>
              <a:t>  3. DIFFERENT WAYS TO PROTECT OUR BROWSER									5</a:t>
            </a:r>
          </a:p>
          <a:p>
            <a:r>
              <a:rPr lang="en-IN" dirty="0"/>
              <a:t>  4. BROWSER HARDENING														5</a:t>
            </a:r>
          </a:p>
          <a:p>
            <a:r>
              <a:rPr lang="en-IN" dirty="0"/>
              <a:t>  5. ANTI VIRUS PROTECTION 														6</a:t>
            </a:r>
          </a:p>
          <a:p>
            <a:r>
              <a:rPr lang="en-IN" dirty="0"/>
              <a:t>  6. SECURITY PLUG-INS															7</a:t>
            </a:r>
          </a:p>
          <a:p>
            <a:r>
              <a:rPr lang="en-IN" dirty="0"/>
              <a:t>  7. ANTI-EXPLIOT PROGRAM													       9				</a:t>
            </a:r>
          </a:p>
          <a:p>
            <a:r>
              <a:rPr lang="en-IN" dirty="0"/>
              <a:t>  8. SECURITY EXTENSIONS TO PROTECT OUR BROWSER PRIVACY						10</a:t>
            </a:r>
          </a:p>
          <a:p>
            <a:r>
              <a:rPr lang="en-IN" dirty="0"/>
              <a:t>  9. CONCLUSION																12</a:t>
            </a:r>
          </a:p>
          <a:p>
            <a:endParaRPr lang="en-IN" dirty="0"/>
          </a:p>
          <a:p>
            <a:endParaRPr lang="en-IN" dirty="0"/>
          </a:p>
        </p:txBody>
      </p:sp>
    </p:spTree>
    <p:extLst>
      <p:ext uri="{BB962C8B-B14F-4D97-AF65-F5344CB8AC3E}">
        <p14:creationId xmlns:p14="http://schemas.microsoft.com/office/powerpoint/2010/main" val="21599619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03DB9-7F92-4E87-A98C-C9CEF9B704DC}"/>
              </a:ext>
            </a:extLst>
          </p:cNvPr>
          <p:cNvSpPr>
            <a:spLocks noGrp="1"/>
          </p:cNvSpPr>
          <p:nvPr>
            <p:ph type="title"/>
          </p:nvPr>
        </p:nvSpPr>
        <p:spPr>
          <a:xfrm>
            <a:off x="1589648" y="259977"/>
            <a:ext cx="8534400" cy="767976"/>
          </a:xfrm>
        </p:spPr>
        <p:txBody>
          <a:bodyPr>
            <a:normAutofit/>
          </a:bodyPr>
          <a:lstStyle/>
          <a:p>
            <a:pPr algn="ctr"/>
            <a:r>
              <a:rPr lang="en-IN" sz="4000" b="1" dirty="0"/>
              <a:t>BROWSER  SAFETY </a:t>
            </a:r>
          </a:p>
        </p:txBody>
      </p:sp>
      <p:sp>
        <p:nvSpPr>
          <p:cNvPr id="3" name="TextBox 2">
            <a:extLst>
              <a:ext uri="{FF2B5EF4-FFF2-40B4-BE49-F238E27FC236}">
                <a16:creationId xmlns:a16="http://schemas.microsoft.com/office/drawing/2014/main" id="{33CE199A-3521-416F-82C9-7442035A720A}"/>
              </a:ext>
            </a:extLst>
          </p:cNvPr>
          <p:cNvSpPr txBox="1"/>
          <p:nvPr/>
        </p:nvSpPr>
        <p:spPr>
          <a:xfrm>
            <a:off x="663389" y="1491856"/>
            <a:ext cx="11089341" cy="4678204"/>
          </a:xfrm>
          <a:prstGeom prst="rect">
            <a:avLst/>
          </a:prstGeom>
          <a:noFill/>
        </p:spPr>
        <p:txBody>
          <a:bodyPr wrap="square" rtlCol="0">
            <a:spAutoFit/>
          </a:bodyPr>
          <a:lstStyle/>
          <a:p>
            <a:r>
              <a:rPr lang="en-IN" sz="2800" b="1" dirty="0">
                <a:latin typeface="Arial" panose="020B0604020202020204" pitchFamily="34" charset="0"/>
                <a:cs typeface="Arial" panose="020B0604020202020204" pitchFamily="34" charset="0"/>
              </a:rPr>
              <a:t>How to protect your browser from hackers ?</a:t>
            </a:r>
          </a:p>
          <a:p>
            <a:endParaRPr lang="en-IN" dirty="0"/>
          </a:p>
          <a:p>
            <a:r>
              <a:rPr lang="en-US" sz="2800" b="1" i="0" dirty="0">
                <a:solidFill>
                  <a:schemeClr val="tx2">
                    <a:lumMod val="20000"/>
                    <a:lumOff val="80000"/>
                  </a:schemeClr>
                </a:solidFill>
                <a:effectLst/>
                <a:latin typeface="Arial" panose="020B0604020202020204" pitchFamily="34" charset="0"/>
              </a:rPr>
              <a:t>Browser security</a:t>
            </a:r>
            <a:r>
              <a:rPr lang="en-US" sz="2800" b="0" i="0" dirty="0">
                <a:solidFill>
                  <a:schemeClr val="tx2">
                    <a:lumMod val="20000"/>
                    <a:lumOff val="80000"/>
                  </a:schemeClr>
                </a:solidFill>
                <a:effectLst/>
                <a:latin typeface="Arial" panose="020B0604020202020204" pitchFamily="34" charset="0"/>
              </a:rPr>
              <a:t> is the application of internet security to </a:t>
            </a:r>
            <a:r>
              <a:rPr lang="en-US" sz="2800" dirty="0">
                <a:solidFill>
                  <a:schemeClr val="tx2">
                    <a:lumMod val="20000"/>
                    <a:lumOff val="80000"/>
                  </a:schemeClr>
                </a:solidFill>
                <a:latin typeface="Arial" panose="020B0604020202020204" pitchFamily="34" charset="0"/>
              </a:rPr>
              <a:t>web  browsers</a:t>
            </a:r>
            <a:r>
              <a:rPr lang="en-US" sz="2800" b="0" i="0" dirty="0">
                <a:solidFill>
                  <a:schemeClr val="tx2">
                    <a:lumMod val="20000"/>
                    <a:lumOff val="80000"/>
                  </a:schemeClr>
                </a:solidFill>
                <a:effectLst/>
                <a:latin typeface="Arial" panose="020B0604020202020204" pitchFamily="34" charset="0"/>
              </a:rPr>
              <a:t> in order to protect </a:t>
            </a:r>
            <a:r>
              <a:rPr lang="en-US" sz="2800" dirty="0">
                <a:solidFill>
                  <a:schemeClr val="tx2">
                    <a:lumMod val="20000"/>
                    <a:lumOff val="80000"/>
                  </a:schemeClr>
                </a:solidFill>
                <a:latin typeface="Arial" panose="020B0604020202020204" pitchFamily="34" charset="0"/>
              </a:rPr>
              <a:t>networked</a:t>
            </a:r>
            <a:r>
              <a:rPr lang="en-US" sz="2800" b="0" i="0" dirty="0">
                <a:solidFill>
                  <a:schemeClr val="tx2">
                    <a:lumMod val="20000"/>
                    <a:lumOff val="80000"/>
                  </a:schemeClr>
                </a:solidFill>
                <a:effectLst/>
                <a:latin typeface="Arial" panose="020B0604020202020204" pitchFamily="34" charset="0"/>
              </a:rPr>
              <a:t> data and </a:t>
            </a:r>
            <a:r>
              <a:rPr lang="en-US" sz="2800" dirty="0">
                <a:solidFill>
                  <a:schemeClr val="tx2">
                    <a:lumMod val="20000"/>
                    <a:lumOff val="80000"/>
                  </a:schemeClr>
                </a:solidFill>
                <a:latin typeface="Arial" panose="020B0604020202020204" pitchFamily="34" charset="0"/>
              </a:rPr>
              <a:t>computer systems</a:t>
            </a:r>
            <a:r>
              <a:rPr lang="en-US" sz="2800" b="0" i="0" dirty="0">
                <a:solidFill>
                  <a:schemeClr val="tx2">
                    <a:lumMod val="20000"/>
                    <a:lumOff val="80000"/>
                  </a:schemeClr>
                </a:solidFill>
                <a:effectLst/>
                <a:latin typeface="Arial" panose="020B0604020202020204" pitchFamily="34" charset="0"/>
              </a:rPr>
              <a:t> from breaches of privacy or </a:t>
            </a:r>
            <a:r>
              <a:rPr lang="en-US" sz="2800" dirty="0">
                <a:solidFill>
                  <a:schemeClr val="tx2">
                    <a:lumMod val="20000"/>
                    <a:lumOff val="80000"/>
                  </a:schemeClr>
                </a:solidFill>
                <a:latin typeface="Arial" panose="020B0604020202020204" pitchFamily="34" charset="0"/>
              </a:rPr>
              <a:t>malware</a:t>
            </a:r>
            <a:r>
              <a:rPr lang="en-US" sz="2800" b="0" i="0" dirty="0">
                <a:solidFill>
                  <a:schemeClr val="tx2">
                    <a:lumMod val="20000"/>
                    <a:lumOff val="80000"/>
                  </a:schemeClr>
                </a:solidFill>
                <a:effectLst/>
                <a:latin typeface="Arial" panose="020B0604020202020204" pitchFamily="34" charset="0"/>
              </a:rPr>
              <a:t>. Security exploits of </a:t>
            </a:r>
            <a:r>
              <a:rPr lang="en-US" sz="2800" dirty="0">
                <a:solidFill>
                  <a:schemeClr val="tx2">
                    <a:lumMod val="20000"/>
                    <a:lumOff val="80000"/>
                  </a:schemeClr>
                </a:solidFill>
                <a:latin typeface="Arial" panose="020B0604020202020204" pitchFamily="34" charset="0"/>
              </a:rPr>
              <a:t>browsers</a:t>
            </a:r>
            <a:r>
              <a:rPr lang="en-US" sz="2800" b="0" i="0" dirty="0">
                <a:solidFill>
                  <a:schemeClr val="tx2">
                    <a:lumMod val="20000"/>
                    <a:lumOff val="80000"/>
                  </a:schemeClr>
                </a:solidFill>
                <a:effectLst/>
                <a:latin typeface="Arial" panose="020B0604020202020204" pitchFamily="34" charset="0"/>
              </a:rPr>
              <a:t> often use </a:t>
            </a:r>
            <a:r>
              <a:rPr lang="en-US" sz="2800" dirty="0">
                <a:solidFill>
                  <a:schemeClr val="tx2">
                    <a:lumMod val="20000"/>
                    <a:lumOff val="80000"/>
                  </a:schemeClr>
                </a:solidFill>
                <a:latin typeface="Arial" panose="020B0604020202020204" pitchFamily="34" charset="0"/>
              </a:rPr>
              <a:t>JavaScript</a:t>
            </a:r>
            <a:r>
              <a:rPr lang="en-US" sz="2800" b="0" i="0" dirty="0">
                <a:solidFill>
                  <a:schemeClr val="tx2">
                    <a:lumMod val="20000"/>
                    <a:lumOff val="80000"/>
                  </a:schemeClr>
                </a:solidFill>
                <a:effectLst/>
                <a:latin typeface="Arial" panose="020B0604020202020204" pitchFamily="34" charset="0"/>
              </a:rPr>
              <a:t>, sometimes with </a:t>
            </a:r>
            <a:r>
              <a:rPr lang="en-US" sz="2800" dirty="0">
                <a:solidFill>
                  <a:schemeClr val="tx2">
                    <a:lumMod val="20000"/>
                    <a:lumOff val="80000"/>
                  </a:schemeClr>
                </a:solidFill>
                <a:latin typeface="Arial" panose="020B0604020202020204" pitchFamily="34" charset="0"/>
              </a:rPr>
              <a:t>cross-site scripting</a:t>
            </a:r>
            <a:r>
              <a:rPr lang="en-US" sz="2800" b="0" i="0" dirty="0">
                <a:solidFill>
                  <a:schemeClr val="tx2">
                    <a:lumMod val="20000"/>
                    <a:lumOff val="80000"/>
                  </a:schemeClr>
                </a:solidFill>
                <a:effectLst/>
                <a:latin typeface="Arial" panose="020B0604020202020204" pitchFamily="34" charset="0"/>
              </a:rPr>
              <a:t> (XSS)</a:t>
            </a:r>
            <a:r>
              <a:rPr lang="en-US" sz="2800" b="0" i="0" baseline="30000" dirty="0">
                <a:solidFill>
                  <a:schemeClr val="tx2">
                    <a:lumMod val="20000"/>
                    <a:lumOff val="80000"/>
                  </a:schemeClr>
                </a:solidFill>
                <a:effectLst/>
                <a:latin typeface="Arial" panose="020B0604020202020204" pitchFamily="34" charset="0"/>
              </a:rPr>
              <a:t> </a:t>
            </a:r>
            <a:r>
              <a:rPr lang="en-US" sz="2800" b="0" i="0" dirty="0">
                <a:solidFill>
                  <a:schemeClr val="tx2">
                    <a:lumMod val="20000"/>
                    <a:lumOff val="80000"/>
                  </a:schemeClr>
                </a:solidFill>
                <a:effectLst/>
                <a:latin typeface="Arial" panose="020B0604020202020204" pitchFamily="34" charset="0"/>
              </a:rPr>
              <a:t>with a secondary payload using </a:t>
            </a:r>
            <a:r>
              <a:rPr lang="en-US" sz="2800" dirty="0">
                <a:solidFill>
                  <a:schemeClr val="tx2">
                    <a:lumMod val="20000"/>
                    <a:lumOff val="80000"/>
                  </a:schemeClr>
                </a:solidFill>
                <a:latin typeface="Arial" panose="020B0604020202020204" pitchFamily="34" charset="0"/>
              </a:rPr>
              <a:t>Adobe Flash</a:t>
            </a:r>
            <a:r>
              <a:rPr lang="en-US" sz="2800" b="0" i="0" dirty="0">
                <a:solidFill>
                  <a:schemeClr val="tx2">
                    <a:lumMod val="20000"/>
                    <a:lumOff val="80000"/>
                  </a:schemeClr>
                </a:solidFill>
                <a:effectLst/>
                <a:latin typeface="Arial" panose="020B0604020202020204" pitchFamily="34" charset="0"/>
              </a:rPr>
              <a:t>.</a:t>
            </a:r>
            <a:r>
              <a:rPr lang="en-US" sz="2800" b="0" i="0" baseline="30000" dirty="0">
                <a:solidFill>
                  <a:schemeClr val="tx2">
                    <a:lumMod val="20000"/>
                    <a:lumOff val="80000"/>
                  </a:schemeClr>
                </a:solidFill>
                <a:effectLst/>
                <a:latin typeface="Arial" panose="020B0604020202020204" pitchFamily="34" charset="0"/>
              </a:rPr>
              <a:t> </a:t>
            </a:r>
            <a:r>
              <a:rPr lang="en-US" sz="2800" b="0" i="0" dirty="0">
                <a:solidFill>
                  <a:schemeClr val="tx2">
                    <a:lumMod val="20000"/>
                    <a:lumOff val="80000"/>
                  </a:schemeClr>
                </a:solidFill>
                <a:effectLst/>
                <a:latin typeface="Arial" panose="020B0604020202020204" pitchFamily="34" charset="0"/>
              </a:rPr>
              <a:t>Security exploits can also take advantage of </a:t>
            </a:r>
            <a:r>
              <a:rPr lang="en-US" sz="2800" dirty="0">
                <a:solidFill>
                  <a:schemeClr val="tx2">
                    <a:lumMod val="20000"/>
                    <a:lumOff val="80000"/>
                  </a:schemeClr>
                </a:solidFill>
                <a:latin typeface="Arial" panose="020B0604020202020204" pitchFamily="34" charset="0"/>
              </a:rPr>
              <a:t>vulnerabilities</a:t>
            </a:r>
            <a:r>
              <a:rPr lang="en-US" sz="2800" b="0" i="0" dirty="0">
                <a:solidFill>
                  <a:schemeClr val="tx2">
                    <a:lumMod val="20000"/>
                    <a:lumOff val="80000"/>
                  </a:schemeClr>
                </a:solidFill>
                <a:effectLst/>
                <a:latin typeface="Arial" panose="020B0604020202020204" pitchFamily="34" charset="0"/>
              </a:rPr>
              <a:t> (security holes) that are commonly exploited in all </a:t>
            </a:r>
            <a:r>
              <a:rPr lang="en-US" sz="2800" dirty="0">
                <a:solidFill>
                  <a:schemeClr val="tx2">
                    <a:lumMod val="20000"/>
                    <a:lumOff val="80000"/>
                  </a:schemeClr>
                </a:solidFill>
                <a:latin typeface="Arial" panose="020B0604020202020204" pitchFamily="34" charset="0"/>
              </a:rPr>
              <a:t>browsers</a:t>
            </a:r>
            <a:r>
              <a:rPr lang="en-US" sz="2800" b="0" i="0" dirty="0">
                <a:solidFill>
                  <a:schemeClr val="tx2">
                    <a:lumMod val="20000"/>
                    <a:lumOff val="80000"/>
                  </a:schemeClr>
                </a:solidFill>
                <a:effectLst/>
                <a:latin typeface="Arial" panose="020B0604020202020204" pitchFamily="34" charset="0"/>
              </a:rPr>
              <a:t> (including </a:t>
            </a:r>
            <a:r>
              <a:rPr lang="en-US" sz="2800" dirty="0">
                <a:solidFill>
                  <a:schemeClr val="tx2">
                    <a:lumMod val="20000"/>
                    <a:lumOff val="80000"/>
                  </a:schemeClr>
                </a:solidFill>
                <a:latin typeface="Arial" panose="020B0604020202020204" pitchFamily="34" charset="0"/>
              </a:rPr>
              <a:t>Mozilla Firefox</a:t>
            </a:r>
            <a:r>
              <a:rPr lang="en-US" sz="2800" b="0" i="0" dirty="0">
                <a:solidFill>
                  <a:schemeClr val="tx2">
                    <a:lumMod val="20000"/>
                    <a:lumOff val="80000"/>
                  </a:schemeClr>
                </a:solidFill>
                <a:effectLst/>
                <a:latin typeface="Arial" panose="020B0604020202020204" pitchFamily="34" charset="0"/>
              </a:rPr>
              <a:t>, </a:t>
            </a:r>
            <a:r>
              <a:rPr lang="en-US" sz="2800" dirty="0">
                <a:solidFill>
                  <a:schemeClr val="tx2">
                    <a:lumMod val="20000"/>
                    <a:lumOff val="80000"/>
                  </a:schemeClr>
                </a:solidFill>
                <a:latin typeface="Arial" panose="020B0604020202020204" pitchFamily="34" charset="0"/>
              </a:rPr>
              <a:t>Google Chrome</a:t>
            </a:r>
            <a:r>
              <a:rPr lang="en-US" sz="2800" b="0" i="0" dirty="0">
                <a:solidFill>
                  <a:schemeClr val="tx2">
                    <a:lumMod val="20000"/>
                    <a:lumOff val="80000"/>
                  </a:schemeClr>
                </a:solidFill>
                <a:effectLst/>
                <a:latin typeface="Arial" panose="020B0604020202020204" pitchFamily="34" charset="0"/>
              </a:rPr>
              <a:t>, </a:t>
            </a:r>
            <a:r>
              <a:rPr lang="en-US" sz="2800" dirty="0">
                <a:solidFill>
                  <a:schemeClr val="tx2">
                    <a:lumMod val="20000"/>
                    <a:lumOff val="80000"/>
                  </a:schemeClr>
                </a:solidFill>
                <a:latin typeface="Arial" panose="020B0604020202020204" pitchFamily="34" charset="0"/>
              </a:rPr>
              <a:t>Opera</a:t>
            </a:r>
            <a:r>
              <a:rPr lang="en-US" sz="2800" b="0" i="0" dirty="0">
                <a:solidFill>
                  <a:schemeClr val="tx2">
                    <a:lumMod val="20000"/>
                    <a:lumOff val="80000"/>
                  </a:schemeClr>
                </a:solidFill>
                <a:effectLst/>
                <a:latin typeface="Arial" panose="020B0604020202020204" pitchFamily="34" charset="0"/>
              </a:rPr>
              <a:t>, </a:t>
            </a:r>
            <a:r>
              <a:rPr lang="en-US" sz="2800" dirty="0">
                <a:solidFill>
                  <a:schemeClr val="tx2">
                    <a:lumMod val="20000"/>
                    <a:lumOff val="80000"/>
                  </a:schemeClr>
                </a:solidFill>
                <a:latin typeface="Arial" panose="020B0604020202020204" pitchFamily="34" charset="0"/>
              </a:rPr>
              <a:t>Microsoft Internet Explorer</a:t>
            </a:r>
            <a:r>
              <a:rPr lang="en-US" sz="2800" b="0" i="0" dirty="0">
                <a:solidFill>
                  <a:schemeClr val="tx2">
                    <a:lumMod val="20000"/>
                    <a:lumOff val="80000"/>
                  </a:schemeClr>
                </a:solidFill>
                <a:effectLst/>
                <a:latin typeface="Arial" panose="020B0604020202020204" pitchFamily="34" charset="0"/>
              </a:rPr>
              <a:t>, and </a:t>
            </a:r>
            <a:r>
              <a:rPr lang="en-US" sz="2800" dirty="0">
                <a:solidFill>
                  <a:schemeClr val="tx2">
                    <a:lumMod val="20000"/>
                    <a:lumOff val="80000"/>
                  </a:schemeClr>
                </a:solidFill>
                <a:latin typeface="Arial" panose="020B0604020202020204" pitchFamily="34" charset="0"/>
              </a:rPr>
              <a:t>Safari</a:t>
            </a:r>
            <a:r>
              <a:rPr lang="en-US" sz="2800" b="0" i="0" dirty="0">
                <a:solidFill>
                  <a:schemeClr val="tx2">
                    <a:lumMod val="20000"/>
                    <a:lumOff val="80000"/>
                  </a:schemeClr>
                </a:solidFill>
                <a:effectLst/>
                <a:latin typeface="Arial" panose="020B0604020202020204" pitchFamily="34" charset="0"/>
              </a:rPr>
              <a:t>).</a:t>
            </a:r>
            <a:endParaRPr lang="en-IN" sz="2800" dirty="0">
              <a:solidFill>
                <a:schemeClr val="tx2">
                  <a:lumMod val="20000"/>
                  <a:lumOff val="80000"/>
                </a:schemeClr>
              </a:solidFill>
            </a:endParaRPr>
          </a:p>
        </p:txBody>
      </p:sp>
    </p:spTree>
    <p:extLst>
      <p:ext uri="{BB962C8B-B14F-4D97-AF65-F5344CB8AC3E}">
        <p14:creationId xmlns:p14="http://schemas.microsoft.com/office/powerpoint/2010/main" val="2996299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B0BC70E-9514-4744-81A0-DE12806089A4}"/>
              </a:ext>
            </a:extLst>
          </p:cNvPr>
          <p:cNvSpPr txBox="1"/>
          <p:nvPr/>
        </p:nvSpPr>
        <p:spPr>
          <a:xfrm>
            <a:off x="932329" y="1102659"/>
            <a:ext cx="10515600" cy="3754874"/>
          </a:xfrm>
          <a:prstGeom prst="rect">
            <a:avLst/>
          </a:prstGeom>
          <a:noFill/>
        </p:spPr>
        <p:txBody>
          <a:bodyPr wrap="square" rtlCol="0">
            <a:spAutoFit/>
          </a:bodyPr>
          <a:lstStyle/>
          <a:p>
            <a:pPr algn="l"/>
            <a:r>
              <a:rPr lang="en-US" sz="2800" b="1" i="0" dirty="0">
                <a:effectLst/>
                <a:latin typeface="Source Sans Pro" panose="020B0604020202020204" pitchFamily="34" charset="0"/>
              </a:rPr>
              <a:t>Why Secure Your Browser</a:t>
            </a:r>
          </a:p>
          <a:p>
            <a:pPr algn="l"/>
            <a:endParaRPr lang="en-US" sz="2400" b="1" i="0" dirty="0">
              <a:effectLst/>
              <a:latin typeface="Source Sans Pro" panose="020B0604020202020204" pitchFamily="34" charset="0"/>
            </a:endParaRPr>
          </a:p>
          <a:p>
            <a:pPr algn="l"/>
            <a:r>
              <a:rPr lang="en-US" sz="2400" b="0" i="0" dirty="0">
                <a:effectLst/>
                <a:latin typeface="Source Sans Pro" panose="020B0604020202020204" pitchFamily="34" charset="0"/>
              </a:rPr>
              <a:t>Today, web browsers such as Microsoft Internet Explorer, Mozilla Firefox, and Apple Safari are installed on almost all computers. Because web browsers are used so frequently, it is vital to configure them securely. Often, the web browser that comes with an operating system is not set up in a secure default configuration. Not securing our web browser can lead quickly to a variety of computer problems caused by anything from spyware being installed without our knowledge to intruders taking control of our computer</a:t>
            </a:r>
          </a:p>
          <a:p>
            <a:endParaRPr lang="en-IN" dirty="0"/>
          </a:p>
        </p:txBody>
      </p:sp>
    </p:spTree>
    <p:extLst>
      <p:ext uri="{BB962C8B-B14F-4D97-AF65-F5344CB8AC3E}">
        <p14:creationId xmlns:p14="http://schemas.microsoft.com/office/powerpoint/2010/main" val="2956088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E621D-2E8E-46FF-BA8D-2F9D7D601FA8}"/>
              </a:ext>
            </a:extLst>
          </p:cNvPr>
          <p:cNvSpPr>
            <a:spLocks noGrp="1"/>
          </p:cNvSpPr>
          <p:nvPr>
            <p:ph type="ctrTitle"/>
          </p:nvPr>
        </p:nvSpPr>
        <p:spPr>
          <a:xfrm>
            <a:off x="684212" y="685800"/>
            <a:ext cx="10665106" cy="5732930"/>
          </a:xfrm>
        </p:spPr>
        <p:txBody>
          <a:bodyPr>
            <a:noAutofit/>
          </a:bodyPr>
          <a:lstStyle/>
          <a:p>
            <a:r>
              <a:rPr lang="en-US" sz="2800" b="1" i="0" cap="none" dirty="0">
                <a:effectLst/>
                <a:latin typeface="Arial" panose="020B0604020202020204" pitchFamily="34" charset="0"/>
              </a:rPr>
              <a:t>Web browsers can be breached in one or more of the following ways:</a:t>
            </a:r>
            <a:br>
              <a:rPr lang="en-US" sz="2800" b="1" i="0" cap="none" dirty="0">
                <a:effectLst/>
                <a:latin typeface="Arial" panose="020B0604020202020204" pitchFamily="34" charset="0"/>
              </a:rPr>
            </a:br>
            <a:br>
              <a:rPr lang="en-US" sz="2800" b="0" i="0" cap="none" dirty="0">
                <a:effectLst/>
                <a:latin typeface="Arial" panose="020B0604020202020204" pitchFamily="34" charset="0"/>
              </a:rPr>
            </a:br>
            <a:r>
              <a:rPr lang="en-US" sz="2800" b="0" i="0" cap="none" dirty="0">
                <a:effectLst/>
                <a:latin typeface="Arial" panose="020B0604020202020204" pitchFamily="34" charset="0"/>
              </a:rPr>
              <a:t>1.</a:t>
            </a:r>
            <a:r>
              <a:rPr lang="en-US" sz="2800" b="0" i="0" u="none" strike="noStrike" cap="none" dirty="0">
                <a:effectLst/>
                <a:latin typeface="Arial" panose="020B0604020202020204" pitchFamily="34" charset="0"/>
                <a:hlinkClick r:id="rId2" tooltip="Operating system">
                  <a:extLst>
                    <a:ext uri="{A12FA001-AC4F-418D-AE19-62706E023703}">
                      <ahyp:hlinkClr xmlns:ahyp="http://schemas.microsoft.com/office/drawing/2018/hyperlinkcolor" val="tx"/>
                    </a:ext>
                  </a:extLst>
                </a:hlinkClick>
              </a:rPr>
              <a:t>Operating system</a:t>
            </a:r>
            <a:r>
              <a:rPr lang="en-US" sz="2800" b="0" i="0" cap="none" dirty="0">
                <a:effectLst/>
                <a:latin typeface="Arial" panose="020B0604020202020204" pitchFamily="34" charset="0"/>
              </a:rPr>
              <a:t> is breached and malware is reading/modifying the browser memory space in privilege mode</a:t>
            </a:r>
            <a:br>
              <a:rPr lang="en-US" sz="2800" b="0" i="0" cap="none" dirty="0">
                <a:effectLst/>
                <a:latin typeface="Arial" panose="020B0604020202020204" pitchFamily="34" charset="0"/>
              </a:rPr>
            </a:br>
            <a:r>
              <a:rPr lang="en-US" sz="2800" b="0" i="0" cap="none" dirty="0">
                <a:effectLst/>
                <a:latin typeface="Arial" panose="020B0604020202020204" pitchFamily="34" charset="0"/>
              </a:rPr>
              <a:t>2.Operating system has a malware running as a background process, which is reading/modifying the browser memory space in privileged mode</a:t>
            </a:r>
            <a:br>
              <a:rPr lang="en-US" sz="2800" b="0" i="0" cap="none" dirty="0">
                <a:effectLst/>
                <a:latin typeface="Arial" panose="020B0604020202020204" pitchFamily="34" charset="0"/>
              </a:rPr>
            </a:br>
            <a:r>
              <a:rPr lang="en-US" sz="2800" b="0" i="0" cap="none" dirty="0">
                <a:effectLst/>
                <a:latin typeface="Arial" panose="020B0604020202020204" pitchFamily="34" charset="0"/>
              </a:rPr>
              <a:t>3.Main browser executable can be hacked</a:t>
            </a:r>
            <a:br>
              <a:rPr lang="en-US" sz="2800" b="0" i="0" cap="none" dirty="0">
                <a:effectLst/>
                <a:latin typeface="Arial" panose="020B0604020202020204" pitchFamily="34" charset="0"/>
              </a:rPr>
            </a:br>
            <a:r>
              <a:rPr lang="en-US" sz="2800" b="0" i="0" cap="none" dirty="0">
                <a:effectLst/>
                <a:latin typeface="Arial" panose="020B0604020202020204" pitchFamily="34" charset="0"/>
              </a:rPr>
              <a:t>4.Browser components may be hacked</a:t>
            </a:r>
            <a:br>
              <a:rPr lang="en-US" sz="2800" b="0" i="0" cap="none" dirty="0">
                <a:effectLst/>
                <a:latin typeface="Arial" panose="020B0604020202020204" pitchFamily="34" charset="0"/>
              </a:rPr>
            </a:br>
            <a:r>
              <a:rPr lang="en-US" sz="2800" b="0" i="0" cap="none" dirty="0">
                <a:effectLst/>
                <a:latin typeface="Arial" panose="020B0604020202020204" pitchFamily="34" charset="0"/>
              </a:rPr>
              <a:t>5.Browser plugins can be hacked</a:t>
            </a:r>
            <a:br>
              <a:rPr lang="en-US" sz="2800" b="0" i="0" cap="none" dirty="0">
                <a:effectLst/>
                <a:latin typeface="Arial" panose="020B0604020202020204" pitchFamily="34" charset="0"/>
              </a:rPr>
            </a:br>
            <a:r>
              <a:rPr lang="en-US" sz="2800" b="0" i="0" cap="none" dirty="0">
                <a:effectLst/>
                <a:latin typeface="Arial" panose="020B0604020202020204" pitchFamily="34" charset="0"/>
              </a:rPr>
              <a:t>6.Browser network communications could be intercepted outside the machine</a:t>
            </a:r>
            <a:br>
              <a:rPr lang="en-US" sz="2800" b="0" i="0" cap="none" dirty="0">
                <a:effectLst/>
                <a:latin typeface="Arial" panose="020B0604020202020204" pitchFamily="34" charset="0"/>
              </a:rPr>
            </a:br>
            <a:endParaRPr lang="en-IN" sz="2800" cap="none" dirty="0"/>
          </a:p>
        </p:txBody>
      </p:sp>
    </p:spTree>
    <p:extLst>
      <p:ext uri="{BB962C8B-B14F-4D97-AF65-F5344CB8AC3E}">
        <p14:creationId xmlns:p14="http://schemas.microsoft.com/office/powerpoint/2010/main" val="1164154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EAC371-DA97-4DAB-B92E-00DC1B411CD1}"/>
              </a:ext>
            </a:extLst>
          </p:cNvPr>
          <p:cNvSpPr txBox="1"/>
          <p:nvPr/>
        </p:nvSpPr>
        <p:spPr>
          <a:xfrm>
            <a:off x="1201271" y="537882"/>
            <a:ext cx="9879105" cy="6278642"/>
          </a:xfrm>
          <a:prstGeom prst="rect">
            <a:avLst/>
          </a:prstGeom>
          <a:noFill/>
        </p:spPr>
        <p:txBody>
          <a:bodyPr wrap="square" rtlCol="0">
            <a:spAutoFit/>
          </a:bodyPr>
          <a:lstStyle/>
          <a:p>
            <a:pPr algn="ctr"/>
            <a:r>
              <a:rPr lang="en-US" sz="2400" b="1" i="0" dirty="0">
                <a:solidFill>
                  <a:schemeClr val="tx2">
                    <a:lumMod val="20000"/>
                    <a:lumOff val="80000"/>
                  </a:schemeClr>
                </a:solidFill>
                <a:effectLst/>
                <a:latin typeface="Arial" panose="020B0604020202020204" pitchFamily="34" charset="0"/>
                <a:cs typeface="Arial" panose="020B0604020202020204" pitchFamily="34" charset="0"/>
              </a:rPr>
              <a:t>Different Ways to Protect our Browser</a:t>
            </a:r>
          </a:p>
          <a:p>
            <a:pPr algn="l"/>
            <a:r>
              <a:rPr lang="en-US" sz="2000" b="1" i="0" dirty="0">
                <a:solidFill>
                  <a:schemeClr val="tx2">
                    <a:lumMod val="20000"/>
                    <a:lumOff val="80000"/>
                  </a:schemeClr>
                </a:solidFill>
                <a:effectLst/>
                <a:latin typeface="Arial" panose="020B0604020202020204" pitchFamily="34" charset="0"/>
                <a:cs typeface="Arial" panose="020B0604020202020204" pitchFamily="34" charset="0"/>
              </a:rPr>
              <a:t>Browser hardening:</a:t>
            </a:r>
          </a:p>
          <a:p>
            <a:pPr algn="l"/>
            <a:r>
              <a:rPr lang="en-US" sz="2000" b="0" i="0" dirty="0">
                <a:solidFill>
                  <a:schemeClr val="tx2">
                    <a:lumMod val="20000"/>
                    <a:lumOff val="80000"/>
                  </a:schemeClr>
                </a:solidFill>
                <a:effectLst/>
                <a:latin typeface="Arial" panose="020B0604020202020204" pitchFamily="34" charset="0"/>
              </a:rPr>
              <a:t>1.Browsing the Internet as a </a:t>
            </a:r>
            <a:r>
              <a:rPr lang="en-US" sz="2000" dirty="0">
                <a:solidFill>
                  <a:schemeClr val="tx2">
                    <a:lumMod val="20000"/>
                    <a:lumOff val="80000"/>
                  </a:schemeClr>
                </a:solidFill>
                <a:latin typeface="Arial" panose="020B0604020202020204" pitchFamily="34" charset="0"/>
              </a:rPr>
              <a:t>least-privilege</a:t>
            </a:r>
            <a:r>
              <a:rPr lang="en-US" sz="2000" b="0" i="0" dirty="0">
                <a:solidFill>
                  <a:schemeClr val="tx2">
                    <a:lumMod val="20000"/>
                    <a:lumOff val="80000"/>
                  </a:schemeClr>
                </a:solidFill>
                <a:effectLst/>
                <a:latin typeface="Arial" panose="020B0604020202020204" pitchFamily="34" charset="0"/>
              </a:rPr>
              <a:t> user account  limits the ability of a security exploit in a web browser from compromising the whole operating system.</a:t>
            </a:r>
          </a:p>
          <a:p>
            <a:pPr algn="l"/>
            <a:r>
              <a:rPr lang="en-US" sz="2000" dirty="0">
                <a:solidFill>
                  <a:schemeClr val="tx2">
                    <a:lumMod val="20000"/>
                    <a:lumOff val="80000"/>
                  </a:schemeClr>
                </a:solidFill>
                <a:latin typeface="Arial" panose="020B0604020202020204" pitchFamily="34" charset="0"/>
              </a:rPr>
              <a:t>2.Internet Explorer 4</a:t>
            </a:r>
            <a:r>
              <a:rPr lang="en-US" sz="2000" b="0" i="0" dirty="0">
                <a:solidFill>
                  <a:schemeClr val="tx2">
                    <a:lumMod val="20000"/>
                    <a:lumOff val="80000"/>
                  </a:schemeClr>
                </a:solidFill>
                <a:effectLst/>
                <a:latin typeface="Arial" panose="020B0604020202020204" pitchFamily="34" charset="0"/>
              </a:rPr>
              <a:t> and later allows the blacklisting</a:t>
            </a:r>
            <a:r>
              <a:rPr lang="en-US" sz="2000" baseline="30000" dirty="0">
                <a:solidFill>
                  <a:schemeClr val="tx2">
                    <a:lumMod val="20000"/>
                    <a:lumOff val="80000"/>
                  </a:schemeClr>
                </a:solidFill>
                <a:latin typeface="Arial" panose="020B0604020202020204" pitchFamily="34" charset="0"/>
              </a:rPr>
              <a:t>[</a:t>
            </a:r>
            <a:r>
              <a:rPr lang="en-US" sz="2000" b="0" i="0" dirty="0">
                <a:solidFill>
                  <a:schemeClr val="tx2">
                    <a:lumMod val="20000"/>
                    <a:lumOff val="80000"/>
                  </a:schemeClr>
                </a:solidFill>
                <a:effectLst/>
                <a:latin typeface="Arial" panose="020B0604020202020204" pitchFamily="34" charset="0"/>
              </a:rPr>
              <a:t> and whitelisting</a:t>
            </a:r>
            <a:r>
              <a:rPr lang="en-US" sz="2000" baseline="30000" dirty="0">
                <a:solidFill>
                  <a:schemeClr val="tx2">
                    <a:lumMod val="20000"/>
                    <a:lumOff val="80000"/>
                  </a:schemeClr>
                </a:solidFill>
                <a:latin typeface="Arial" panose="020B0604020202020204" pitchFamily="34" charset="0"/>
              </a:rPr>
              <a:t>[</a:t>
            </a:r>
            <a:r>
              <a:rPr lang="en-US" sz="2000" b="0" i="0" dirty="0">
                <a:solidFill>
                  <a:schemeClr val="tx2">
                    <a:lumMod val="20000"/>
                    <a:lumOff val="80000"/>
                  </a:schemeClr>
                </a:solidFill>
                <a:effectLst/>
                <a:latin typeface="Arial" panose="020B0604020202020204" pitchFamily="34" charset="0"/>
              </a:rPr>
              <a:t> of </a:t>
            </a:r>
            <a:r>
              <a:rPr lang="en-US" sz="2000" dirty="0">
                <a:solidFill>
                  <a:schemeClr val="tx2">
                    <a:lumMod val="20000"/>
                    <a:lumOff val="80000"/>
                  </a:schemeClr>
                </a:solidFill>
                <a:latin typeface="Arial" panose="020B0604020202020204" pitchFamily="34" charset="0"/>
              </a:rPr>
              <a:t>ActiveX</a:t>
            </a:r>
            <a:r>
              <a:rPr lang="en-US" sz="2000" b="0" i="0" dirty="0">
                <a:solidFill>
                  <a:schemeClr val="tx2">
                    <a:lumMod val="20000"/>
                    <a:lumOff val="80000"/>
                  </a:schemeClr>
                </a:solidFill>
                <a:effectLst/>
                <a:latin typeface="Arial" panose="020B0604020202020204" pitchFamily="34" charset="0"/>
              </a:rPr>
              <a:t> controls, add-ons and browser extensions in various ways.</a:t>
            </a:r>
          </a:p>
          <a:p>
            <a:pPr algn="l"/>
            <a:r>
              <a:rPr lang="en-US" sz="2000" dirty="0">
                <a:solidFill>
                  <a:schemeClr val="tx2">
                    <a:lumMod val="20000"/>
                    <a:lumOff val="80000"/>
                  </a:schemeClr>
                </a:solidFill>
                <a:latin typeface="Arial" panose="020B0604020202020204" pitchFamily="34" charset="0"/>
              </a:rPr>
              <a:t>Internet Explorer 7</a:t>
            </a:r>
            <a:r>
              <a:rPr lang="en-US" sz="2000" b="0" i="0" dirty="0">
                <a:solidFill>
                  <a:schemeClr val="tx2">
                    <a:lumMod val="20000"/>
                    <a:lumOff val="80000"/>
                  </a:schemeClr>
                </a:solidFill>
                <a:effectLst/>
                <a:latin typeface="Arial" panose="020B0604020202020204" pitchFamily="34" charset="0"/>
              </a:rPr>
              <a:t> added "protected mode", a technology that hardens the browser through the application of a security sandboxing feature of </a:t>
            </a:r>
            <a:r>
              <a:rPr lang="en-US" sz="2000" dirty="0">
                <a:solidFill>
                  <a:schemeClr val="tx2">
                    <a:lumMod val="20000"/>
                    <a:lumOff val="80000"/>
                  </a:schemeClr>
                </a:solidFill>
                <a:latin typeface="Arial" panose="020B0604020202020204" pitchFamily="34" charset="0"/>
              </a:rPr>
              <a:t>Windows Vista</a:t>
            </a:r>
            <a:r>
              <a:rPr lang="en-US" sz="2000" b="0" i="0" dirty="0">
                <a:solidFill>
                  <a:schemeClr val="tx2">
                    <a:lumMod val="20000"/>
                    <a:lumOff val="80000"/>
                  </a:schemeClr>
                </a:solidFill>
                <a:effectLst/>
                <a:latin typeface="Arial" panose="020B0604020202020204" pitchFamily="34" charset="0"/>
              </a:rPr>
              <a:t> called </a:t>
            </a:r>
            <a:r>
              <a:rPr lang="en-US" sz="2000" dirty="0">
                <a:solidFill>
                  <a:schemeClr val="tx2">
                    <a:lumMod val="20000"/>
                    <a:lumOff val="80000"/>
                  </a:schemeClr>
                </a:solidFill>
                <a:latin typeface="Arial" panose="020B0604020202020204" pitchFamily="34" charset="0"/>
              </a:rPr>
              <a:t>Mandatory Integrity Control</a:t>
            </a:r>
            <a:r>
              <a:rPr lang="en-US" sz="2000" b="0" i="0" dirty="0">
                <a:solidFill>
                  <a:schemeClr val="tx2">
                    <a:lumMod val="20000"/>
                    <a:lumOff val="80000"/>
                  </a:schemeClr>
                </a:solidFill>
                <a:effectLst/>
                <a:latin typeface="Arial" panose="020B0604020202020204" pitchFamily="34" charset="0"/>
              </a:rPr>
              <a:t>. </a:t>
            </a:r>
            <a:r>
              <a:rPr lang="en-US" sz="2000" dirty="0">
                <a:solidFill>
                  <a:schemeClr val="tx2">
                    <a:lumMod val="20000"/>
                    <a:lumOff val="80000"/>
                  </a:schemeClr>
                </a:solidFill>
                <a:latin typeface="Arial" panose="020B0604020202020204" pitchFamily="34" charset="0"/>
              </a:rPr>
              <a:t>Google Chrome</a:t>
            </a:r>
            <a:r>
              <a:rPr lang="en-US" sz="2000" b="0" i="0" dirty="0">
                <a:solidFill>
                  <a:schemeClr val="tx2">
                    <a:lumMod val="20000"/>
                    <a:lumOff val="80000"/>
                  </a:schemeClr>
                </a:solidFill>
                <a:effectLst/>
                <a:latin typeface="Arial" panose="020B0604020202020204" pitchFamily="34" charset="0"/>
              </a:rPr>
              <a:t> provides a </a:t>
            </a:r>
            <a:r>
              <a:rPr lang="en-US" sz="2000" dirty="0">
                <a:solidFill>
                  <a:schemeClr val="tx2">
                    <a:lumMod val="20000"/>
                    <a:lumOff val="80000"/>
                  </a:schemeClr>
                </a:solidFill>
                <a:latin typeface="Arial" panose="020B0604020202020204" pitchFamily="34" charset="0"/>
              </a:rPr>
              <a:t>sandbox</a:t>
            </a:r>
            <a:r>
              <a:rPr lang="en-US" sz="2000" b="0" i="0" dirty="0">
                <a:solidFill>
                  <a:schemeClr val="tx2">
                    <a:lumMod val="20000"/>
                    <a:lumOff val="80000"/>
                  </a:schemeClr>
                </a:solidFill>
                <a:effectLst/>
                <a:latin typeface="Arial" panose="020B0604020202020204" pitchFamily="34" charset="0"/>
              </a:rPr>
              <a:t> to limit web page access to the operating system.</a:t>
            </a:r>
          </a:p>
          <a:p>
            <a:pPr algn="l"/>
            <a:r>
              <a:rPr lang="en-US" sz="2000" b="0" i="0" dirty="0">
                <a:solidFill>
                  <a:schemeClr val="tx2">
                    <a:lumMod val="20000"/>
                    <a:lumOff val="80000"/>
                  </a:schemeClr>
                </a:solidFill>
                <a:effectLst/>
                <a:latin typeface="Arial" panose="020B0604020202020204" pitchFamily="34" charset="0"/>
              </a:rPr>
              <a:t>3.Suspected malware sites reported to Google, and confirmed by Google, are flagged as hosting malware in certain browsers.</a:t>
            </a:r>
          </a:p>
          <a:p>
            <a:pPr algn="l"/>
            <a:r>
              <a:rPr lang="en-US" sz="2000" b="0" i="0" dirty="0">
                <a:solidFill>
                  <a:schemeClr val="tx2">
                    <a:lumMod val="20000"/>
                    <a:lumOff val="80000"/>
                  </a:schemeClr>
                </a:solidFill>
                <a:effectLst/>
                <a:latin typeface="Arial" panose="020B0604020202020204" pitchFamily="34" charset="0"/>
              </a:rPr>
              <a:t>4.There are third-party extensions and plugins available to </a:t>
            </a:r>
            <a:r>
              <a:rPr lang="en-US" sz="2000" dirty="0">
                <a:solidFill>
                  <a:schemeClr val="tx2">
                    <a:lumMod val="20000"/>
                    <a:lumOff val="80000"/>
                  </a:schemeClr>
                </a:solidFill>
                <a:latin typeface="Arial" panose="020B0604020202020204" pitchFamily="34" charset="0"/>
              </a:rPr>
              <a:t>harden</a:t>
            </a:r>
            <a:r>
              <a:rPr lang="en-US" sz="2000" b="0" i="0" dirty="0">
                <a:solidFill>
                  <a:schemeClr val="tx2">
                    <a:lumMod val="20000"/>
                    <a:lumOff val="80000"/>
                  </a:schemeClr>
                </a:solidFill>
                <a:effectLst/>
                <a:latin typeface="Arial" panose="020B0604020202020204" pitchFamily="34" charset="0"/>
              </a:rPr>
              <a:t> even the latest browsers, and some for older browsers and operating systems. </a:t>
            </a:r>
            <a:r>
              <a:rPr lang="en-US" sz="2000" dirty="0">
                <a:solidFill>
                  <a:schemeClr val="tx2">
                    <a:lumMod val="20000"/>
                    <a:lumOff val="80000"/>
                  </a:schemeClr>
                </a:solidFill>
                <a:latin typeface="Arial" panose="020B0604020202020204" pitchFamily="34" charset="0"/>
              </a:rPr>
              <a:t>Whitelist</a:t>
            </a:r>
            <a:r>
              <a:rPr lang="en-US" sz="2000" b="0" i="0" dirty="0">
                <a:solidFill>
                  <a:schemeClr val="tx2">
                    <a:lumMod val="20000"/>
                    <a:lumOff val="80000"/>
                  </a:schemeClr>
                </a:solidFill>
                <a:effectLst/>
                <a:latin typeface="Arial" panose="020B0604020202020204" pitchFamily="34" charset="0"/>
              </a:rPr>
              <a:t>-based software such as </a:t>
            </a:r>
            <a:r>
              <a:rPr lang="en-US" sz="2000" dirty="0" err="1">
                <a:solidFill>
                  <a:schemeClr val="tx2">
                    <a:lumMod val="20000"/>
                    <a:lumOff val="80000"/>
                  </a:schemeClr>
                </a:solidFill>
                <a:latin typeface="Arial" panose="020B0604020202020204" pitchFamily="34" charset="0"/>
              </a:rPr>
              <a:t>NoScript</a:t>
            </a:r>
            <a:r>
              <a:rPr lang="en-US" sz="2000" b="0" i="0" dirty="0">
                <a:solidFill>
                  <a:schemeClr val="tx2">
                    <a:lumMod val="20000"/>
                    <a:lumOff val="80000"/>
                  </a:schemeClr>
                </a:solidFill>
                <a:effectLst/>
                <a:latin typeface="Arial" panose="020B0604020202020204" pitchFamily="34" charset="0"/>
              </a:rPr>
              <a:t> can block </a:t>
            </a:r>
            <a:r>
              <a:rPr lang="en-US" sz="2000" dirty="0">
                <a:solidFill>
                  <a:schemeClr val="tx2">
                    <a:lumMod val="20000"/>
                    <a:lumOff val="80000"/>
                  </a:schemeClr>
                </a:solidFill>
                <a:latin typeface="Arial" panose="020B0604020202020204" pitchFamily="34" charset="0"/>
              </a:rPr>
              <a:t>JavaScript</a:t>
            </a:r>
            <a:r>
              <a:rPr lang="en-US" sz="2000" b="0" i="0" dirty="0">
                <a:solidFill>
                  <a:schemeClr val="tx2">
                    <a:lumMod val="20000"/>
                    <a:lumOff val="80000"/>
                  </a:schemeClr>
                </a:solidFill>
                <a:effectLst/>
                <a:latin typeface="Arial" panose="020B0604020202020204" pitchFamily="34" charset="0"/>
              </a:rPr>
              <a:t> and Adobe Flash which is used for most attacks on privacy, allowing users to choose only sites they know are safe - </a:t>
            </a:r>
            <a:r>
              <a:rPr lang="en-US" sz="2000" dirty="0">
                <a:solidFill>
                  <a:schemeClr val="tx2">
                    <a:lumMod val="20000"/>
                    <a:lumOff val="80000"/>
                  </a:schemeClr>
                </a:solidFill>
                <a:latin typeface="Arial" panose="020B0604020202020204" pitchFamily="34" charset="0"/>
              </a:rPr>
              <a:t>AdBlock Plus</a:t>
            </a:r>
            <a:r>
              <a:rPr lang="en-US" sz="2000" b="0" i="0" dirty="0">
                <a:solidFill>
                  <a:schemeClr val="tx2">
                    <a:lumMod val="20000"/>
                    <a:lumOff val="80000"/>
                  </a:schemeClr>
                </a:solidFill>
                <a:effectLst/>
                <a:latin typeface="Arial" panose="020B0604020202020204" pitchFamily="34" charset="0"/>
              </a:rPr>
              <a:t> also uses whitelist </a:t>
            </a:r>
            <a:r>
              <a:rPr lang="en-US" sz="2000" dirty="0">
                <a:solidFill>
                  <a:schemeClr val="tx2">
                    <a:lumMod val="20000"/>
                    <a:lumOff val="80000"/>
                  </a:schemeClr>
                </a:solidFill>
                <a:latin typeface="Arial" panose="020B0604020202020204" pitchFamily="34" charset="0"/>
              </a:rPr>
              <a:t>ad filtering</a:t>
            </a:r>
            <a:r>
              <a:rPr lang="en-US" sz="2000" b="0" i="0" dirty="0">
                <a:solidFill>
                  <a:schemeClr val="tx2">
                    <a:lumMod val="20000"/>
                    <a:lumOff val="80000"/>
                  </a:schemeClr>
                </a:solidFill>
                <a:effectLst/>
                <a:latin typeface="Arial" panose="020B0604020202020204" pitchFamily="34" charset="0"/>
              </a:rPr>
              <a:t> rules subscriptions, though both the software itself and the filtering list maintainers have come under controversy for by-default allowing some sites to pass the pre-set filters. </a:t>
            </a:r>
          </a:p>
          <a:p>
            <a:endParaRPr lang="en-IN" dirty="0"/>
          </a:p>
        </p:txBody>
      </p:sp>
    </p:spTree>
    <p:extLst>
      <p:ext uri="{BB962C8B-B14F-4D97-AF65-F5344CB8AC3E}">
        <p14:creationId xmlns:p14="http://schemas.microsoft.com/office/powerpoint/2010/main" val="611336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4680D2C-FA39-4148-9591-9FA3745F460E}"/>
              </a:ext>
            </a:extLst>
          </p:cNvPr>
          <p:cNvSpPr txBox="1"/>
          <p:nvPr/>
        </p:nvSpPr>
        <p:spPr>
          <a:xfrm>
            <a:off x="941294" y="654424"/>
            <a:ext cx="10551459" cy="3662541"/>
          </a:xfrm>
          <a:prstGeom prst="rect">
            <a:avLst/>
          </a:prstGeom>
          <a:noFill/>
        </p:spPr>
        <p:txBody>
          <a:bodyPr wrap="square" rtlCol="0">
            <a:spAutoFit/>
          </a:bodyPr>
          <a:lstStyle/>
          <a:p>
            <a:r>
              <a:rPr lang="en-IN" sz="3600" dirty="0">
                <a:solidFill>
                  <a:schemeClr val="tx2">
                    <a:lumMod val="20000"/>
                    <a:lumOff val="80000"/>
                  </a:schemeClr>
                </a:solidFill>
              </a:rPr>
              <a:t>Antivirus Protection:</a:t>
            </a:r>
          </a:p>
          <a:p>
            <a:endParaRPr lang="en-IN" sz="2800" dirty="0">
              <a:solidFill>
                <a:schemeClr val="tx2">
                  <a:lumMod val="20000"/>
                  <a:lumOff val="80000"/>
                </a:schemeClr>
              </a:solidFill>
            </a:endParaRPr>
          </a:p>
          <a:p>
            <a:r>
              <a:rPr lang="en-US" sz="2800" b="0" i="0" dirty="0">
                <a:solidFill>
                  <a:schemeClr val="tx2">
                    <a:lumMod val="20000"/>
                    <a:lumOff val="80000"/>
                  </a:schemeClr>
                </a:solidFill>
                <a:effectLst/>
                <a:latin typeface="Georgia" panose="02040502050405020303" pitchFamily="18" charset="0"/>
              </a:rPr>
              <a:t>Potentially unwanted programs (PUPs) can slip past when </a:t>
            </a:r>
            <a:r>
              <a:rPr lang="en-US" sz="2800" dirty="0">
                <a:solidFill>
                  <a:schemeClr val="tx2">
                    <a:lumMod val="20000"/>
                    <a:lumOff val="80000"/>
                  </a:schemeClr>
                </a:solidFill>
                <a:latin typeface="Georgia" panose="02040502050405020303" pitchFamily="18" charset="0"/>
              </a:rPr>
              <a:t>we</a:t>
            </a:r>
            <a:r>
              <a:rPr lang="en-US" sz="2800" b="0" i="0" dirty="0">
                <a:solidFill>
                  <a:schemeClr val="tx2">
                    <a:lumMod val="20000"/>
                    <a:lumOff val="80000"/>
                  </a:schemeClr>
                </a:solidFill>
                <a:effectLst/>
                <a:latin typeface="Georgia" panose="02040502050405020303" pitchFamily="18" charset="0"/>
              </a:rPr>
              <a:t> install any sort of software. These little buggers can switch browsers on </a:t>
            </a:r>
            <a:r>
              <a:rPr lang="en-US" sz="2800" dirty="0">
                <a:solidFill>
                  <a:schemeClr val="tx2">
                    <a:lumMod val="20000"/>
                    <a:lumOff val="80000"/>
                  </a:schemeClr>
                </a:solidFill>
                <a:latin typeface="Georgia" panose="02040502050405020303" pitchFamily="18" charset="0"/>
              </a:rPr>
              <a:t>us</a:t>
            </a:r>
            <a:r>
              <a:rPr lang="en-US" sz="2800" b="0" i="0" dirty="0">
                <a:solidFill>
                  <a:schemeClr val="tx2">
                    <a:lumMod val="20000"/>
                    <a:lumOff val="80000"/>
                  </a:schemeClr>
                </a:solidFill>
                <a:effectLst/>
                <a:latin typeface="Georgia" panose="02040502050405020303" pitchFamily="18" charset="0"/>
              </a:rPr>
              <a:t> without warning and </a:t>
            </a:r>
            <a:r>
              <a:rPr lang="en-US" sz="2800" dirty="0" err="1">
                <a:solidFill>
                  <a:schemeClr val="tx2">
                    <a:lumMod val="20000"/>
                    <a:lumOff val="80000"/>
                  </a:schemeClr>
                </a:solidFill>
                <a:latin typeface="Georgia" panose="02040502050405020303" pitchFamily="18" charset="0"/>
              </a:rPr>
              <a:t>wes</a:t>
            </a:r>
            <a:r>
              <a:rPr lang="en-US" sz="2800" b="0" i="0" dirty="0">
                <a:solidFill>
                  <a:schemeClr val="tx2">
                    <a:lumMod val="20000"/>
                    <a:lumOff val="80000"/>
                  </a:schemeClr>
                </a:solidFill>
                <a:effectLst/>
                <a:latin typeface="Georgia" panose="02040502050405020303" pitchFamily="18" charset="0"/>
              </a:rPr>
              <a:t> might never even notice. Keeping a </a:t>
            </a:r>
            <a:r>
              <a:rPr lang="en-US" sz="2800" dirty="0">
                <a:solidFill>
                  <a:schemeClr val="tx2">
                    <a:lumMod val="20000"/>
                    <a:lumOff val="80000"/>
                  </a:schemeClr>
                </a:solidFill>
                <a:latin typeface="Georgia" panose="02040502050405020303" pitchFamily="18" charset="0"/>
              </a:rPr>
              <a:t>reputable antivirus program</a:t>
            </a:r>
            <a:r>
              <a:rPr lang="en-US" sz="2800" b="0" i="0" dirty="0">
                <a:solidFill>
                  <a:schemeClr val="tx2">
                    <a:lumMod val="20000"/>
                    <a:lumOff val="80000"/>
                  </a:schemeClr>
                </a:solidFill>
                <a:effectLst/>
                <a:latin typeface="Georgia" panose="02040502050405020303" pitchFamily="18" charset="0"/>
              </a:rPr>
              <a:t> like Zone Alarm installed is one of the best ways to keep PUP’s from hijacking our browser and ruining our day.</a:t>
            </a:r>
            <a:endParaRPr lang="en-IN" sz="2800" dirty="0">
              <a:solidFill>
                <a:schemeClr val="tx2">
                  <a:lumMod val="20000"/>
                  <a:lumOff val="80000"/>
                </a:schemeClr>
              </a:solidFill>
            </a:endParaRPr>
          </a:p>
        </p:txBody>
      </p:sp>
    </p:spTree>
    <p:extLst>
      <p:ext uri="{BB962C8B-B14F-4D97-AF65-F5344CB8AC3E}">
        <p14:creationId xmlns:p14="http://schemas.microsoft.com/office/powerpoint/2010/main" val="26883707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3D4AD04-5092-4EB1-A215-792522A5FFEA}"/>
              </a:ext>
            </a:extLst>
          </p:cNvPr>
          <p:cNvSpPr txBox="1"/>
          <p:nvPr/>
        </p:nvSpPr>
        <p:spPr>
          <a:xfrm>
            <a:off x="726140" y="116541"/>
            <a:ext cx="11214847" cy="5539978"/>
          </a:xfrm>
          <a:prstGeom prst="rect">
            <a:avLst/>
          </a:prstGeom>
          <a:noFill/>
        </p:spPr>
        <p:txBody>
          <a:bodyPr wrap="square" rtlCol="0">
            <a:spAutoFit/>
          </a:bodyPr>
          <a:lstStyle/>
          <a:p>
            <a:pPr algn="l"/>
            <a:endParaRPr lang="en-US" b="1" i="0" dirty="0">
              <a:effectLst/>
              <a:latin typeface="Georgia" panose="02040502050405020303" pitchFamily="18" charset="0"/>
            </a:endParaRPr>
          </a:p>
          <a:p>
            <a:pPr algn="l"/>
            <a:endParaRPr lang="en-US" sz="2400" b="1" dirty="0">
              <a:latin typeface="Georgia" panose="02040502050405020303" pitchFamily="18" charset="0"/>
            </a:endParaRPr>
          </a:p>
          <a:p>
            <a:pPr algn="l"/>
            <a:r>
              <a:rPr lang="en-US" sz="2400" b="1" i="0" dirty="0">
                <a:effectLst/>
                <a:latin typeface="Georgia" panose="02040502050405020303" pitchFamily="18" charset="0"/>
              </a:rPr>
              <a:t> </a:t>
            </a:r>
            <a:r>
              <a:rPr lang="en-US" sz="2800" b="1" i="0" dirty="0">
                <a:effectLst/>
                <a:latin typeface="Georgia" panose="02040502050405020303" pitchFamily="18" charset="0"/>
              </a:rPr>
              <a:t>Security plug-ins</a:t>
            </a:r>
            <a:br>
              <a:rPr lang="en-US" b="0" i="0" dirty="0">
                <a:effectLst/>
                <a:latin typeface="Georgia" panose="02040502050405020303" pitchFamily="18" charset="0"/>
              </a:rPr>
            </a:br>
            <a:endParaRPr lang="en-US" b="0" i="0" dirty="0">
              <a:effectLst/>
              <a:latin typeface="Georgia" panose="02040502050405020303" pitchFamily="18" charset="0"/>
            </a:endParaRPr>
          </a:p>
          <a:p>
            <a:pPr algn="l"/>
            <a:r>
              <a:rPr lang="en-US" sz="2000" b="0" i="0" dirty="0">
                <a:effectLst/>
                <a:latin typeface="Georgia" panose="02040502050405020303" pitchFamily="18" charset="0"/>
              </a:rPr>
              <a:t>The majority of plug-ins and extensions are safe, however, and some can help bolster your browser’s security. Here are some free—browser extensions for added security.</a:t>
            </a:r>
          </a:p>
          <a:p>
            <a:pPr algn="l"/>
            <a:endParaRPr lang="en-US" sz="2000" b="0" i="0" dirty="0">
              <a:effectLst/>
              <a:latin typeface="Georgia" panose="02040502050405020303" pitchFamily="18" charset="0"/>
            </a:endParaRPr>
          </a:p>
          <a:p>
            <a:pPr algn="l">
              <a:buFont typeface="Arial" panose="020B0604020202020204" pitchFamily="34" charset="0"/>
              <a:buChar char="•"/>
            </a:pPr>
            <a:r>
              <a:rPr lang="en-US" sz="2400" b="1" dirty="0" err="1">
                <a:latin typeface="Georgia" panose="02040502050405020303" pitchFamily="18" charset="0"/>
              </a:rPr>
              <a:t>ZoneAlarm</a:t>
            </a:r>
            <a:r>
              <a:rPr lang="en-US" sz="2400" b="1" dirty="0">
                <a:latin typeface="Georgia" panose="02040502050405020303" pitchFamily="18" charset="0"/>
              </a:rPr>
              <a:t> Web Secure :</a:t>
            </a:r>
            <a:r>
              <a:rPr lang="en-US" sz="2400" b="1" i="0" dirty="0">
                <a:effectLst/>
                <a:latin typeface="Georgia" panose="02040502050405020303" pitchFamily="18" charset="0"/>
              </a:rPr>
              <a:t> </a:t>
            </a:r>
            <a:r>
              <a:rPr lang="en-US" sz="2400" b="0" i="0" dirty="0">
                <a:effectLst/>
                <a:latin typeface="Georgia" panose="02040502050405020303" pitchFamily="18" charset="0"/>
              </a:rPr>
              <a:t>This Chrome </a:t>
            </a:r>
            <a:r>
              <a:rPr lang="en-US" sz="2400" dirty="0">
                <a:latin typeface="Georgia" panose="02040502050405020303" pitchFamily="18" charset="0"/>
              </a:rPr>
              <a:t>plugin program</a:t>
            </a:r>
            <a:r>
              <a:rPr lang="en-US" sz="2400" b="0" i="0" dirty="0">
                <a:effectLst/>
                <a:latin typeface="Georgia" panose="02040502050405020303" pitchFamily="18" charset="0"/>
              </a:rPr>
              <a:t> protects </a:t>
            </a:r>
            <a:r>
              <a:rPr lang="en-US" sz="2400" dirty="0">
                <a:latin typeface="Georgia" panose="02040502050405020303" pitchFamily="18" charset="0"/>
              </a:rPr>
              <a:t>us</a:t>
            </a:r>
            <a:r>
              <a:rPr lang="en-US" sz="2400" b="0" i="0" dirty="0">
                <a:effectLst/>
                <a:latin typeface="Georgia" panose="02040502050405020303" pitchFamily="18" charset="0"/>
              </a:rPr>
              <a:t> on 3 levels: First, it offers a “safe search engine” which </a:t>
            </a:r>
            <a:r>
              <a:rPr lang="en-US" sz="2400" b="0" i="0">
                <a:effectLst/>
                <a:latin typeface="Georgia" panose="02040502050405020303" pitchFamily="18" charset="0"/>
              </a:rPr>
              <a:t>shows </a:t>
            </a:r>
            <a:r>
              <a:rPr lang="en-US" sz="2400">
                <a:latin typeface="Georgia" panose="02040502050405020303" pitchFamily="18" charset="0"/>
              </a:rPr>
              <a:t>us</a:t>
            </a:r>
            <a:r>
              <a:rPr lang="en-US" sz="2400" b="0" i="0">
                <a:effectLst/>
                <a:latin typeface="Georgia" panose="02040502050405020303" pitchFamily="18" charset="0"/>
              </a:rPr>
              <a:t> </a:t>
            </a:r>
            <a:r>
              <a:rPr lang="en-US" sz="2400" b="0" i="0" dirty="0">
                <a:effectLst/>
                <a:latin typeface="Georgia" panose="02040502050405020303" pitchFamily="18" charset="0"/>
              </a:rPr>
              <a:t>which websites are safe and which are not. Secondly, it scans emails and sites for phishing threats before you get the chance to insert your credentials, preventing you from falling victim to phishing attacks. Lastly, it sanitizes downloaded files that may contain malicious content. It essentially removes all worries when browsing the web and downloading files. </a:t>
            </a:r>
          </a:p>
          <a:p>
            <a:pPr algn="l">
              <a:buFont typeface="Arial" panose="020B0604020202020204" pitchFamily="34" charset="0"/>
              <a:buChar char="•"/>
            </a:pPr>
            <a:endParaRPr lang="en-US" sz="2000" b="0" i="0" dirty="0">
              <a:effectLst/>
              <a:latin typeface="Georgia" panose="02040502050405020303" pitchFamily="18" charset="0"/>
            </a:endParaRPr>
          </a:p>
          <a:p>
            <a:endParaRPr lang="en-IN" dirty="0"/>
          </a:p>
        </p:txBody>
      </p:sp>
    </p:spTree>
    <p:extLst>
      <p:ext uri="{BB962C8B-B14F-4D97-AF65-F5344CB8AC3E}">
        <p14:creationId xmlns:p14="http://schemas.microsoft.com/office/powerpoint/2010/main" val="18045954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BFFBDA7-E988-455B-9FE9-A2D089087ACD}"/>
              </a:ext>
            </a:extLst>
          </p:cNvPr>
          <p:cNvSpPr txBox="1"/>
          <p:nvPr/>
        </p:nvSpPr>
        <p:spPr>
          <a:xfrm>
            <a:off x="932329" y="690282"/>
            <a:ext cx="10730753" cy="5078313"/>
          </a:xfrm>
          <a:prstGeom prst="rect">
            <a:avLst/>
          </a:prstGeom>
          <a:noFill/>
        </p:spPr>
        <p:txBody>
          <a:bodyPr wrap="square" rtlCol="0">
            <a:spAutoFit/>
          </a:bodyPr>
          <a:lstStyle/>
          <a:p>
            <a:pPr algn="l"/>
            <a:r>
              <a:rPr lang="en-US" sz="2400" b="1" dirty="0">
                <a:latin typeface="Georgia" panose="02040502050405020303" pitchFamily="18" charset="0"/>
              </a:rPr>
              <a:t>Security Plug-ins</a:t>
            </a:r>
          </a:p>
          <a:p>
            <a:pPr algn="l"/>
            <a:endParaRPr lang="en-US" sz="2000" b="1" dirty="0">
              <a:latin typeface="Georgia" panose="02040502050405020303" pitchFamily="18" charset="0"/>
            </a:endParaRPr>
          </a:p>
          <a:p>
            <a:pPr algn="l">
              <a:buFont typeface="Arial" panose="020B0604020202020204" pitchFamily="34" charset="0"/>
              <a:buChar char="•"/>
            </a:pPr>
            <a:r>
              <a:rPr lang="en-US" sz="2000" b="1" dirty="0">
                <a:latin typeface="Georgia" panose="02040502050405020303" pitchFamily="18" charset="0"/>
              </a:rPr>
              <a:t>Web of Trust</a:t>
            </a:r>
            <a:r>
              <a:rPr lang="en-US" sz="2000" b="0" i="0" dirty="0">
                <a:effectLst/>
                <a:latin typeface="Georgia" panose="02040502050405020303" pitchFamily="18" charset="0"/>
              </a:rPr>
              <a:t> (also known as WOT) : </a:t>
            </a:r>
            <a:r>
              <a:rPr lang="en-US" sz="2000" dirty="0">
                <a:latin typeface="Georgia" panose="02040502050405020303" pitchFamily="18" charset="0"/>
              </a:rPr>
              <a:t>IT helps</a:t>
            </a:r>
            <a:r>
              <a:rPr lang="en-US" sz="2000" b="0" i="0" dirty="0">
                <a:effectLst/>
                <a:latin typeface="Georgia" panose="02040502050405020303" pitchFamily="18" charset="0"/>
              </a:rPr>
              <a:t> Internet Explorer, Firefox, Chrome, Safari, and Opera helps you determine if a website is safe to surf. The extension displays traffic signal icons next to URLs and links. Green means the site is reliable; yellow indicates you should proceed with caution; red translates to “steer clear.” The ratings are crowdsourced from WOT’s global user base and are supported by trusted third-party sources, such as up-to-date directories of malware sites.</a:t>
            </a:r>
          </a:p>
          <a:p>
            <a:pPr algn="l">
              <a:buFont typeface="Arial" panose="020B0604020202020204" pitchFamily="34" charset="0"/>
              <a:buChar char="•"/>
            </a:pPr>
            <a:endParaRPr lang="en-US" sz="2000" b="0" i="0" dirty="0">
              <a:effectLst/>
              <a:latin typeface="Georgia" panose="02040502050405020303" pitchFamily="18" charset="0"/>
            </a:endParaRPr>
          </a:p>
          <a:p>
            <a:pPr algn="l">
              <a:buFont typeface="Arial" panose="020B0604020202020204" pitchFamily="34" charset="0"/>
              <a:buChar char="•"/>
            </a:pPr>
            <a:r>
              <a:rPr lang="en-US" sz="2000" b="1" dirty="0">
                <a:latin typeface="Georgia" panose="02040502050405020303" pitchFamily="18" charset="0"/>
              </a:rPr>
              <a:t>LongURL.org</a:t>
            </a:r>
            <a:r>
              <a:rPr lang="en-US" sz="2000" u="none" strike="noStrike" dirty="0">
                <a:latin typeface="Georgia" panose="02040502050405020303" pitchFamily="18" charset="0"/>
              </a:rPr>
              <a:t> :</a:t>
            </a:r>
            <a:r>
              <a:rPr lang="en-US" sz="2000" b="0" i="0" dirty="0">
                <a:effectLst/>
                <a:latin typeface="Georgia" panose="02040502050405020303" pitchFamily="18" charset="0"/>
              </a:rPr>
              <a:t> If you’re on Twitter or Facebook and you see a shortened link embedded in an interesting post, you might click it without a second thought. But shortened links have been known to mask malicious links. If you’re unsure of a shortened link, copy and paste it into the search box at LongURL.org. You’ll see where the link would take you, without having to actually click through to the site. LongURL.org is also available as a Firefox browser extension.</a:t>
            </a:r>
          </a:p>
          <a:p>
            <a:endParaRPr lang="en-IN" sz="2000" dirty="0"/>
          </a:p>
        </p:txBody>
      </p:sp>
    </p:spTree>
    <p:extLst>
      <p:ext uri="{BB962C8B-B14F-4D97-AF65-F5344CB8AC3E}">
        <p14:creationId xmlns:p14="http://schemas.microsoft.com/office/powerpoint/2010/main" val="2898840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30E34CF-B9CB-4824-8820-64CB5CAEAD63}"/>
              </a:ext>
            </a:extLst>
          </p:cNvPr>
          <p:cNvSpPr txBox="1"/>
          <p:nvPr/>
        </p:nvSpPr>
        <p:spPr>
          <a:xfrm>
            <a:off x="681318" y="502024"/>
            <a:ext cx="11017624" cy="5570756"/>
          </a:xfrm>
          <a:prstGeom prst="rect">
            <a:avLst/>
          </a:prstGeom>
          <a:noFill/>
        </p:spPr>
        <p:txBody>
          <a:bodyPr wrap="square" rtlCol="0">
            <a:spAutoFit/>
          </a:bodyPr>
          <a:lstStyle/>
          <a:p>
            <a:pPr algn="ctr"/>
            <a:r>
              <a:rPr lang="en-IN" sz="3200" b="1" i="0" dirty="0">
                <a:effectLst/>
                <a:latin typeface="Roboto" panose="02000000000000000000" pitchFamily="2" charset="0"/>
              </a:rPr>
              <a:t>Anti-Exploit Programs</a:t>
            </a:r>
          </a:p>
          <a:p>
            <a:endParaRPr lang="en-IN" b="1" i="0" dirty="0">
              <a:effectLst/>
              <a:latin typeface="Roboto" panose="02000000000000000000" pitchFamily="2" charset="0"/>
            </a:endParaRPr>
          </a:p>
          <a:p>
            <a:r>
              <a:rPr lang="en-IN" sz="2400" b="1" i="0" dirty="0">
                <a:effectLst/>
                <a:latin typeface="Roboto" panose="02000000000000000000" pitchFamily="2" charset="0"/>
              </a:rPr>
              <a:t>Run an Anti-Exploit Program</a:t>
            </a:r>
          </a:p>
          <a:p>
            <a:pPr algn="l"/>
            <a:r>
              <a:rPr lang="en-US" sz="2400" b="0" i="0" dirty="0">
                <a:effectLst/>
                <a:latin typeface="Roboto" panose="02000000000000000000" pitchFamily="2" charset="0"/>
              </a:rPr>
              <a:t>Anti-exploit programs harden our web browser against some of the most common types of attacks. Rather than relying on antivirus-style blacklists of specific software and behavior, these programs just prevent certain types of unusual behavior from occurring.</a:t>
            </a:r>
          </a:p>
          <a:p>
            <a:pPr algn="l"/>
            <a:r>
              <a:rPr lang="en-US" sz="2400" dirty="0">
                <a:latin typeface="Roboto" panose="02000000000000000000" pitchFamily="2" charset="0"/>
              </a:rPr>
              <a:t>O</a:t>
            </a:r>
            <a:r>
              <a:rPr lang="en-US" sz="2400" b="0" i="0" dirty="0">
                <a:effectLst/>
                <a:latin typeface="Roboto" panose="02000000000000000000" pitchFamily="2" charset="0"/>
              </a:rPr>
              <a:t>ur two big options here are </a:t>
            </a:r>
            <a:r>
              <a:rPr lang="en-US" sz="2400" dirty="0">
                <a:latin typeface="Roboto" panose="02000000000000000000" pitchFamily="2" charset="0"/>
              </a:rPr>
              <a:t>Microsoft’s EMET and Malwarebytes Anti-Exploit</a:t>
            </a:r>
            <a:r>
              <a:rPr lang="en-US" sz="2400" b="0" i="0" dirty="0">
                <a:effectLst/>
                <a:latin typeface="Roboto" panose="02000000000000000000" pitchFamily="2" charset="0"/>
              </a:rPr>
              <a:t>. Both are free for browser protection, but Anti-Exploit is easier to set up and is more of a consumer product . Anti-exploit programs can help protect you from serious attacks, and Malwarebytes Anti-Exploit offers a good free version and provides solid protection. Every Windows user can get additional protection against the main attacks online — browser and plug-in exploits.</a:t>
            </a:r>
          </a:p>
          <a:p>
            <a:endParaRPr lang="en-IN" sz="2400" b="1" i="0" dirty="0">
              <a:effectLst/>
              <a:latin typeface="Roboto" panose="02000000000000000000" pitchFamily="2" charset="0"/>
            </a:endParaRPr>
          </a:p>
          <a:p>
            <a:endParaRPr lang="en-IN" dirty="0"/>
          </a:p>
        </p:txBody>
      </p:sp>
    </p:spTree>
    <p:extLst>
      <p:ext uri="{BB962C8B-B14F-4D97-AF65-F5344CB8AC3E}">
        <p14:creationId xmlns:p14="http://schemas.microsoft.com/office/powerpoint/2010/main" val="31717706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075363-50DE-4AAB-B6C9-83DF77946454}"/>
              </a:ext>
            </a:extLst>
          </p:cNvPr>
          <p:cNvSpPr txBox="1"/>
          <p:nvPr/>
        </p:nvSpPr>
        <p:spPr>
          <a:xfrm>
            <a:off x="519954" y="304801"/>
            <a:ext cx="10999694" cy="461665"/>
          </a:xfrm>
          <a:prstGeom prst="rect">
            <a:avLst/>
          </a:prstGeom>
          <a:noFill/>
        </p:spPr>
        <p:txBody>
          <a:bodyPr wrap="square" rtlCol="0">
            <a:spAutoFit/>
          </a:bodyPr>
          <a:lstStyle/>
          <a:p>
            <a:pPr algn="ctr"/>
            <a:r>
              <a:rPr lang="en-IN" sz="2400" b="1" dirty="0"/>
              <a:t> EXTENSIONS TO PROTECT OUR BROWSER PRIVACY</a:t>
            </a:r>
            <a:endParaRPr lang="en-IN" sz="2000" b="1" dirty="0"/>
          </a:p>
        </p:txBody>
      </p:sp>
      <p:sp>
        <p:nvSpPr>
          <p:cNvPr id="3" name="TextBox 2">
            <a:extLst>
              <a:ext uri="{FF2B5EF4-FFF2-40B4-BE49-F238E27FC236}">
                <a16:creationId xmlns:a16="http://schemas.microsoft.com/office/drawing/2014/main" id="{6B33994A-CA58-42CD-BE93-D887C621E208}"/>
              </a:ext>
            </a:extLst>
          </p:cNvPr>
          <p:cNvSpPr txBox="1"/>
          <p:nvPr/>
        </p:nvSpPr>
        <p:spPr>
          <a:xfrm>
            <a:off x="627529" y="977153"/>
            <a:ext cx="10990730" cy="5324535"/>
          </a:xfrm>
          <a:prstGeom prst="rect">
            <a:avLst/>
          </a:prstGeom>
          <a:noFill/>
        </p:spPr>
        <p:txBody>
          <a:bodyPr wrap="square" rtlCol="0">
            <a:spAutoFit/>
          </a:bodyPr>
          <a:lstStyle/>
          <a:p>
            <a:r>
              <a:rPr lang="en-IN" sz="2000" b="1" i="0" dirty="0">
                <a:effectLst/>
                <a:latin typeface="aktiv-grotesk"/>
              </a:rPr>
              <a:t>1.Privacy Badger : </a:t>
            </a:r>
            <a:r>
              <a:rPr lang="en-US" sz="2000" b="0" i="0" dirty="0">
                <a:effectLst/>
                <a:latin typeface="Helvetica Neue"/>
              </a:rPr>
              <a:t>extension developed by the EFF, </a:t>
            </a:r>
            <a:r>
              <a:rPr lang="en-US" sz="2000" b="0" i="0" u="none" strike="noStrike" dirty="0">
                <a:effectLst/>
                <a:latin typeface="Helvetica Neue"/>
                <a:hlinkClick r:id="rId2">
                  <a:extLst>
                    <a:ext uri="{A12FA001-AC4F-418D-AE19-62706E023703}">
                      <ahyp:hlinkClr xmlns:ahyp="http://schemas.microsoft.com/office/drawing/2018/hyperlinkcolor" val="tx"/>
                    </a:ext>
                  </a:extLst>
                </a:hlinkClick>
              </a:rPr>
              <a:t>Privacy Badger</a:t>
            </a:r>
            <a:r>
              <a:rPr lang="en-US" sz="2000" b="0" i="0" dirty="0">
                <a:effectLst/>
                <a:latin typeface="Helvetica Neue"/>
              </a:rPr>
              <a:t> is one of the best all-in-one extensions for blocking invisible third-party trackers on websites. This extension looks at all the components of a web page and learns which ones track </a:t>
            </a:r>
            <a:r>
              <a:rPr lang="en-US" sz="2000" dirty="0">
                <a:latin typeface="Helvetica Neue"/>
              </a:rPr>
              <a:t>us</a:t>
            </a:r>
            <a:r>
              <a:rPr lang="en-US" sz="2000" b="0" i="0" dirty="0">
                <a:effectLst/>
                <a:latin typeface="Helvetica Neue"/>
              </a:rPr>
              <a:t> from website to website and then blocks them from loading in the browser. </a:t>
            </a:r>
          </a:p>
          <a:p>
            <a:endParaRPr lang="en-US" sz="2000" dirty="0">
              <a:latin typeface="Helvetica Neue"/>
            </a:endParaRPr>
          </a:p>
          <a:p>
            <a:r>
              <a:rPr lang="en-US" sz="2000" b="1" i="0" dirty="0">
                <a:effectLst/>
                <a:latin typeface="Helvetica Neue"/>
              </a:rPr>
              <a:t>2.</a:t>
            </a:r>
            <a:r>
              <a:rPr lang="en-IN" sz="2000" b="1" i="0" dirty="0">
                <a:effectLst/>
                <a:latin typeface="aktiv-grotesk"/>
              </a:rPr>
              <a:t> </a:t>
            </a:r>
            <a:r>
              <a:rPr lang="en-IN" sz="2000" b="1" i="0" dirty="0" err="1">
                <a:effectLst/>
                <a:latin typeface="aktiv-grotesk"/>
              </a:rPr>
              <a:t>uBlock</a:t>
            </a:r>
            <a:r>
              <a:rPr lang="en-IN" sz="2000" b="1" i="0" dirty="0">
                <a:effectLst/>
                <a:latin typeface="aktiv-grotesk"/>
              </a:rPr>
              <a:t> Origin : </a:t>
            </a:r>
            <a:r>
              <a:rPr lang="en-US" sz="2000" dirty="0" err="1">
                <a:latin typeface="Helvetica Neue"/>
              </a:rPr>
              <a:t>uBlock</a:t>
            </a:r>
            <a:r>
              <a:rPr lang="en-US" sz="2000" dirty="0">
                <a:latin typeface="Helvetica Neue"/>
              </a:rPr>
              <a:t> Origin</a:t>
            </a:r>
            <a:r>
              <a:rPr lang="en-US" sz="2000" b="0" i="0" dirty="0">
                <a:effectLst/>
                <a:latin typeface="Helvetica Neue"/>
              </a:rPr>
              <a:t> is a lightweight, simple but effective, and widely trusted ad blocker used by millions of people, but it also has a ton of granularity and customizability for the more advanced user. </a:t>
            </a:r>
            <a:r>
              <a:rPr lang="en-US" sz="2000" b="0" i="0" dirty="0" err="1">
                <a:effectLst/>
                <a:latin typeface="Helvetica Neue"/>
              </a:rPr>
              <a:t>uBlock</a:t>
            </a:r>
            <a:r>
              <a:rPr lang="en-US" sz="2000" b="0" i="0" dirty="0">
                <a:effectLst/>
                <a:latin typeface="Helvetica Neue"/>
              </a:rPr>
              <a:t> Origin works in </a:t>
            </a:r>
            <a:r>
              <a:rPr lang="en-US" sz="2000" dirty="0">
                <a:latin typeface="Helvetica Neue"/>
              </a:rPr>
              <a:t>Chrome</a:t>
            </a:r>
            <a:r>
              <a:rPr lang="en-US" sz="2000" b="0" i="0" dirty="0">
                <a:effectLst/>
                <a:latin typeface="Helvetica Neue"/>
              </a:rPr>
              <a:t>, </a:t>
            </a:r>
            <a:r>
              <a:rPr lang="en-US" sz="2000" dirty="0">
                <a:latin typeface="Helvetica Neue"/>
              </a:rPr>
              <a:t>Firefox</a:t>
            </a:r>
            <a:r>
              <a:rPr lang="en-US" sz="2000" b="0" i="0" dirty="0">
                <a:effectLst/>
                <a:latin typeface="Helvetica Neue"/>
              </a:rPr>
              <a:t> and </a:t>
            </a:r>
            <a:r>
              <a:rPr lang="en-US" sz="2000" dirty="0">
                <a:latin typeface="Helvetica Neue"/>
              </a:rPr>
              <a:t>Edge</a:t>
            </a:r>
            <a:r>
              <a:rPr lang="en-US" sz="2000" b="0" i="0" dirty="0">
                <a:effectLst/>
                <a:latin typeface="Helvetica Neue"/>
              </a:rPr>
              <a:t> and the </a:t>
            </a:r>
            <a:r>
              <a:rPr lang="en-US" sz="2000" dirty="0">
                <a:latin typeface="Helvetica Neue"/>
              </a:rPr>
              <a:t>extension is open-source</a:t>
            </a:r>
            <a:r>
              <a:rPr lang="en-US" sz="2000" b="0" i="0" dirty="0">
                <a:effectLst/>
                <a:latin typeface="Helvetica Neue"/>
              </a:rPr>
              <a:t> .</a:t>
            </a:r>
          </a:p>
          <a:p>
            <a:endParaRPr lang="en-US" sz="2000" dirty="0">
              <a:latin typeface="Helvetica Neue"/>
            </a:endParaRPr>
          </a:p>
          <a:p>
            <a:r>
              <a:rPr lang="en-IN" sz="2000" b="1" i="0" dirty="0">
                <a:effectLst/>
                <a:latin typeface="aktiv-grotesk"/>
              </a:rPr>
              <a:t>3.PixelBlock and </a:t>
            </a:r>
            <a:r>
              <a:rPr lang="en-IN" sz="2000" b="1" i="0" dirty="0" err="1">
                <a:effectLst/>
                <a:latin typeface="aktiv-grotesk"/>
              </a:rPr>
              <a:t>ClearURLs</a:t>
            </a:r>
            <a:r>
              <a:rPr lang="en-IN" sz="2000" b="1" dirty="0">
                <a:latin typeface="aktiv-grotesk"/>
              </a:rPr>
              <a:t> : </a:t>
            </a:r>
            <a:r>
              <a:rPr lang="en-US" sz="2000" b="0" i="0" dirty="0">
                <a:effectLst/>
                <a:latin typeface="Helvetica Neue"/>
              </a:rPr>
              <a:t>Most emails from brand names come with tiny, often invisible pixels that alerts the sender when </a:t>
            </a:r>
            <a:r>
              <a:rPr lang="en-US" sz="2000" dirty="0">
                <a:latin typeface="Helvetica Neue"/>
              </a:rPr>
              <a:t>we</a:t>
            </a:r>
            <a:r>
              <a:rPr lang="en-US" sz="2000" b="0" i="0" dirty="0">
                <a:effectLst/>
                <a:latin typeface="Helvetica Neue"/>
              </a:rPr>
              <a:t>’ve opened them. </a:t>
            </a:r>
            <a:r>
              <a:rPr lang="en-US" sz="2000" dirty="0" err="1">
                <a:latin typeface="Helvetica Neue"/>
              </a:rPr>
              <a:t>PixelBlock</a:t>
            </a:r>
            <a:r>
              <a:rPr lang="en-US" sz="2000" b="0" i="0" dirty="0">
                <a:effectLst/>
                <a:latin typeface="Helvetica Neue"/>
              </a:rPr>
              <a:t> is a simple extension for Chrome browsers that simply blocks these hidden email open trackers from loading and working. Every time it detects a tracker, it displays a small red eye in your inbox</a:t>
            </a:r>
            <a:r>
              <a:rPr lang="en-IN" sz="2000" b="1" dirty="0">
                <a:latin typeface="aktiv-grotesk"/>
              </a:rPr>
              <a:t>.</a:t>
            </a:r>
          </a:p>
          <a:p>
            <a:r>
              <a:rPr lang="en-IN" sz="2000" b="1" i="0" dirty="0">
                <a:effectLst/>
                <a:latin typeface="aktiv-grotesk"/>
              </a:rPr>
              <a:t>           </a:t>
            </a:r>
            <a:r>
              <a:rPr lang="en-US" sz="2000" b="0" i="0" dirty="0">
                <a:effectLst/>
                <a:latin typeface="Helvetica Neue"/>
              </a:rPr>
              <a:t>Most of these same emails also come with tracking links that alerts the sender which links </a:t>
            </a:r>
            <a:r>
              <a:rPr lang="en-US" sz="2000" dirty="0">
                <a:latin typeface="Helvetica Neue"/>
              </a:rPr>
              <a:t>we</a:t>
            </a:r>
            <a:r>
              <a:rPr lang="en-US" sz="2000" b="0" i="0" dirty="0">
                <a:effectLst/>
                <a:latin typeface="Helvetica Neue"/>
              </a:rPr>
              <a:t> click. </a:t>
            </a:r>
            <a:r>
              <a:rPr lang="en-US" sz="2000" dirty="0" err="1">
                <a:latin typeface="Helvetica Neue"/>
              </a:rPr>
              <a:t>ClearURLs</a:t>
            </a:r>
            <a:r>
              <a:rPr lang="en-US" sz="2000" b="0" i="0" dirty="0">
                <a:effectLst/>
                <a:latin typeface="Helvetica Neue"/>
              </a:rPr>
              <a:t>, available for </a:t>
            </a:r>
            <a:r>
              <a:rPr lang="en-US" sz="2000" dirty="0">
                <a:latin typeface="Helvetica Neue"/>
              </a:rPr>
              <a:t>Chrome</a:t>
            </a:r>
            <a:r>
              <a:rPr lang="en-US" sz="2000" b="0" i="0" dirty="0">
                <a:effectLst/>
                <a:latin typeface="Helvetica Neue"/>
              </a:rPr>
              <a:t>, </a:t>
            </a:r>
            <a:r>
              <a:rPr lang="en-US" sz="2000" dirty="0">
                <a:latin typeface="Helvetica Neue"/>
              </a:rPr>
              <a:t>Firefox</a:t>
            </a:r>
            <a:r>
              <a:rPr lang="en-US" sz="2000" b="0" i="0" dirty="0">
                <a:effectLst/>
                <a:latin typeface="Helvetica Neue"/>
              </a:rPr>
              <a:t> and </a:t>
            </a:r>
            <a:r>
              <a:rPr lang="en-US" sz="2000" dirty="0">
                <a:latin typeface="Helvetica Neue"/>
              </a:rPr>
              <a:t>Edge</a:t>
            </a:r>
            <a:r>
              <a:rPr lang="en-US" sz="2000" b="0" i="0" dirty="0">
                <a:effectLst/>
                <a:latin typeface="Helvetica Neue"/>
              </a:rPr>
              <a:t>, sits in your browser and silently removes the tracking junk from every link in your browser and our inbox.</a:t>
            </a:r>
            <a:endParaRPr lang="en-IN" sz="2000" b="1" i="0" dirty="0">
              <a:effectLst/>
              <a:latin typeface="aktiv-grotesk"/>
            </a:endParaRPr>
          </a:p>
        </p:txBody>
      </p:sp>
    </p:spTree>
    <p:extLst>
      <p:ext uri="{BB962C8B-B14F-4D97-AF65-F5344CB8AC3E}">
        <p14:creationId xmlns:p14="http://schemas.microsoft.com/office/powerpoint/2010/main" val="1858988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FA5F9DE-F50A-4DF1-AEC5-31F13B5DDEEF}"/>
              </a:ext>
            </a:extLst>
          </p:cNvPr>
          <p:cNvSpPr txBox="1"/>
          <p:nvPr/>
        </p:nvSpPr>
        <p:spPr>
          <a:xfrm>
            <a:off x="1837766" y="277016"/>
            <a:ext cx="7817222" cy="461665"/>
          </a:xfrm>
          <a:prstGeom prst="rect">
            <a:avLst/>
          </a:prstGeom>
          <a:noFill/>
        </p:spPr>
        <p:txBody>
          <a:bodyPr wrap="square">
            <a:spAutoFit/>
          </a:bodyPr>
          <a:lstStyle/>
          <a:p>
            <a:pPr algn="ctr"/>
            <a:r>
              <a:rPr lang="en-IN" sz="2400" b="1" dirty="0"/>
              <a:t>EXTENSIONS TO PROTECT OUR BROWSER PRIVACY</a:t>
            </a:r>
            <a:endParaRPr lang="en-IN" sz="2000" b="1" dirty="0"/>
          </a:p>
        </p:txBody>
      </p:sp>
      <p:sp>
        <p:nvSpPr>
          <p:cNvPr id="4" name="TextBox 3">
            <a:extLst>
              <a:ext uri="{FF2B5EF4-FFF2-40B4-BE49-F238E27FC236}">
                <a16:creationId xmlns:a16="http://schemas.microsoft.com/office/drawing/2014/main" id="{087D519A-6868-43CC-AA44-FCCC302FC987}"/>
              </a:ext>
            </a:extLst>
          </p:cNvPr>
          <p:cNvSpPr txBox="1"/>
          <p:nvPr/>
        </p:nvSpPr>
        <p:spPr>
          <a:xfrm>
            <a:off x="878541" y="815788"/>
            <a:ext cx="10399059" cy="6370975"/>
          </a:xfrm>
          <a:prstGeom prst="rect">
            <a:avLst/>
          </a:prstGeom>
          <a:noFill/>
        </p:spPr>
        <p:txBody>
          <a:bodyPr wrap="square" rtlCol="0">
            <a:spAutoFit/>
          </a:bodyPr>
          <a:lstStyle/>
          <a:p>
            <a:r>
              <a:rPr lang="en-IN" sz="2800" b="1" i="0" dirty="0">
                <a:effectLst/>
                <a:latin typeface="aktiv-grotesk"/>
              </a:rPr>
              <a:t>Firefox Multi-Account Containers </a:t>
            </a:r>
            <a:r>
              <a:rPr lang="en-IN" sz="2400" b="1" i="0" dirty="0">
                <a:effectLst/>
                <a:latin typeface="aktiv-grotesk"/>
              </a:rPr>
              <a:t>: </a:t>
            </a:r>
            <a:r>
              <a:rPr lang="en-US" sz="2400" b="0" i="0" u="none" strike="noStrike" dirty="0">
                <a:effectLst/>
                <a:latin typeface="Helvetica Neue"/>
                <a:hlinkClick r:id="rId2">
                  <a:extLst>
                    <a:ext uri="{A12FA001-AC4F-418D-AE19-62706E023703}">
                      <ahyp:hlinkClr xmlns:ahyp="http://schemas.microsoft.com/office/drawing/2018/hyperlinkcolor" val="tx"/>
                    </a:ext>
                  </a:extLst>
                </a:hlinkClick>
              </a:rPr>
              <a:t>Multi-Account Containers</a:t>
            </a:r>
            <a:r>
              <a:rPr lang="en-US" sz="2400" b="0" i="0" dirty="0">
                <a:effectLst/>
                <a:latin typeface="Helvetica Neue"/>
              </a:rPr>
              <a:t>, built by the browser maker itself to help </a:t>
            </a:r>
            <a:r>
              <a:rPr lang="en-US" sz="2400" dirty="0">
                <a:latin typeface="Helvetica Neue"/>
              </a:rPr>
              <a:t>us</a:t>
            </a:r>
            <a:r>
              <a:rPr lang="en-US" sz="2400" b="0" i="0" dirty="0">
                <a:effectLst/>
                <a:latin typeface="Helvetica Neue"/>
              </a:rPr>
              <a:t> isolate our browsing activity. That means </a:t>
            </a:r>
            <a:r>
              <a:rPr lang="en-US" sz="2400" dirty="0">
                <a:latin typeface="Helvetica Neue"/>
              </a:rPr>
              <a:t>we</a:t>
            </a:r>
            <a:r>
              <a:rPr lang="en-US" sz="2400" b="0" i="0" dirty="0">
                <a:effectLst/>
                <a:latin typeface="Helvetica Neue"/>
              </a:rPr>
              <a:t> can have one container full of our work tabs in your browser, and another container with all of our personal tabs, saving </a:t>
            </a:r>
            <a:r>
              <a:rPr lang="en-US" sz="2400" dirty="0">
                <a:latin typeface="Helvetica Neue"/>
              </a:rPr>
              <a:t>us</a:t>
            </a:r>
            <a:r>
              <a:rPr lang="en-US" sz="2400" b="0" i="0" dirty="0">
                <a:effectLst/>
                <a:latin typeface="Helvetica Neue"/>
              </a:rPr>
              <a:t> from having to use multiple browsers. Containers also keep our </a:t>
            </a:r>
            <a:r>
              <a:rPr lang="en-US" sz="2400" dirty="0">
                <a:latin typeface="Helvetica Neue"/>
              </a:rPr>
              <a:t>private personal browsing separate</a:t>
            </a:r>
            <a:r>
              <a:rPr lang="en-US" sz="2400" b="0" i="0" dirty="0">
                <a:effectLst/>
                <a:latin typeface="Helvetica Neue"/>
              </a:rPr>
              <a:t> from our work browsing activity. It also means we can put sites like Facebook or Google in a container, making it far more difficult for them to see which websites you visit.</a:t>
            </a:r>
          </a:p>
          <a:p>
            <a:endParaRPr lang="en-US" sz="2400" dirty="0">
              <a:latin typeface="Helvetica Neue"/>
            </a:endParaRPr>
          </a:p>
          <a:p>
            <a:r>
              <a:rPr lang="en-IN" sz="3200" b="1" i="0" dirty="0">
                <a:effectLst/>
                <a:latin typeface="aktiv-grotesk"/>
              </a:rPr>
              <a:t>HTTPS Everywhere </a:t>
            </a:r>
            <a:r>
              <a:rPr lang="en-IN" sz="2400" b="1" i="0" dirty="0">
                <a:effectLst/>
                <a:latin typeface="aktiv-grotesk"/>
              </a:rPr>
              <a:t>: </a:t>
            </a:r>
            <a:r>
              <a:rPr lang="en-US" sz="2400" b="0" i="0" dirty="0">
                <a:effectLst/>
                <a:latin typeface="Helvetica Neue"/>
              </a:rPr>
              <a:t> </a:t>
            </a:r>
            <a:r>
              <a:rPr lang="en-US" sz="2400" b="0" i="0" u="none" strike="noStrike" dirty="0">
                <a:effectLst/>
                <a:latin typeface="Helvetica Neue"/>
                <a:hlinkClick r:id="rId3">
                  <a:extLst>
                    <a:ext uri="{A12FA001-AC4F-418D-AE19-62706E023703}">
                      <ahyp:hlinkClr xmlns:ahyp="http://schemas.microsoft.com/office/drawing/2018/hyperlinkcolor" val="tx"/>
                    </a:ext>
                  </a:extLst>
                </a:hlinkClick>
              </a:rPr>
              <a:t>HTTPS Everywhere</a:t>
            </a:r>
            <a:r>
              <a:rPr lang="en-US" sz="2400" b="0" i="0" dirty="0">
                <a:effectLst/>
                <a:latin typeface="Helvetica Neue"/>
              </a:rPr>
              <a:t> is a browser extension made by the nonprofit internet group the Electronic Frontier Foundation that automatically loads websites over HTTPS where it’s offered and allows </a:t>
            </a:r>
            <a:r>
              <a:rPr lang="en-US" sz="2400" dirty="0">
                <a:latin typeface="Helvetica Neue"/>
              </a:rPr>
              <a:t>us</a:t>
            </a:r>
            <a:r>
              <a:rPr lang="en-US" sz="2400" b="0" i="0" dirty="0">
                <a:effectLst/>
                <a:latin typeface="Helvetica Neue"/>
              </a:rPr>
              <a:t> to block the minority of websites that don’t support HTTPS. The extension is </a:t>
            </a:r>
            <a:r>
              <a:rPr lang="en-US" sz="2400" b="0" i="0" u="none" strike="noStrike" dirty="0">
                <a:effectLst/>
                <a:latin typeface="Helvetica Neue"/>
                <a:hlinkClick r:id="rId3">
                  <a:extLst>
                    <a:ext uri="{A12FA001-AC4F-418D-AE19-62706E023703}">
                      <ahyp:hlinkClr xmlns:ahyp="http://schemas.microsoft.com/office/drawing/2018/hyperlinkcolor" val="tx"/>
                    </a:ext>
                  </a:extLst>
                </a:hlinkClick>
              </a:rPr>
              <a:t>supported by most browsers</a:t>
            </a:r>
            <a:r>
              <a:rPr lang="en-US" sz="2400" b="0" i="0" dirty="0">
                <a:effectLst/>
                <a:latin typeface="Helvetica Neue"/>
              </a:rPr>
              <a:t>, including Chrome, Firefox, Edge and Opera.</a:t>
            </a:r>
            <a:endParaRPr lang="en-IN" sz="2400" b="1" i="0" dirty="0">
              <a:effectLst/>
              <a:latin typeface="aktiv-grotesk"/>
            </a:endParaRPr>
          </a:p>
          <a:p>
            <a:endParaRPr lang="en-IN" b="1" i="0" dirty="0">
              <a:effectLst/>
              <a:latin typeface="aktiv-grotesk"/>
            </a:endParaRPr>
          </a:p>
          <a:p>
            <a:endParaRPr lang="en-IN" dirty="0"/>
          </a:p>
        </p:txBody>
      </p:sp>
    </p:spTree>
    <p:extLst>
      <p:ext uri="{BB962C8B-B14F-4D97-AF65-F5344CB8AC3E}">
        <p14:creationId xmlns:p14="http://schemas.microsoft.com/office/powerpoint/2010/main" val="667436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C42A0D5-CCA7-45EF-A24F-663928ACFA37}"/>
              </a:ext>
            </a:extLst>
          </p:cNvPr>
          <p:cNvSpPr txBox="1"/>
          <p:nvPr/>
        </p:nvSpPr>
        <p:spPr>
          <a:xfrm>
            <a:off x="2277035" y="322729"/>
            <a:ext cx="7297271" cy="1015663"/>
          </a:xfrm>
          <a:prstGeom prst="rect">
            <a:avLst/>
          </a:prstGeom>
          <a:noFill/>
        </p:spPr>
        <p:txBody>
          <a:bodyPr wrap="square" rtlCol="0">
            <a:spAutoFit/>
          </a:bodyPr>
          <a:lstStyle/>
          <a:p>
            <a:pPr algn="ctr"/>
            <a:r>
              <a:rPr lang="en-US" sz="6000" b="1" dirty="0"/>
              <a:t>CONCLUSION</a:t>
            </a:r>
            <a:endParaRPr lang="en-IN" sz="6000" b="1" dirty="0"/>
          </a:p>
        </p:txBody>
      </p:sp>
      <p:sp>
        <p:nvSpPr>
          <p:cNvPr id="3" name="TextBox 2">
            <a:extLst>
              <a:ext uri="{FF2B5EF4-FFF2-40B4-BE49-F238E27FC236}">
                <a16:creationId xmlns:a16="http://schemas.microsoft.com/office/drawing/2014/main" id="{6EFA4383-86AA-4A42-9D42-8B490E58A464}"/>
              </a:ext>
            </a:extLst>
          </p:cNvPr>
          <p:cNvSpPr txBox="1"/>
          <p:nvPr/>
        </p:nvSpPr>
        <p:spPr>
          <a:xfrm>
            <a:off x="1138517" y="1792941"/>
            <a:ext cx="9646024" cy="2554545"/>
          </a:xfrm>
          <a:prstGeom prst="rect">
            <a:avLst/>
          </a:prstGeom>
          <a:noFill/>
        </p:spPr>
        <p:txBody>
          <a:bodyPr wrap="square" rtlCol="0">
            <a:spAutoFit/>
          </a:bodyPr>
          <a:lstStyle/>
          <a:p>
            <a:r>
              <a:rPr lang="en-US" sz="3200" dirty="0"/>
              <a:t>We have discussed various methods to secure our browser various tools and extensions used for securing it. We have studied browser security and ways to secure our browsers from breaching for safe browsing experience. </a:t>
            </a:r>
            <a:endParaRPr lang="en-IN" sz="3200" dirty="0"/>
          </a:p>
        </p:txBody>
      </p:sp>
    </p:spTree>
    <p:extLst>
      <p:ext uri="{BB962C8B-B14F-4D97-AF65-F5344CB8AC3E}">
        <p14:creationId xmlns:p14="http://schemas.microsoft.com/office/powerpoint/2010/main" val="1231295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EE7158-D259-4CA0-862B-B9661662A5D1}"/>
              </a:ext>
            </a:extLst>
          </p:cNvPr>
          <p:cNvSpPr txBox="1"/>
          <p:nvPr/>
        </p:nvSpPr>
        <p:spPr>
          <a:xfrm>
            <a:off x="2160494" y="2294965"/>
            <a:ext cx="7862047" cy="1569660"/>
          </a:xfrm>
          <a:prstGeom prst="rect">
            <a:avLst/>
          </a:prstGeom>
          <a:noFill/>
        </p:spPr>
        <p:txBody>
          <a:bodyPr wrap="square" rtlCol="0">
            <a:spAutoFit/>
          </a:bodyPr>
          <a:lstStyle/>
          <a:p>
            <a:pPr algn="ctr"/>
            <a:r>
              <a:rPr lang="en-US" sz="9600" dirty="0"/>
              <a:t>THANK YOU</a:t>
            </a:r>
            <a:endParaRPr lang="en-IN" dirty="0"/>
          </a:p>
        </p:txBody>
      </p:sp>
    </p:spTree>
    <p:extLst>
      <p:ext uri="{BB962C8B-B14F-4D97-AF65-F5344CB8AC3E}">
        <p14:creationId xmlns:p14="http://schemas.microsoft.com/office/powerpoint/2010/main" val="3649014845"/>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303</TotalTime>
  <Words>1676</Words>
  <Application>Microsoft Office PowerPoint</Application>
  <PresentationFormat>Widescreen</PresentationFormat>
  <Paragraphs>62</Paragraphs>
  <Slides>14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aktiv-grotesk</vt:lpstr>
      <vt:lpstr>Arial</vt:lpstr>
      <vt:lpstr>Century Gothic</vt:lpstr>
      <vt:lpstr>Footlight MT Light</vt:lpstr>
      <vt:lpstr>Georgia</vt:lpstr>
      <vt:lpstr>Helvetica Neue</vt:lpstr>
      <vt:lpstr>Roboto</vt:lpstr>
      <vt:lpstr>Source Sans Pro</vt:lpstr>
      <vt:lpstr>Wingdings 3</vt:lpstr>
      <vt:lpstr>Slice</vt:lpstr>
      <vt:lpstr>CYBER SECURITY</vt:lpstr>
      <vt:lpstr>PowerPoint Presentation</vt:lpstr>
      <vt:lpstr>BROWSER  SAFETY </vt:lpstr>
      <vt:lpstr>PowerPoint Presentation</vt:lpstr>
      <vt:lpstr>Web browsers can be breached in one or more of the following ways:  1.Operating system is breached and malware is reading/modifying the browser memory space in privilege mode 2.Operating system has a malware running as a background process, which is reading/modifying the browser memory space in privileged mode 3.Main browser executable can be hacked 4.Browser components may be hacked 5.Browser plugins can be hacked 6.Browser network communications could be intercepted outside the machine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SECURITY</dc:title>
  <dc:creator>bhupesh borkar</dc:creator>
  <cp:lastModifiedBy>bhupesh borkar</cp:lastModifiedBy>
  <cp:revision>23</cp:revision>
  <dcterms:created xsi:type="dcterms:W3CDTF">2022-04-06T16:54:43Z</dcterms:created>
  <dcterms:modified xsi:type="dcterms:W3CDTF">2025-12-23T08:19:17Z</dcterms:modified>
</cp:coreProperties>
</file>