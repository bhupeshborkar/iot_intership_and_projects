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24E8E2-D517-41D1-B092-A8FAAEF9101D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</dgm:pt>
    <dgm:pt modelId="{147E093F-7467-4E25-98FC-F320E935E34F}">
      <dgm:prSet phldrT="[Text]"/>
      <dgm:spPr/>
      <dgm:t>
        <a:bodyPr/>
        <a:lstStyle/>
        <a:p>
          <a:r>
            <a:rPr lang="en-GB" b="1" dirty="0"/>
            <a:t>Packet filtering firewall</a:t>
          </a:r>
          <a:endParaRPr lang="en-GB" dirty="0"/>
        </a:p>
      </dgm:t>
    </dgm:pt>
    <dgm:pt modelId="{A7BD2060-5E38-4B50-8DE5-1C57BB2C2E87}" type="parTrans" cxnId="{3E6DD938-0756-45B4-9C64-678DA63DEBD7}">
      <dgm:prSet/>
      <dgm:spPr/>
      <dgm:t>
        <a:bodyPr/>
        <a:lstStyle/>
        <a:p>
          <a:endParaRPr lang="en-GB"/>
        </a:p>
      </dgm:t>
    </dgm:pt>
    <dgm:pt modelId="{B54EE03F-0431-49B6-A29D-631F44519344}" type="sibTrans" cxnId="{3E6DD938-0756-45B4-9C64-678DA63DEBD7}">
      <dgm:prSet/>
      <dgm:spPr/>
      <dgm:t>
        <a:bodyPr/>
        <a:lstStyle/>
        <a:p>
          <a:endParaRPr lang="en-GB"/>
        </a:p>
      </dgm:t>
    </dgm:pt>
    <dgm:pt modelId="{C934E262-1D04-4BFA-92D8-4D1B74159B01}">
      <dgm:prSet phldrT="[Text]"/>
      <dgm:spPr/>
      <dgm:t>
        <a:bodyPr/>
        <a:lstStyle/>
        <a:p>
          <a:r>
            <a:rPr lang="en-GB" b="1" dirty="0" err="1"/>
            <a:t>Stateful</a:t>
          </a:r>
          <a:r>
            <a:rPr lang="en-GB" b="1" dirty="0"/>
            <a:t> firewall</a:t>
          </a:r>
          <a:endParaRPr lang="en-GB" dirty="0"/>
        </a:p>
      </dgm:t>
    </dgm:pt>
    <dgm:pt modelId="{E3387EAD-91A4-4AEC-A13C-98AC1C05BC1A}" type="parTrans" cxnId="{AE35F347-A943-4F6A-8543-CF9058419856}">
      <dgm:prSet/>
      <dgm:spPr/>
      <dgm:t>
        <a:bodyPr/>
        <a:lstStyle/>
        <a:p>
          <a:endParaRPr lang="en-GB"/>
        </a:p>
      </dgm:t>
    </dgm:pt>
    <dgm:pt modelId="{5B6D564E-66CB-4032-81B1-55E249609B74}" type="sibTrans" cxnId="{AE35F347-A943-4F6A-8543-CF9058419856}">
      <dgm:prSet/>
      <dgm:spPr/>
      <dgm:t>
        <a:bodyPr/>
        <a:lstStyle/>
        <a:p>
          <a:endParaRPr lang="en-GB"/>
        </a:p>
      </dgm:t>
    </dgm:pt>
    <dgm:pt modelId="{D4CE9DF7-3285-45CD-9D87-2ED225B7E1A6}">
      <dgm:prSet/>
      <dgm:spPr/>
      <dgm:t>
        <a:bodyPr/>
        <a:lstStyle/>
        <a:p>
          <a:r>
            <a:rPr lang="en-GB" b="1"/>
            <a:t>Deep packet inspection firewall</a:t>
          </a:r>
          <a:endParaRPr lang="en-GB"/>
        </a:p>
      </dgm:t>
    </dgm:pt>
    <dgm:pt modelId="{4614C422-7252-443E-9731-701494B13332}" type="parTrans" cxnId="{40300D4D-0B60-420A-8BB1-9E50843E1588}">
      <dgm:prSet/>
      <dgm:spPr/>
      <dgm:t>
        <a:bodyPr/>
        <a:lstStyle/>
        <a:p>
          <a:endParaRPr lang="en-GB"/>
        </a:p>
      </dgm:t>
    </dgm:pt>
    <dgm:pt modelId="{D41BF073-2B07-4295-A96A-52081B340CC4}" type="sibTrans" cxnId="{40300D4D-0B60-420A-8BB1-9E50843E1588}">
      <dgm:prSet/>
      <dgm:spPr/>
      <dgm:t>
        <a:bodyPr/>
        <a:lstStyle/>
        <a:p>
          <a:endParaRPr lang="en-GB"/>
        </a:p>
      </dgm:t>
    </dgm:pt>
    <dgm:pt modelId="{E74F74E5-9071-404F-8404-1898B262635C}">
      <dgm:prSet/>
      <dgm:spPr/>
      <dgm:t>
        <a:bodyPr/>
        <a:lstStyle/>
        <a:p>
          <a:r>
            <a:rPr lang="en-GB" b="1"/>
            <a:t>Application-aware firewall</a:t>
          </a:r>
          <a:endParaRPr lang="en-GB"/>
        </a:p>
      </dgm:t>
    </dgm:pt>
    <dgm:pt modelId="{0B4DBFFA-50BA-4ACA-A12A-DDA3951C60F4}" type="parTrans" cxnId="{EBFF2372-477D-43A8-AD62-6BB24DCCE28A}">
      <dgm:prSet/>
      <dgm:spPr/>
      <dgm:t>
        <a:bodyPr/>
        <a:lstStyle/>
        <a:p>
          <a:endParaRPr lang="en-GB"/>
        </a:p>
      </dgm:t>
    </dgm:pt>
    <dgm:pt modelId="{44220ED8-9CB2-4F06-A6E5-AF8A53CC2994}" type="sibTrans" cxnId="{EBFF2372-477D-43A8-AD62-6BB24DCCE28A}">
      <dgm:prSet/>
      <dgm:spPr/>
      <dgm:t>
        <a:bodyPr/>
        <a:lstStyle/>
        <a:p>
          <a:endParaRPr lang="en-GB"/>
        </a:p>
      </dgm:t>
    </dgm:pt>
    <dgm:pt modelId="{58994E33-6890-47F6-8D2C-09EE7D90F083}">
      <dgm:prSet/>
      <dgm:spPr/>
      <dgm:t>
        <a:bodyPr/>
        <a:lstStyle/>
        <a:p>
          <a:r>
            <a:rPr lang="en-GB" b="1"/>
            <a:t>Application proxy firewall</a:t>
          </a:r>
          <a:endParaRPr lang="en-GB"/>
        </a:p>
      </dgm:t>
    </dgm:pt>
    <dgm:pt modelId="{BA228F85-5B01-4773-A5D7-B48679900721}" type="parTrans" cxnId="{00F6B40D-7AF0-409B-994A-210CBD4269D4}">
      <dgm:prSet/>
      <dgm:spPr/>
      <dgm:t>
        <a:bodyPr/>
        <a:lstStyle/>
        <a:p>
          <a:endParaRPr lang="en-GB"/>
        </a:p>
      </dgm:t>
    </dgm:pt>
    <dgm:pt modelId="{E9A8C88C-359F-4F2A-A8F3-FBBC1355C71B}" type="sibTrans" cxnId="{00F6B40D-7AF0-409B-994A-210CBD4269D4}">
      <dgm:prSet/>
      <dgm:spPr/>
      <dgm:t>
        <a:bodyPr/>
        <a:lstStyle/>
        <a:p>
          <a:endParaRPr lang="en-GB"/>
        </a:p>
      </dgm:t>
    </dgm:pt>
    <dgm:pt modelId="{92A6E167-1CF2-47B3-B7F7-48509335A96D}" type="pres">
      <dgm:prSet presAssocID="{EC24E8E2-D517-41D1-B092-A8FAAEF9101D}" presName="compositeShape" presStyleCnt="0">
        <dgm:presLayoutVars>
          <dgm:dir/>
          <dgm:resizeHandles/>
        </dgm:presLayoutVars>
      </dgm:prSet>
      <dgm:spPr/>
    </dgm:pt>
    <dgm:pt modelId="{B1959D9B-E7C2-4D48-AB0E-369280D0A28E}" type="pres">
      <dgm:prSet presAssocID="{EC24E8E2-D517-41D1-B092-A8FAAEF9101D}" presName="pyramid" presStyleLbl="node1" presStyleIdx="0" presStyleCnt="1"/>
      <dgm:spPr/>
    </dgm:pt>
    <dgm:pt modelId="{1B2729A9-9749-4599-A1E5-DC2A79167ECC}" type="pres">
      <dgm:prSet presAssocID="{EC24E8E2-D517-41D1-B092-A8FAAEF9101D}" presName="theList" presStyleCnt="0"/>
      <dgm:spPr/>
    </dgm:pt>
    <dgm:pt modelId="{C78AE914-8228-44DE-BDDB-40B015948A98}" type="pres">
      <dgm:prSet presAssocID="{147E093F-7467-4E25-98FC-F320E935E34F}" presName="aNode" presStyleLbl="fgAcc1" presStyleIdx="0" presStyleCnt="5">
        <dgm:presLayoutVars>
          <dgm:bulletEnabled val="1"/>
        </dgm:presLayoutVars>
      </dgm:prSet>
      <dgm:spPr/>
    </dgm:pt>
    <dgm:pt modelId="{6ACE382A-34E8-45CE-89F8-9FE16491F0E9}" type="pres">
      <dgm:prSet presAssocID="{147E093F-7467-4E25-98FC-F320E935E34F}" presName="aSpace" presStyleCnt="0"/>
      <dgm:spPr/>
    </dgm:pt>
    <dgm:pt modelId="{3BDB9020-3879-40F3-8E94-C772D80A94BE}" type="pres">
      <dgm:prSet presAssocID="{C934E262-1D04-4BFA-92D8-4D1B74159B01}" presName="aNode" presStyleLbl="fgAcc1" presStyleIdx="1" presStyleCnt="5">
        <dgm:presLayoutVars>
          <dgm:bulletEnabled val="1"/>
        </dgm:presLayoutVars>
      </dgm:prSet>
      <dgm:spPr/>
    </dgm:pt>
    <dgm:pt modelId="{1B282A31-4B0D-4DC2-9C51-7BEC0C450190}" type="pres">
      <dgm:prSet presAssocID="{C934E262-1D04-4BFA-92D8-4D1B74159B01}" presName="aSpace" presStyleCnt="0"/>
      <dgm:spPr/>
    </dgm:pt>
    <dgm:pt modelId="{C5FA2E8C-A3A3-4C20-A93E-9331C2D6CAB4}" type="pres">
      <dgm:prSet presAssocID="{D4CE9DF7-3285-45CD-9D87-2ED225B7E1A6}" presName="aNode" presStyleLbl="fgAcc1" presStyleIdx="2" presStyleCnt="5">
        <dgm:presLayoutVars>
          <dgm:bulletEnabled val="1"/>
        </dgm:presLayoutVars>
      </dgm:prSet>
      <dgm:spPr/>
    </dgm:pt>
    <dgm:pt modelId="{A53CA964-FA53-426C-95B5-62BAD97BC2F3}" type="pres">
      <dgm:prSet presAssocID="{D4CE9DF7-3285-45CD-9D87-2ED225B7E1A6}" presName="aSpace" presStyleCnt="0"/>
      <dgm:spPr/>
    </dgm:pt>
    <dgm:pt modelId="{05E5DC7E-16EC-4394-B507-2D8A73C177E9}" type="pres">
      <dgm:prSet presAssocID="{E74F74E5-9071-404F-8404-1898B262635C}" presName="aNode" presStyleLbl="fgAcc1" presStyleIdx="3" presStyleCnt="5">
        <dgm:presLayoutVars>
          <dgm:bulletEnabled val="1"/>
        </dgm:presLayoutVars>
      </dgm:prSet>
      <dgm:spPr/>
    </dgm:pt>
    <dgm:pt modelId="{2B757F00-906F-48BD-85C9-74AE05C6AEFB}" type="pres">
      <dgm:prSet presAssocID="{E74F74E5-9071-404F-8404-1898B262635C}" presName="aSpace" presStyleCnt="0"/>
      <dgm:spPr/>
    </dgm:pt>
    <dgm:pt modelId="{CCC0661F-C6EC-4ED5-8FEE-CE2A5E3DC647}" type="pres">
      <dgm:prSet presAssocID="{58994E33-6890-47F6-8D2C-09EE7D90F083}" presName="aNode" presStyleLbl="fgAcc1" presStyleIdx="4" presStyleCnt="5">
        <dgm:presLayoutVars>
          <dgm:bulletEnabled val="1"/>
        </dgm:presLayoutVars>
      </dgm:prSet>
      <dgm:spPr/>
    </dgm:pt>
    <dgm:pt modelId="{7DF3F7B3-736C-441F-8BF0-7F050481C1CB}" type="pres">
      <dgm:prSet presAssocID="{58994E33-6890-47F6-8D2C-09EE7D90F083}" presName="aSpace" presStyleCnt="0"/>
      <dgm:spPr/>
    </dgm:pt>
  </dgm:ptLst>
  <dgm:cxnLst>
    <dgm:cxn modelId="{675A8705-6A9D-45A9-9170-4CC6E8A1005F}" type="presOf" srcId="{58994E33-6890-47F6-8D2C-09EE7D90F083}" destId="{CCC0661F-C6EC-4ED5-8FEE-CE2A5E3DC647}" srcOrd="0" destOrd="0" presId="urn:microsoft.com/office/officeart/2005/8/layout/pyramid2"/>
    <dgm:cxn modelId="{00F6B40D-7AF0-409B-994A-210CBD4269D4}" srcId="{EC24E8E2-D517-41D1-B092-A8FAAEF9101D}" destId="{58994E33-6890-47F6-8D2C-09EE7D90F083}" srcOrd="4" destOrd="0" parTransId="{BA228F85-5B01-4773-A5D7-B48679900721}" sibTransId="{E9A8C88C-359F-4F2A-A8F3-FBBC1355C71B}"/>
    <dgm:cxn modelId="{0A2D7A0E-C3EE-4472-A7DD-B0B93CD26DDF}" type="presOf" srcId="{147E093F-7467-4E25-98FC-F320E935E34F}" destId="{C78AE914-8228-44DE-BDDB-40B015948A98}" srcOrd="0" destOrd="0" presId="urn:microsoft.com/office/officeart/2005/8/layout/pyramid2"/>
    <dgm:cxn modelId="{09925B2F-F974-43A5-A20D-EB513B4EDADD}" type="presOf" srcId="{D4CE9DF7-3285-45CD-9D87-2ED225B7E1A6}" destId="{C5FA2E8C-A3A3-4C20-A93E-9331C2D6CAB4}" srcOrd="0" destOrd="0" presId="urn:microsoft.com/office/officeart/2005/8/layout/pyramid2"/>
    <dgm:cxn modelId="{3E6DD938-0756-45B4-9C64-678DA63DEBD7}" srcId="{EC24E8E2-D517-41D1-B092-A8FAAEF9101D}" destId="{147E093F-7467-4E25-98FC-F320E935E34F}" srcOrd="0" destOrd="0" parTransId="{A7BD2060-5E38-4B50-8DE5-1C57BB2C2E87}" sibTransId="{B54EE03F-0431-49B6-A29D-631F44519344}"/>
    <dgm:cxn modelId="{AE35F347-A943-4F6A-8543-CF9058419856}" srcId="{EC24E8E2-D517-41D1-B092-A8FAAEF9101D}" destId="{C934E262-1D04-4BFA-92D8-4D1B74159B01}" srcOrd="1" destOrd="0" parTransId="{E3387EAD-91A4-4AEC-A13C-98AC1C05BC1A}" sibTransId="{5B6D564E-66CB-4032-81B1-55E249609B74}"/>
    <dgm:cxn modelId="{BB46DB4C-D451-4ABE-938A-40461DBA233E}" type="presOf" srcId="{E74F74E5-9071-404F-8404-1898B262635C}" destId="{05E5DC7E-16EC-4394-B507-2D8A73C177E9}" srcOrd="0" destOrd="0" presId="urn:microsoft.com/office/officeart/2005/8/layout/pyramid2"/>
    <dgm:cxn modelId="{40300D4D-0B60-420A-8BB1-9E50843E1588}" srcId="{EC24E8E2-D517-41D1-B092-A8FAAEF9101D}" destId="{D4CE9DF7-3285-45CD-9D87-2ED225B7E1A6}" srcOrd="2" destOrd="0" parTransId="{4614C422-7252-443E-9731-701494B13332}" sibTransId="{D41BF073-2B07-4295-A96A-52081B340CC4}"/>
    <dgm:cxn modelId="{EBFF2372-477D-43A8-AD62-6BB24DCCE28A}" srcId="{EC24E8E2-D517-41D1-B092-A8FAAEF9101D}" destId="{E74F74E5-9071-404F-8404-1898B262635C}" srcOrd="3" destOrd="0" parTransId="{0B4DBFFA-50BA-4ACA-A12A-DDA3951C60F4}" sibTransId="{44220ED8-9CB2-4F06-A6E5-AF8A53CC2994}"/>
    <dgm:cxn modelId="{CEC7827A-D52E-4365-BDDA-888839361A21}" type="presOf" srcId="{EC24E8E2-D517-41D1-B092-A8FAAEF9101D}" destId="{92A6E167-1CF2-47B3-B7F7-48509335A96D}" srcOrd="0" destOrd="0" presId="urn:microsoft.com/office/officeart/2005/8/layout/pyramid2"/>
    <dgm:cxn modelId="{2F79B6C1-5513-4F45-A32D-BFEA427A1EF0}" type="presOf" srcId="{C934E262-1D04-4BFA-92D8-4D1B74159B01}" destId="{3BDB9020-3879-40F3-8E94-C772D80A94BE}" srcOrd="0" destOrd="0" presId="urn:microsoft.com/office/officeart/2005/8/layout/pyramid2"/>
    <dgm:cxn modelId="{82926D17-F92B-486E-BEAC-F25021DF6C2D}" type="presParOf" srcId="{92A6E167-1CF2-47B3-B7F7-48509335A96D}" destId="{B1959D9B-E7C2-4D48-AB0E-369280D0A28E}" srcOrd="0" destOrd="0" presId="urn:microsoft.com/office/officeart/2005/8/layout/pyramid2"/>
    <dgm:cxn modelId="{F82E8789-EACC-4589-8468-0A30ABF83362}" type="presParOf" srcId="{92A6E167-1CF2-47B3-B7F7-48509335A96D}" destId="{1B2729A9-9749-4599-A1E5-DC2A79167ECC}" srcOrd="1" destOrd="0" presId="urn:microsoft.com/office/officeart/2005/8/layout/pyramid2"/>
    <dgm:cxn modelId="{FAE5CE37-E713-495B-AFFE-E267BEE4960C}" type="presParOf" srcId="{1B2729A9-9749-4599-A1E5-DC2A79167ECC}" destId="{C78AE914-8228-44DE-BDDB-40B015948A98}" srcOrd="0" destOrd="0" presId="urn:microsoft.com/office/officeart/2005/8/layout/pyramid2"/>
    <dgm:cxn modelId="{F65D31CD-D340-43A5-A498-27E4651BACA6}" type="presParOf" srcId="{1B2729A9-9749-4599-A1E5-DC2A79167ECC}" destId="{6ACE382A-34E8-45CE-89F8-9FE16491F0E9}" srcOrd="1" destOrd="0" presId="urn:microsoft.com/office/officeart/2005/8/layout/pyramid2"/>
    <dgm:cxn modelId="{5AC026E0-919B-4F67-9120-2ED4EA1257F9}" type="presParOf" srcId="{1B2729A9-9749-4599-A1E5-DC2A79167ECC}" destId="{3BDB9020-3879-40F3-8E94-C772D80A94BE}" srcOrd="2" destOrd="0" presId="urn:microsoft.com/office/officeart/2005/8/layout/pyramid2"/>
    <dgm:cxn modelId="{482A2E0A-3B03-43BF-B71B-1E49AB905D87}" type="presParOf" srcId="{1B2729A9-9749-4599-A1E5-DC2A79167ECC}" destId="{1B282A31-4B0D-4DC2-9C51-7BEC0C450190}" srcOrd="3" destOrd="0" presId="urn:microsoft.com/office/officeart/2005/8/layout/pyramid2"/>
    <dgm:cxn modelId="{9C4957F4-8A40-4878-9532-D77B8BE2A620}" type="presParOf" srcId="{1B2729A9-9749-4599-A1E5-DC2A79167ECC}" destId="{C5FA2E8C-A3A3-4C20-A93E-9331C2D6CAB4}" srcOrd="4" destOrd="0" presId="urn:microsoft.com/office/officeart/2005/8/layout/pyramid2"/>
    <dgm:cxn modelId="{12135610-4E8A-44D5-BC60-45F6F2561174}" type="presParOf" srcId="{1B2729A9-9749-4599-A1E5-DC2A79167ECC}" destId="{A53CA964-FA53-426C-95B5-62BAD97BC2F3}" srcOrd="5" destOrd="0" presId="urn:microsoft.com/office/officeart/2005/8/layout/pyramid2"/>
    <dgm:cxn modelId="{75F9BFB0-387E-4BB2-B297-DFF541E05565}" type="presParOf" srcId="{1B2729A9-9749-4599-A1E5-DC2A79167ECC}" destId="{05E5DC7E-16EC-4394-B507-2D8A73C177E9}" srcOrd="6" destOrd="0" presId="urn:microsoft.com/office/officeart/2005/8/layout/pyramid2"/>
    <dgm:cxn modelId="{CE7A00DF-5ACC-4D16-A235-4670B823AEB4}" type="presParOf" srcId="{1B2729A9-9749-4599-A1E5-DC2A79167ECC}" destId="{2B757F00-906F-48BD-85C9-74AE05C6AEFB}" srcOrd="7" destOrd="0" presId="urn:microsoft.com/office/officeart/2005/8/layout/pyramid2"/>
    <dgm:cxn modelId="{64D80865-1B09-45CE-89C7-9C4145674458}" type="presParOf" srcId="{1B2729A9-9749-4599-A1E5-DC2A79167ECC}" destId="{CCC0661F-C6EC-4ED5-8FEE-CE2A5E3DC647}" srcOrd="8" destOrd="0" presId="urn:microsoft.com/office/officeart/2005/8/layout/pyramid2"/>
    <dgm:cxn modelId="{9789FBCE-BA29-42B4-9505-B5FC235A2D81}" type="presParOf" srcId="{1B2729A9-9749-4599-A1E5-DC2A79167ECC}" destId="{7DF3F7B3-736C-441F-8BF0-7F050481C1CB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959D9B-E7C2-4D48-AB0E-369280D0A28E}">
      <dsp:nvSpPr>
        <dsp:cNvPr id="0" name=""/>
        <dsp:cNvSpPr/>
      </dsp:nvSpPr>
      <dsp:spPr>
        <a:xfrm>
          <a:off x="708891" y="0"/>
          <a:ext cx="4500438" cy="4500438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8AE914-8228-44DE-BDDB-40B015948A98}">
      <dsp:nvSpPr>
        <dsp:cNvPr id="0" name=""/>
        <dsp:cNvSpPr/>
      </dsp:nvSpPr>
      <dsp:spPr>
        <a:xfrm>
          <a:off x="2959110" y="450483"/>
          <a:ext cx="2925284" cy="63990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Packet filtering firewall</a:t>
          </a:r>
          <a:endParaRPr lang="en-GB" sz="1600" kern="1200" dirty="0"/>
        </a:p>
      </dsp:txBody>
      <dsp:txXfrm>
        <a:off x="2990348" y="481721"/>
        <a:ext cx="2862808" cy="577430"/>
      </dsp:txXfrm>
    </dsp:sp>
    <dsp:sp modelId="{3BDB9020-3879-40F3-8E94-C772D80A94BE}">
      <dsp:nvSpPr>
        <dsp:cNvPr id="0" name=""/>
        <dsp:cNvSpPr/>
      </dsp:nvSpPr>
      <dsp:spPr>
        <a:xfrm>
          <a:off x="2959110" y="1170377"/>
          <a:ext cx="2925284" cy="63990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 err="1"/>
            <a:t>Stateful</a:t>
          </a:r>
          <a:r>
            <a:rPr lang="en-GB" sz="1600" b="1" kern="1200" dirty="0"/>
            <a:t> firewall</a:t>
          </a:r>
          <a:endParaRPr lang="en-GB" sz="1600" kern="1200" dirty="0"/>
        </a:p>
      </dsp:txBody>
      <dsp:txXfrm>
        <a:off x="2990348" y="1201615"/>
        <a:ext cx="2862808" cy="577430"/>
      </dsp:txXfrm>
    </dsp:sp>
    <dsp:sp modelId="{C5FA2E8C-A3A3-4C20-A93E-9331C2D6CAB4}">
      <dsp:nvSpPr>
        <dsp:cNvPr id="0" name=""/>
        <dsp:cNvSpPr/>
      </dsp:nvSpPr>
      <dsp:spPr>
        <a:xfrm>
          <a:off x="2959110" y="1890271"/>
          <a:ext cx="2925284" cy="63990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Deep packet inspection firewall</a:t>
          </a:r>
          <a:endParaRPr lang="en-GB" sz="1600" kern="1200"/>
        </a:p>
      </dsp:txBody>
      <dsp:txXfrm>
        <a:off x="2990348" y="1921509"/>
        <a:ext cx="2862808" cy="577430"/>
      </dsp:txXfrm>
    </dsp:sp>
    <dsp:sp modelId="{05E5DC7E-16EC-4394-B507-2D8A73C177E9}">
      <dsp:nvSpPr>
        <dsp:cNvPr id="0" name=""/>
        <dsp:cNvSpPr/>
      </dsp:nvSpPr>
      <dsp:spPr>
        <a:xfrm>
          <a:off x="2959110" y="2610166"/>
          <a:ext cx="2925284" cy="63990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Application-aware firewall</a:t>
          </a:r>
          <a:endParaRPr lang="en-GB" sz="1600" kern="1200"/>
        </a:p>
      </dsp:txBody>
      <dsp:txXfrm>
        <a:off x="2990348" y="2641404"/>
        <a:ext cx="2862808" cy="577430"/>
      </dsp:txXfrm>
    </dsp:sp>
    <dsp:sp modelId="{CCC0661F-C6EC-4ED5-8FEE-CE2A5E3DC647}">
      <dsp:nvSpPr>
        <dsp:cNvPr id="0" name=""/>
        <dsp:cNvSpPr/>
      </dsp:nvSpPr>
      <dsp:spPr>
        <a:xfrm>
          <a:off x="2959110" y="3330060"/>
          <a:ext cx="2925284" cy="63990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Application proxy firewall</a:t>
          </a:r>
          <a:endParaRPr lang="en-GB" sz="1600" kern="1200"/>
        </a:p>
      </dsp:txBody>
      <dsp:txXfrm>
        <a:off x="2990348" y="3361298"/>
        <a:ext cx="2862808" cy="577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74D0C-6C8E-4E1B-94EF-7C7054E7E6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6600" dirty="0">
                <a:latin typeface="Arial Narrow" panose="020B0606020202030204" pitchFamily="34" charset="0"/>
              </a:rPr>
              <a:t>FIREWALL </a:t>
            </a:r>
            <a:br>
              <a:rPr lang="en-IN" sz="6600" dirty="0">
                <a:latin typeface="Arial Narrow" panose="020B0606020202030204" pitchFamily="34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84BDD-1855-4FBB-B09B-2A4CDE488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2044843"/>
          </a:xfrm>
        </p:spPr>
        <p:txBody>
          <a:bodyPr>
            <a:normAutofit/>
          </a:bodyPr>
          <a:lstStyle/>
          <a:p>
            <a:r>
              <a:rPr lang="en-US" sz="2000" dirty="0"/>
              <a:t>NAME       :   BHUPESH BORKAR</a:t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43625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DA352B-9BF0-4332-9F4B-470209DA85D3}"/>
              </a:ext>
            </a:extLst>
          </p:cNvPr>
          <p:cNvSpPr txBox="1"/>
          <p:nvPr/>
        </p:nvSpPr>
        <p:spPr>
          <a:xfrm>
            <a:off x="4625787" y="573741"/>
            <a:ext cx="29942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4000" dirty="0"/>
              <a:t>Introduction</a:t>
            </a:r>
            <a:endParaRPr lang="en-IN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F04C7A-4F7D-4FCC-8D71-DA5749EA189D}"/>
              </a:ext>
            </a:extLst>
          </p:cNvPr>
          <p:cNvSpPr txBox="1"/>
          <p:nvPr/>
        </p:nvSpPr>
        <p:spPr>
          <a:xfrm>
            <a:off x="1084730" y="1864659"/>
            <a:ext cx="671456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Georgia" pitchFamily="18" charset="0"/>
              </a:rPr>
              <a:t>The word firewall means a network device that is used to block certain types of network traffic. Basically, firewall forms a barrier between a trusted and an untrusted network. </a:t>
            </a:r>
          </a:p>
          <a:p>
            <a:r>
              <a:rPr lang="en-US" altLang="en-US" sz="2400" dirty="0"/>
              <a:t>1.Firewalls control the flow of network traffic</a:t>
            </a:r>
          </a:p>
          <a:p>
            <a:r>
              <a:rPr lang="en-US" altLang="en-US" sz="2400" dirty="0"/>
              <a:t>2.Firewalls have applicability in networks where there is no internet connectivity</a:t>
            </a:r>
          </a:p>
          <a:p>
            <a:r>
              <a:rPr lang="en-US" altLang="en-US" sz="2400" dirty="0"/>
              <a:t>3.Firewalls operate on number of layers</a:t>
            </a:r>
          </a:p>
          <a:p>
            <a:r>
              <a:rPr lang="en-US" altLang="en-US" sz="2400" dirty="0"/>
              <a:t>4.Can also act as VPN gateways</a:t>
            </a:r>
          </a:p>
          <a:p>
            <a:r>
              <a:rPr lang="en-US" altLang="en-US" sz="2400" dirty="0"/>
              <a:t>5. Active content filtering technologies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C1E0D3-E9B3-46D2-A2A0-6474D547719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95178" y="1864659"/>
            <a:ext cx="4319184" cy="345534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79112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288FCE-BC92-486B-B7CF-AE58796688D0}"/>
              </a:ext>
            </a:extLst>
          </p:cNvPr>
          <p:cNvSpPr txBox="1"/>
          <p:nvPr/>
        </p:nvSpPr>
        <p:spPr>
          <a:xfrm>
            <a:off x="2133600" y="654424"/>
            <a:ext cx="723451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latin typeface="Georgia" pitchFamily="18" charset="0"/>
              </a:rPr>
              <a:t>Types  Of  Firewall</a:t>
            </a:r>
          </a:p>
          <a:p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3B4A5FF-A381-4AD0-9488-276CC12FAE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3148237"/>
              </p:ext>
            </p:extLst>
          </p:nvPr>
        </p:nvGraphicFramePr>
        <p:xfrm>
          <a:off x="3003176" y="1516198"/>
          <a:ext cx="6593286" cy="4500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2810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0592C-97DE-4C49-8877-14C6DB5862AA}"/>
              </a:ext>
            </a:extLst>
          </p:cNvPr>
          <p:cNvSpPr txBox="1"/>
          <p:nvPr/>
        </p:nvSpPr>
        <p:spPr>
          <a:xfrm>
            <a:off x="1981200" y="497844"/>
            <a:ext cx="88123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5400" dirty="0"/>
              <a:t>Firewall Environments</a:t>
            </a:r>
            <a:endParaRPr lang="en-IN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23A2B8-486F-4562-9D25-1F3694B81A47}"/>
              </a:ext>
            </a:extLst>
          </p:cNvPr>
          <p:cNvSpPr txBox="1"/>
          <p:nvPr/>
        </p:nvSpPr>
        <p:spPr>
          <a:xfrm>
            <a:off x="1783976" y="2312894"/>
            <a:ext cx="881230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dirty="0"/>
              <a:t>1.There are different types of environments where a firewall can be implemented.</a:t>
            </a:r>
          </a:p>
          <a:p>
            <a:r>
              <a:rPr lang="en-US" altLang="en-US" sz="3600" dirty="0"/>
              <a:t>2.Simple environment can be a packet filter firewall</a:t>
            </a:r>
          </a:p>
          <a:p>
            <a:r>
              <a:rPr lang="en-US" altLang="en-US" sz="3600" dirty="0"/>
              <a:t>3.Complex environments can be several firewalls and proxies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527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DC44BD-D18F-415B-87E0-FDCE66E13CAD}"/>
              </a:ext>
            </a:extLst>
          </p:cNvPr>
          <p:cNvSpPr txBox="1"/>
          <p:nvPr/>
        </p:nvSpPr>
        <p:spPr>
          <a:xfrm>
            <a:off x="2779059" y="577333"/>
            <a:ext cx="6608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3600" dirty="0"/>
              <a:t>DMZ Environment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C8BD32-56FB-48E0-B6E1-6C2DBBABB55A}"/>
              </a:ext>
            </a:extLst>
          </p:cNvPr>
          <p:cNvSpPr txBox="1"/>
          <p:nvPr/>
        </p:nvSpPr>
        <p:spPr>
          <a:xfrm>
            <a:off x="647700" y="1721695"/>
            <a:ext cx="610048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/>
              <a:t>1.Can be created out of a network connecting two firewalls</a:t>
            </a:r>
          </a:p>
          <a:p>
            <a:r>
              <a:rPr lang="en-US" altLang="en-US" sz="3200" dirty="0"/>
              <a:t>2.Boundary router filter packets protecting server</a:t>
            </a:r>
          </a:p>
          <a:p>
            <a:r>
              <a:rPr lang="en-US" altLang="en-US" sz="3200" dirty="0"/>
              <a:t>3.First firewall provide  access control and protection from server if they are hacked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DB993F5D-0D76-48C7-9D78-8E12D923F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52862" y="1721695"/>
            <a:ext cx="4268787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5298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1A464F-E63A-4344-8384-CF0AD987EF9F}"/>
              </a:ext>
            </a:extLst>
          </p:cNvPr>
          <p:cNvSpPr txBox="1"/>
          <p:nvPr/>
        </p:nvSpPr>
        <p:spPr>
          <a:xfrm>
            <a:off x="2736476" y="487686"/>
            <a:ext cx="61004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latin typeface="Georgia" pitchFamily="18" charset="0"/>
              </a:rPr>
              <a:t>Packet Filtering Firewall</a:t>
            </a:r>
            <a:endParaRPr lang="en-GB" sz="3200" dirty="0">
              <a:latin typeface="Georgia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805ED7-3A62-49BE-B99C-9F0C5D7CE2DE}"/>
              </a:ext>
            </a:extLst>
          </p:cNvPr>
          <p:cNvSpPr txBox="1"/>
          <p:nvPr/>
        </p:nvSpPr>
        <p:spPr>
          <a:xfrm>
            <a:off x="430307" y="1424552"/>
            <a:ext cx="677731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latin typeface="Georgia" pitchFamily="18" charset="0"/>
              </a:rPr>
              <a:t>In this type of firewall, there are security rules that block traffic based on IP address and IP protocol. </a:t>
            </a:r>
          </a:p>
          <a:p>
            <a:pPr algn="just"/>
            <a:endParaRPr lang="en-GB" sz="2400" dirty="0">
              <a:latin typeface="Georgia" pitchFamily="18" charset="0"/>
            </a:endParaRPr>
          </a:p>
          <a:p>
            <a:pPr algn="just"/>
            <a:r>
              <a:rPr lang="en-GB" sz="2400" dirty="0">
                <a:latin typeface="Georgia" pitchFamily="18" charset="0"/>
              </a:rPr>
              <a:t>Filtering Rules are based on information contained in a network.</a:t>
            </a:r>
          </a:p>
          <a:p>
            <a:pPr algn="just"/>
            <a:endParaRPr lang="en-GB" sz="2400" dirty="0">
              <a:latin typeface="Georg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GB" sz="2400" dirty="0">
                <a:latin typeface="Georgia" pitchFamily="18" charset="0"/>
              </a:rPr>
              <a:t>Source IP address</a:t>
            </a:r>
          </a:p>
          <a:p>
            <a:pPr algn="just">
              <a:buFont typeface="Arial" pitchFamily="34" charset="0"/>
              <a:buChar char="•"/>
            </a:pPr>
            <a:r>
              <a:rPr lang="en-GB" sz="2400" dirty="0">
                <a:latin typeface="Georgia" pitchFamily="18" charset="0"/>
              </a:rPr>
              <a:t>Destination IP address</a:t>
            </a:r>
          </a:p>
          <a:p>
            <a:pPr algn="just">
              <a:buFont typeface="Arial" pitchFamily="34" charset="0"/>
              <a:buChar char="•"/>
            </a:pPr>
            <a:r>
              <a:rPr lang="en-GB" sz="2400" dirty="0">
                <a:latin typeface="Georgia" pitchFamily="18" charset="0"/>
              </a:rPr>
              <a:t>Source and destination transport level address</a:t>
            </a:r>
          </a:p>
          <a:p>
            <a:pPr algn="just">
              <a:buFont typeface="Arial" pitchFamily="34" charset="0"/>
              <a:buChar char="•"/>
            </a:pPr>
            <a:r>
              <a:rPr lang="en-GB" sz="2400" dirty="0">
                <a:latin typeface="Georgia" pitchFamily="18" charset="0"/>
              </a:rPr>
              <a:t>IP protocol field</a:t>
            </a:r>
          </a:p>
          <a:p>
            <a:pPr algn="just">
              <a:buFont typeface="Arial" pitchFamily="34" charset="0"/>
              <a:buChar char="•"/>
            </a:pPr>
            <a:r>
              <a:rPr lang="en-GB" sz="2400" dirty="0">
                <a:latin typeface="Georgia" pitchFamily="18" charset="0"/>
              </a:rPr>
              <a:t>Interface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E1F2F1-547C-4342-AF04-AF9035985E4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79341" y="1973117"/>
            <a:ext cx="4631725" cy="34774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1644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ADA71D-7CB3-418F-B392-DD1D7531FB1B}"/>
              </a:ext>
            </a:extLst>
          </p:cNvPr>
          <p:cNvSpPr txBox="1"/>
          <p:nvPr/>
        </p:nvSpPr>
        <p:spPr>
          <a:xfrm>
            <a:off x="2431676" y="473895"/>
            <a:ext cx="61004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4400" b="1" dirty="0"/>
              <a:t>Circuit level</a:t>
            </a:r>
            <a:endParaRPr lang="en-IN" sz="4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2BE786-F1F5-43F7-8643-902CE1E94F5E}"/>
              </a:ext>
            </a:extLst>
          </p:cNvPr>
          <p:cNvSpPr txBox="1"/>
          <p:nvPr/>
        </p:nvSpPr>
        <p:spPr>
          <a:xfrm>
            <a:off x="235323" y="1475069"/>
            <a:ext cx="610048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600" dirty="0"/>
              <a:t>Circuit level gateways work at the session layer of the OSI model, or the TCP layer of TCP/IP </a:t>
            </a:r>
          </a:p>
          <a:p>
            <a:r>
              <a:rPr lang="en-US" altLang="en-US" sz="3600" dirty="0"/>
              <a:t>Monitor TCP handshaking between packets to determine whether a requested session is legitimate</a:t>
            </a:r>
            <a:r>
              <a:rPr lang="en-US" altLang="en-US" dirty="0"/>
              <a:t>. </a:t>
            </a:r>
          </a:p>
        </p:txBody>
      </p:sp>
      <p:pic>
        <p:nvPicPr>
          <p:cNvPr id="6" name="Picture 8" descr="Circuit level Gateway">
            <a:extLst>
              <a:ext uri="{FF2B5EF4-FFF2-40B4-BE49-F238E27FC236}">
                <a16:creationId xmlns:a16="http://schemas.microsoft.com/office/drawing/2014/main" id="{DBBB4398-9D2E-42EC-9C5C-F8D558AF9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14247" y="1811140"/>
            <a:ext cx="5777753" cy="357179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1795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1BB189-C8B7-4AED-AE2E-5CD9485E638D}"/>
              </a:ext>
            </a:extLst>
          </p:cNvPr>
          <p:cNvSpPr txBox="1"/>
          <p:nvPr/>
        </p:nvSpPr>
        <p:spPr>
          <a:xfrm>
            <a:off x="2906805" y="613192"/>
            <a:ext cx="6100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600" b="1" dirty="0"/>
              <a:t>Application Level</a:t>
            </a:r>
            <a:endParaRPr lang="en-I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080B3-82EB-4B6F-8851-5D5EB165A7DF}"/>
              </a:ext>
            </a:extLst>
          </p:cNvPr>
          <p:cNvSpPr txBox="1"/>
          <p:nvPr/>
        </p:nvSpPr>
        <p:spPr>
          <a:xfrm>
            <a:off x="1095935" y="1694799"/>
            <a:ext cx="552898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/>
              <a:t>1. Application level gateways, also called proxies, are similar to circuit-level gateways except that they are application specific </a:t>
            </a:r>
          </a:p>
          <a:p>
            <a:r>
              <a:rPr lang="en-US" altLang="en-US" sz="3200" dirty="0"/>
              <a:t>2.Gateway that is configured to be a web proxy will not allow any ftp, gopher, telnet or other traffic through </a:t>
            </a:r>
          </a:p>
        </p:txBody>
      </p:sp>
      <p:pic>
        <p:nvPicPr>
          <p:cNvPr id="6" name="Picture 4" descr="Application level Gateway">
            <a:extLst>
              <a:ext uri="{FF2B5EF4-FFF2-40B4-BE49-F238E27FC236}">
                <a16:creationId xmlns:a16="http://schemas.microsoft.com/office/drawing/2014/main" id="{BC9AB189-C655-4F2B-BD5D-746694985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65520" y="1990164"/>
            <a:ext cx="5351139" cy="33079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4439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8F9881E-5A3F-42CB-8C0F-C9BC3B65B4F9}"/>
              </a:ext>
            </a:extLst>
          </p:cNvPr>
          <p:cNvSpPr txBox="1">
            <a:spLocks noChangeArrowheads="1"/>
          </p:cNvSpPr>
          <p:nvPr/>
        </p:nvSpPr>
        <p:spPr>
          <a:xfrm>
            <a:off x="703082" y="457200"/>
            <a:ext cx="77724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/>
              <a:t>Intranets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F40655-AF3D-408F-AAD8-91CB4BAC205F}"/>
              </a:ext>
            </a:extLst>
          </p:cNvPr>
          <p:cNvSpPr txBox="1"/>
          <p:nvPr/>
        </p:nvSpPr>
        <p:spPr>
          <a:xfrm>
            <a:off x="369794" y="1600200"/>
            <a:ext cx="610048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/>
              <a:t>1. An intranet is a network that employs the same types of services, applications, and protocols present in an Internet implementation, without involving external connectivity </a:t>
            </a:r>
          </a:p>
          <a:p>
            <a:r>
              <a:rPr lang="en-US" altLang="en-US" sz="3200" dirty="0"/>
              <a:t>2. Intranets are typically implemented behind firewall environments.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06A76B-6616-48BD-ACE6-437D6610A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70276" y="2562225"/>
            <a:ext cx="5543550" cy="29527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930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D1D745-1405-445C-BE4F-F413EC0930A7}"/>
              </a:ext>
            </a:extLst>
          </p:cNvPr>
          <p:cNvSpPr txBox="1"/>
          <p:nvPr/>
        </p:nvSpPr>
        <p:spPr>
          <a:xfrm>
            <a:off x="943534" y="1664785"/>
            <a:ext cx="865766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en-US" sz="2800" dirty="0"/>
          </a:p>
          <a:p>
            <a:r>
              <a:rPr lang="en-US" altLang="en-US" sz="2800" dirty="0"/>
              <a:t>1. Firewalls will continue to advance as the attacks on IT infrastructure become more and more sophisticated </a:t>
            </a:r>
          </a:p>
          <a:p>
            <a:r>
              <a:rPr lang="en-US" altLang="en-US" sz="2800" dirty="0"/>
              <a:t>2. More and more client and server applications are coming with native support for proxied environments </a:t>
            </a:r>
          </a:p>
          <a:p>
            <a:r>
              <a:rPr lang="en-US" altLang="en-US" sz="2800" dirty="0"/>
              <a:t>3. Firewalls that scan for viruses as they enter the network and several firms are currently exploring this idea, but it is not yet in wide use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23FB8B-F034-4F71-BE0D-DE6FE52C3CF9}"/>
              </a:ext>
            </a:extLst>
          </p:cNvPr>
          <p:cNvSpPr txBox="1"/>
          <p:nvPr/>
        </p:nvSpPr>
        <p:spPr>
          <a:xfrm>
            <a:off x="4025153" y="690282"/>
            <a:ext cx="519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FIREWALLS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99272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B96546-CC8D-431E-B834-93EAB326BE6B}"/>
              </a:ext>
            </a:extLst>
          </p:cNvPr>
          <p:cNvSpPr txBox="1"/>
          <p:nvPr/>
        </p:nvSpPr>
        <p:spPr>
          <a:xfrm>
            <a:off x="3543299" y="523545"/>
            <a:ext cx="61004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4000" b="1" dirty="0"/>
              <a:t>Conclusion</a:t>
            </a:r>
            <a:endParaRPr lang="en-IN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9F96F-0C90-4E06-B125-702C78995314}"/>
              </a:ext>
            </a:extLst>
          </p:cNvPr>
          <p:cNvSpPr txBox="1"/>
          <p:nvPr/>
        </p:nvSpPr>
        <p:spPr>
          <a:xfrm>
            <a:off x="1373840" y="2049359"/>
            <a:ext cx="894453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/>
              <a:t>1. It is clear that some form of security for private networks connected to the Internet is essential </a:t>
            </a:r>
          </a:p>
          <a:p>
            <a:r>
              <a:rPr lang="en-US" altLang="en-US" sz="3200" dirty="0"/>
              <a:t>2.  A firewall is an important and necessary part of that security, but cannot be expected to perform all the required security functions. </a:t>
            </a:r>
          </a:p>
        </p:txBody>
      </p:sp>
    </p:spTree>
    <p:extLst>
      <p:ext uri="{BB962C8B-B14F-4D97-AF65-F5344CB8AC3E}">
        <p14:creationId xmlns:p14="http://schemas.microsoft.com/office/powerpoint/2010/main" val="126107120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26</TotalTime>
  <Words>462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Narrow</vt:lpstr>
      <vt:lpstr>Georgia</vt:lpstr>
      <vt:lpstr>Gill Sans MT</vt:lpstr>
      <vt:lpstr>Gallery</vt:lpstr>
      <vt:lpstr>FIREWALL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FIREWALL</dc:title>
  <dc:creator>bhupesh borkar</dc:creator>
  <cp:lastModifiedBy>bhupesh borkar</cp:lastModifiedBy>
  <cp:revision>3</cp:revision>
  <dcterms:created xsi:type="dcterms:W3CDTF">2022-05-05T13:34:55Z</dcterms:created>
  <dcterms:modified xsi:type="dcterms:W3CDTF">2025-12-23T08:26:39Z</dcterms:modified>
</cp:coreProperties>
</file>